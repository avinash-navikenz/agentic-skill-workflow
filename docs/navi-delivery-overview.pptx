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navi-delivery is built and shipped, not a design. Counts read from the repo at build time: 11 agents, 50 skills across 13 disciplines, 9 phases and gates, 4 lanes, an 8-verb CLI.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framing comes from docs/CONCEPTS.md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falsifiable test: delete every agent and the skills still fully specify how work is done; delete every skill and the agents still specify what, why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Re-recording appends a new event carrying `previous`. History is appended, never overwritten: six months later the log still says G6 failed once, on what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config/mcp/ ships five connection files and a .env.example; scripts/validate_mcp_configs.py runs in CI. automation/cron/ is opt-in and prints its crontab line rather than installing it, unless you pass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doctor shows which backends are configured and what is missing, by variable name, printing header names and never header values. preview builds the payload through the same pure fold export uses. A refused export exits non-zero and changes nothing about the delivery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D6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658368"/>
            <a:ext cx="2103120" cy="290086"/>
          </a:xfrm>
          <a:prstGeom prst="rect">
            <a:avLst/>
          </a:prstGeom>
        </p:spPr>
      </p:pic>
      <p:sp>
        <p:nvSpPr>
          <p:cNvPr id="3" name="Text 0"/>
          <p:cNvSpPr txBox="1"/>
          <p:nvPr/>
        </p:nvSpPr>
        <p:spPr>
          <a:xfrm>
            <a:off x="640080" y="1783080"/>
            <a:ext cx="9144000" cy="914400"/>
          </a:xfrm>
          <a:prstGeom prst="rect">
            <a:avLst/>
          </a:prstGeom>
          <a:noFill/>
          <a:ln/>
        </p:spPr>
        <p:txBody>
          <a:bodyPr wrap="square" lIns="0" tIns="0" rIns="0" bIns="0" rtlCol="0" anchor="ctr"/>
          <a:lstStyle/>
          <a:p>
            <a:pPr indent="0" marL="0">
              <a:buNone/>
            </a:pPr>
            <a:r>
              <a:rPr lang="en-US" sz="5800" b="1" dirty="0">
                <a:solidFill>
                  <a:srgbClr val="FAF3E7"/>
                </a:solidFill>
                <a:latin typeface="Mulish" pitchFamily="34" charset="0"/>
                <a:ea typeface="Mulish" pitchFamily="34" charset="-122"/>
                <a:cs typeface="Mulish" pitchFamily="34" charset="-120"/>
              </a:rPr>
              <a:t>navi-delivery</a:t>
            </a:r>
            <a:endParaRPr lang="en-US" sz="5800" dirty="0"/>
          </a:p>
        </p:txBody>
      </p:sp>
      <p:sp>
        <p:nvSpPr>
          <p:cNvPr id="4" name="Text 1"/>
          <p:cNvSpPr txBox="1"/>
          <p:nvPr/>
        </p:nvSpPr>
        <p:spPr>
          <a:xfrm>
            <a:off x="640080" y="2743200"/>
            <a:ext cx="9509760" cy="402336"/>
          </a:xfrm>
          <a:prstGeom prst="rect">
            <a:avLst/>
          </a:prstGeom>
          <a:noFill/>
          <a:ln/>
        </p:spPr>
        <p:txBody>
          <a:bodyPr wrap="square" lIns="0" tIns="0" rIns="0" bIns="0" rtlCol="0" anchor="ctr"/>
          <a:lstStyle/>
          <a:p>
            <a:pPr indent="0" marL="0">
              <a:buNone/>
            </a:pPr>
            <a:r>
              <a:rPr lang="en-US" sz="1900" dirty="0">
                <a:solidFill>
                  <a:srgbClr val="E4DED3"/>
                </a:solidFill>
                <a:latin typeface="Calibri" pitchFamily="34" charset="0"/>
                <a:ea typeface="Calibri" pitchFamily="34" charset="-122"/>
                <a:cs typeface="Calibri" pitchFamily="34" charset="-120"/>
              </a:rPr>
              <a:t>An agentic SDLC framework — Plan to Monitor, in any harness.</a:t>
            </a:r>
            <a:endParaRPr lang="en-US" sz="1900" dirty="0"/>
          </a:p>
        </p:txBody>
      </p:sp>
      <p:sp>
        <p:nvSpPr>
          <p:cNvPr id="5" name="Text 2"/>
          <p:cNvSpPr txBox="1"/>
          <p:nvPr/>
        </p:nvSpPr>
        <p:spPr>
          <a:xfrm>
            <a:off x="640080" y="3246120"/>
            <a:ext cx="9509760" cy="365760"/>
          </a:xfrm>
          <a:prstGeom prst="rect">
            <a:avLst/>
          </a:prstGeom>
          <a:noFill/>
          <a:ln/>
        </p:spPr>
        <p:txBody>
          <a:bodyPr wrap="square" lIns="0" tIns="0" rIns="0" bIns="0" rtlCol="0" anchor="ctr"/>
          <a:lstStyle/>
          <a:p>
            <a:pPr indent="0" marL="0">
              <a:buNone/>
            </a:pPr>
            <a:r>
              <a:rPr lang="en-US" sz="1500" i="1" dirty="0">
                <a:solidFill>
                  <a:srgbClr val="9BA2BA"/>
                </a:solidFill>
                <a:latin typeface="Calibri" pitchFamily="34" charset="0"/>
                <a:ea typeface="Calibri" pitchFamily="34" charset="-122"/>
                <a:cs typeface="Calibri" pitchFamily="34" charset="-120"/>
              </a:rPr>
              <a:t>Agents hold the judgment.   Skills hold the rules.</a:t>
            </a:r>
            <a:endParaRPr lang="en-US" sz="1500" dirty="0"/>
          </a:p>
        </p:txBody>
      </p:sp>
      <p:sp>
        <p:nvSpPr>
          <p:cNvPr id="6" name="Shape 3"/>
          <p:cNvSpPr/>
          <p:nvPr/>
        </p:nvSpPr>
        <p:spPr>
          <a:xfrm>
            <a:off x="640080" y="4160520"/>
            <a:ext cx="3417722" cy="1572768"/>
          </a:xfrm>
          <a:prstGeom prst="roundRect">
            <a:avLst>
              <a:gd name="adj" fmla="val 3488"/>
            </a:avLst>
          </a:prstGeom>
          <a:solidFill>
            <a:srgbClr val="192954"/>
          </a:solidFill>
          <a:ln w="12700">
            <a:solidFill>
              <a:srgbClr val="192954"/>
            </a:solidFill>
            <a:prstDash val="solid"/>
          </a:ln>
        </p:spPr>
      </p:sp>
      <p:sp>
        <p:nvSpPr>
          <p:cNvPr id="7" name="Text 4"/>
          <p:cNvSpPr txBox="1"/>
          <p:nvPr/>
        </p:nvSpPr>
        <p:spPr>
          <a:xfrm>
            <a:off x="914400"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11</a:t>
            </a:r>
            <a:endParaRPr lang="en-US" sz="3400" dirty="0"/>
          </a:p>
        </p:txBody>
      </p:sp>
      <p:sp>
        <p:nvSpPr>
          <p:cNvPr id="8" name="Text 5"/>
          <p:cNvSpPr txBox="1"/>
          <p:nvPr/>
        </p:nvSpPr>
        <p:spPr>
          <a:xfrm>
            <a:off x="914400"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persona agents</a:t>
            </a:r>
            <a:endParaRPr lang="en-US" sz="1250" dirty="0"/>
          </a:p>
        </p:txBody>
      </p:sp>
      <p:sp>
        <p:nvSpPr>
          <p:cNvPr id="9" name="Text 6"/>
          <p:cNvSpPr txBox="1"/>
          <p:nvPr/>
        </p:nvSpPr>
        <p:spPr>
          <a:xfrm>
            <a:off x="914400"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one per discipline, plus an orchestrator</a:t>
            </a:r>
            <a:endParaRPr lang="en-US" sz="1000" dirty="0"/>
          </a:p>
        </p:txBody>
      </p:sp>
      <p:sp>
        <p:nvSpPr>
          <p:cNvPr id="10" name="Shape 7"/>
          <p:cNvSpPr/>
          <p:nvPr/>
        </p:nvSpPr>
        <p:spPr>
          <a:xfrm>
            <a:off x="4386986" y="4160520"/>
            <a:ext cx="3417722" cy="1572768"/>
          </a:xfrm>
          <a:prstGeom prst="roundRect">
            <a:avLst>
              <a:gd name="adj" fmla="val 3488"/>
            </a:avLst>
          </a:prstGeom>
          <a:solidFill>
            <a:srgbClr val="192954"/>
          </a:solidFill>
          <a:ln w="12700">
            <a:solidFill>
              <a:srgbClr val="192954"/>
            </a:solidFill>
            <a:prstDash val="solid"/>
          </a:ln>
        </p:spPr>
      </p:sp>
      <p:sp>
        <p:nvSpPr>
          <p:cNvPr id="11" name="Text 8"/>
          <p:cNvSpPr txBox="1"/>
          <p:nvPr/>
        </p:nvSpPr>
        <p:spPr>
          <a:xfrm>
            <a:off x="4661306"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50</a:t>
            </a:r>
            <a:endParaRPr lang="en-US" sz="3400" dirty="0"/>
          </a:p>
        </p:txBody>
      </p:sp>
      <p:sp>
        <p:nvSpPr>
          <p:cNvPr id="12" name="Text 9"/>
          <p:cNvSpPr txBox="1"/>
          <p:nvPr/>
        </p:nvSpPr>
        <p:spPr>
          <a:xfrm>
            <a:off x="4661306"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skills · 13 disciplines</a:t>
            </a:r>
            <a:endParaRPr lang="en-US" sz="1250" dirty="0"/>
          </a:p>
        </p:txBody>
      </p:sp>
      <p:sp>
        <p:nvSpPr>
          <p:cNvPr id="13" name="Text 10"/>
          <p:cNvSpPr txBox="1"/>
          <p:nvPr/>
        </p:nvSpPr>
        <p:spPr>
          <a:xfrm>
            <a:off x="4661306"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standards, tables, templates, validators</a:t>
            </a:r>
            <a:endParaRPr lang="en-US" sz="1000" dirty="0"/>
          </a:p>
        </p:txBody>
      </p:sp>
      <p:sp>
        <p:nvSpPr>
          <p:cNvPr id="14" name="Shape 11"/>
          <p:cNvSpPr/>
          <p:nvPr/>
        </p:nvSpPr>
        <p:spPr>
          <a:xfrm>
            <a:off x="8133893" y="4160520"/>
            <a:ext cx="3417722" cy="1572768"/>
          </a:xfrm>
          <a:prstGeom prst="roundRect">
            <a:avLst>
              <a:gd name="adj" fmla="val 3488"/>
            </a:avLst>
          </a:prstGeom>
          <a:solidFill>
            <a:srgbClr val="192954"/>
          </a:solidFill>
          <a:ln w="12700">
            <a:solidFill>
              <a:srgbClr val="192954"/>
            </a:solidFill>
            <a:prstDash val="solid"/>
          </a:ln>
        </p:spPr>
      </p:sp>
      <p:sp>
        <p:nvSpPr>
          <p:cNvPr id="15" name="Text 12"/>
          <p:cNvSpPr txBox="1"/>
          <p:nvPr/>
        </p:nvSpPr>
        <p:spPr>
          <a:xfrm>
            <a:off x="8408213" y="4334256"/>
            <a:ext cx="2869082" cy="566928"/>
          </a:xfrm>
          <a:prstGeom prst="rect">
            <a:avLst/>
          </a:prstGeom>
          <a:noFill/>
          <a:ln/>
        </p:spPr>
        <p:txBody>
          <a:bodyPr wrap="square" lIns="0" tIns="0" rIns="0" bIns="0" rtlCol="0" anchor="ctr"/>
          <a:lstStyle/>
          <a:p>
            <a:pPr indent="0" marL="0">
              <a:buNone/>
            </a:pPr>
            <a:r>
              <a:rPr lang="en-US" sz="3400" b="1" dirty="0">
                <a:solidFill>
                  <a:srgbClr val="FAF3E7"/>
                </a:solidFill>
                <a:latin typeface="Mulish" pitchFamily="34" charset="0"/>
                <a:ea typeface="Mulish" pitchFamily="34" charset="-122"/>
                <a:cs typeface="Mulish" pitchFamily="34" charset="-120"/>
              </a:rPr>
              <a:t>9 / 9 / 4</a:t>
            </a:r>
            <a:endParaRPr lang="en-US" sz="3400" dirty="0"/>
          </a:p>
        </p:txBody>
      </p:sp>
      <p:sp>
        <p:nvSpPr>
          <p:cNvPr id="16" name="Text 13"/>
          <p:cNvSpPr txBox="1"/>
          <p:nvPr/>
        </p:nvSpPr>
        <p:spPr>
          <a:xfrm>
            <a:off x="8408213" y="4956048"/>
            <a:ext cx="2869082" cy="256032"/>
          </a:xfrm>
          <a:prstGeom prst="rect">
            <a:avLst/>
          </a:prstGeom>
          <a:noFill/>
          <a:ln/>
        </p:spPr>
        <p:txBody>
          <a:bodyPr wrap="square" lIns="0" tIns="0" rIns="0" bIns="0" rtlCol="0" anchor="ctr"/>
          <a:lstStyle/>
          <a:p>
            <a:pPr indent="0" marL="0">
              <a:buNone/>
            </a:pPr>
            <a:r>
              <a:rPr lang="en-US" sz="1250" b="1" dirty="0">
                <a:solidFill>
                  <a:srgbClr val="E4DED3"/>
                </a:solidFill>
                <a:latin typeface="Calibri" pitchFamily="34" charset="0"/>
                <a:ea typeface="Calibri" pitchFamily="34" charset="-122"/>
                <a:cs typeface="Calibri" pitchFamily="34" charset="-120"/>
              </a:rPr>
              <a:t>phases · gates · lanes</a:t>
            </a:r>
            <a:endParaRPr lang="en-US" sz="1250" dirty="0"/>
          </a:p>
        </p:txBody>
      </p:sp>
      <p:sp>
        <p:nvSpPr>
          <p:cNvPr id="17" name="Text 14"/>
          <p:cNvSpPr txBox="1"/>
          <p:nvPr/>
        </p:nvSpPr>
        <p:spPr>
          <a:xfrm>
            <a:off x="8408213" y="5230368"/>
            <a:ext cx="2869082" cy="384048"/>
          </a:xfrm>
          <a:prstGeom prst="rect">
            <a:avLst/>
          </a:prstGeom>
          <a:noFill/>
          <a:ln/>
        </p:spPr>
        <p:txBody>
          <a:bodyPr wrap="square" lIns="0" tIns="0" rIns="0" bIns="0" rtlCol="0" anchor="ctr"/>
          <a:lstStyle/>
          <a:p>
            <a:pPr indent="0" marL="0">
              <a:buNone/>
            </a:pPr>
            <a:r>
              <a:rPr lang="en-US" sz="1000" dirty="0">
                <a:solidFill>
                  <a:srgbClr val="9BA2BA"/>
                </a:solidFill>
                <a:latin typeface="Calibri" pitchFamily="34" charset="0"/>
                <a:ea typeface="Calibri" pitchFamily="34" charset="-122"/>
                <a:cs typeface="Calibri" pitchFamily="34" charset="-120"/>
              </a:rPr>
              <a:t>proportionality, so nobody routes around it</a:t>
            </a:r>
            <a:endParaRPr lang="en-US" sz="1000" dirty="0"/>
          </a:p>
        </p:txBody>
      </p:sp>
      <p:sp>
        <p:nvSpPr>
          <p:cNvPr id="18" name="Text 15"/>
          <p:cNvSpPr txBox="1"/>
          <p:nvPr/>
        </p:nvSpPr>
        <p:spPr>
          <a:xfrm>
            <a:off x="640080" y="6345936"/>
            <a:ext cx="8229600" cy="219456"/>
          </a:xfrm>
          <a:prstGeom prst="rect">
            <a:avLst/>
          </a:prstGeom>
          <a:noFill/>
          <a:ln/>
        </p:spPr>
        <p:txBody>
          <a:bodyPr wrap="square" lIns="0" tIns="0" rIns="0" bIns="0" rtlCol="0" anchor="ctr"/>
          <a:lstStyle/>
          <a:p>
            <a:pPr indent="0" marL="0">
              <a:buNone/>
            </a:pPr>
            <a:r>
              <a:rPr lang="en-US" sz="900" dirty="0">
                <a:solidFill>
                  <a:srgbClr val="6E7591"/>
                </a:solidFill>
                <a:latin typeface="Calibri" pitchFamily="34" charset="0"/>
                <a:ea typeface="Calibri" pitchFamily="34" charset="-122"/>
                <a:cs typeface="Calibri" pitchFamily="34" charset="-120"/>
              </a:rPr>
              <a:t>Version 0.1.0  ·  owner avinash.negi@navikenz.com  ·  internal adoption briefing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THE PROBLEM</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AI helps with the code. It does not help with the lifecycle.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Coding assistants land in the middle of delivery and leave both ends untouched. Three things then go wrong, every time.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2 / 19</a:t>
            </a:r>
            <a:endParaRPr lang="en-US" sz="850" dirty="0"/>
          </a:p>
        </p:txBody>
      </p:sp>
      <p:sp>
        <p:nvSpPr>
          <p:cNvPr id="7" name="Shape 4"/>
          <p:cNvSpPr/>
          <p:nvPr/>
        </p:nvSpPr>
        <p:spPr>
          <a:xfrm>
            <a:off x="640080" y="1810512"/>
            <a:ext cx="10911535" cy="1188720"/>
          </a:xfrm>
          <a:prstGeom prst="roundRect">
            <a:avLst>
              <a:gd name="adj" fmla="val 4615"/>
            </a:avLst>
          </a:prstGeom>
          <a:solidFill>
            <a:srgbClr val="FFFFFF"/>
          </a:solidFill>
          <a:ln w="12700">
            <a:solidFill>
              <a:srgbClr val="CFC7B8"/>
            </a:solidFill>
            <a:prstDash val="solid"/>
          </a:ln>
        </p:spPr>
      </p:sp>
      <p:sp>
        <p:nvSpPr>
          <p:cNvPr id="8" name="Text 5"/>
          <p:cNvSpPr txBox="1"/>
          <p:nvPr/>
        </p:nvSpPr>
        <p:spPr>
          <a:xfrm>
            <a:off x="932688" y="2048256"/>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1</a:t>
            </a:r>
            <a:endParaRPr lang="en-US" sz="3800" dirty="0"/>
          </a:p>
        </p:txBody>
      </p:sp>
      <p:sp>
        <p:nvSpPr>
          <p:cNvPr id="9" name="Text 6"/>
          <p:cNvSpPr txBox="1"/>
          <p:nvPr/>
        </p:nvSpPr>
        <p:spPr>
          <a:xfrm>
            <a:off x="1719072" y="2029968"/>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Judgment is re-invented at every prompt</a:t>
            </a:r>
            <a:endParaRPr lang="en-US" sz="1600" dirty="0"/>
          </a:p>
        </p:txBody>
      </p:sp>
      <p:sp>
        <p:nvSpPr>
          <p:cNvPr id="10" name="Text 7"/>
          <p:cNvSpPr txBox="1"/>
          <p:nvPr/>
        </p:nvSpPr>
        <p:spPr>
          <a:xfrm>
            <a:off x="1719072" y="2377440"/>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Each session re-derives what a Business Analyst or an Architect already knows. The reasoning is produced, used once and thrown away. Nothing accumulates between changes, so the tenth change costs what the first one did.</a:t>
            </a:r>
            <a:endParaRPr lang="en-US" sz="1150" dirty="0"/>
          </a:p>
        </p:txBody>
      </p:sp>
      <p:sp>
        <p:nvSpPr>
          <p:cNvPr id="11" name="Shape 8"/>
          <p:cNvSpPr/>
          <p:nvPr/>
        </p:nvSpPr>
        <p:spPr>
          <a:xfrm>
            <a:off x="640080" y="3200400"/>
            <a:ext cx="10911535" cy="1188720"/>
          </a:xfrm>
          <a:prstGeom prst="roundRect">
            <a:avLst>
              <a:gd name="adj" fmla="val 4615"/>
            </a:avLst>
          </a:prstGeom>
          <a:solidFill>
            <a:srgbClr val="FFFFFF"/>
          </a:solidFill>
          <a:ln w="12700">
            <a:solidFill>
              <a:srgbClr val="CFC7B8"/>
            </a:solidFill>
            <a:prstDash val="solid"/>
          </a:ln>
        </p:spPr>
      </p:sp>
      <p:sp>
        <p:nvSpPr>
          <p:cNvPr id="12" name="Text 9"/>
          <p:cNvSpPr txBox="1"/>
          <p:nvPr/>
        </p:nvSpPr>
        <p:spPr>
          <a:xfrm>
            <a:off x="932688" y="3438144"/>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2</a:t>
            </a:r>
            <a:endParaRPr lang="en-US" sz="3800" dirty="0"/>
          </a:p>
        </p:txBody>
      </p:sp>
      <p:sp>
        <p:nvSpPr>
          <p:cNvPr id="13" name="Text 10"/>
          <p:cNvSpPr txBox="1"/>
          <p:nvPr/>
        </p:nvSpPr>
        <p:spPr>
          <a:xfrm>
            <a:off x="1719072" y="3419856"/>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Standards live in people's heads</a:t>
            </a:r>
            <a:endParaRPr lang="en-US" sz="1600" dirty="0"/>
          </a:p>
        </p:txBody>
      </p:sp>
      <p:sp>
        <p:nvSpPr>
          <p:cNvPr id="14" name="Text 11"/>
          <p:cNvSpPr txBox="1"/>
          <p:nvPr/>
        </p:nvSpPr>
        <p:spPr>
          <a:xfrm>
            <a:off x="1719072" y="3767328"/>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Or in a wiki detached from the moment the work happens. A convention that is not attached to the artifact being written is a convention that will be missed, and the review that catches it is the most expensive place to catch it.</a:t>
            </a:r>
            <a:endParaRPr lang="en-US" sz="1150" dirty="0"/>
          </a:p>
        </p:txBody>
      </p:sp>
      <p:sp>
        <p:nvSpPr>
          <p:cNvPr id="15" name="Shape 12"/>
          <p:cNvSpPr/>
          <p:nvPr/>
        </p:nvSpPr>
        <p:spPr>
          <a:xfrm>
            <a:off x="640080" y="4590288"/>
            <a:ext cx="10911535" cy="1188720"/>
          </a:xfrm>
          <a:prstGeom prst="roundRect">
            <a:avLst>
              <a:gd name="adj" fmla="val 4615"/>
            </a:avLst>
          </a:prstGeom>
          <a:solidFill>
            <a:srgbClr val="FFFFFF"/>
          </a:solidFill>
          <a:ln w="12700">
            <a:solidFill>
              <a:srgbClr val="CFC7B8"/>
            </a:solidFill>
            <a:prstDash val="solid"/>
          </a:ln>
        </p:spPr>
      </p:sp>
      <p:sp>
        <p:nvSpPr>
          <p:cNvPr id="16" name="Text 13"/>
          <p:cNvSpPr txBox="1"/>
          <p:nvPr/>
        </p:nvSpPr>
        <p:spPr>
          <a:xfrm>
            <a:off x="932688" y="4828032"/>
            <a:ext cx="640080" cy="731520"/>
          </a:xfrm>
          <a:prstGeom prst="rect">
            <a:avLst/>
          </a:prstGeom>
          <a:noFill/>
          <a:ln/>
        </p:spPr>
        <p:txBody>
          <a:bodyPr wrap="square" lIns="0" tIns="0" rIns="0" bIns="0" rtlCol="0" anchor="ctr"/>
          <a:lstStyle/>
          <a:p>
            <a:pPr indent="0" marL="0">
              <a:buNone/>
            </a:pPr>
            <a:r>
              <a:rPr lang="en-US" sz="3800" b="1" dirty="0">
                <a:solidFill>
                  <a:srgbClr val="B9AE98"/>
                </a:solidFill>
                <a:latin typeface="Mulish" pitchFamily="34" charset="0"/>
                <a:ea typeface="Mulish" pitchFamily="34" charset="-122"/>
                <a:cs typeface="Mulish" pitchFamily="34" charset="-120"/>
              </a:rPr>
              <a:t>3</a:t>
            </a:r>
            <a:endParaRPr lang="en-US" sz="3800" dirty="0"/>
          </a:p>
        </p:txBody>
      </p:sp>
      <p:sp>
        <p:nvSpPr>
          <p:cNvPr id="17" name="Text 14"/>
          <p:cNvSpPr txBox="1"/>
          <p:nvPr/>
        </p:nvSpPr>
        <p:spPr>
          <a:xfrm>
            <a:off x="1719072" y="4809744"/>
            <a:ext cx="9448495" cy="292608"/>
          </a:xfrm>
          <a:prstGeom prst="rect">
            <a:avLst/>
          </a:prstGeom>
          <a:noFill/>
          <a:ln/>
        </p:spPr>
        <p:txBody>
          <a:bodyPr wrap="square" lIns="0" tIns="0" rIns="0" bIns="0" rtlCol="0" anchor="ctr"/>
          <a:lstStyle/>
          <a:p>
            <a:pPr indent="0" marL="0">
              <a:buNone/>
            </a:pPr>
            <a:r>
              <a:rPr lang="en-US" sz="1600" b="1" dirty="0">
                <a:solidFill>
                  <a:srgbClr val="051D60"/>
                </a:solidFill>
                <a:latin typeface="Mulish" pitchFamily="34" charset="0"/>
                <a:ea typeface="Mulish" pitchFamily="34" charset="-122"/>
                <a:cs typeface="Mulish" pitchFamily="34" charset="-120"/>
              </a:rPr>
              <a:t>The loop never closes</a:t>
            </a:r>
            <a:endParaRPr lang="en-US" sz="1600" dirty="0"/>
          </a:p>
        </p:txBody>
      </p:sp>
      <p:sp>
        <p:nvSpPr>
          <p:cNvPr id="18" name="Text 15"/>
          <p:cNvSpPr txBox="1"/>
          <p:nvPr/>
        </p:nvSpPr>
        <p:spPr>
          <a:xfrm>
            <a:off x="1719072" y="5157216"/>
            <a:ext cx="9448495" cy="603504"/>
          </a:xfrm>
          <a:prstGeom prst="rect">
            <a:avLst/>
          </a:prstGeom>
          <a:noFill/>
          <a:ln/>
        </p:spPr>
        <p:txBody>
          <a:bodyPr wrap="square" lIns="0" tIns="0" rIns="0" bIns="0" rtlCol="0" anchor="ctr"/>
          <a:lstStyle/>
          <a:p>
            <a:pPr indent="0" marL="0">
              <a:lnSpc>
                <a:spcPct val="115000"/>
              </a:lnSpc>
              <a:buNone/>
            </a:pPr>
            <a:r>
              <a:rPr lang="en-US" sz="1150" dirty="0">
                <a:solidFill>
                  <a:srgbClr val="5F6476"/>
                </a:solidFill>
                <a:latin typeface="Calibri" pitchFamily="34" charset="0"/>
                <a:ea typeface="Calibri" pitchFamily="34" charset="-122"/>
                <a:cs typeface="Calibri" pitchFamily="34" charset="-120"/>
              </a:rPr>
              <a:t>An incident rarely changes the standard that allowed it. The postmortem is written, filed, and read by nobody, so the same defect returns under a different name six months later.</a:t>
            </a:r>
            <a:endParaRPr lang="en-US" sz="1150" dirty="0"/>
          </a:p>
        </p:txBody>
      </p:sp>
      <p:sp>
        <p:nvSpPr>
          <p:cNvPr id="19" name="Text 16"/>
          <p:cNvSpPr txBox="1"/>
          <p:nvPr/>
        </p:nvSpPr>
        <p:spPr>
          <a:xfrm>
            <a:off x="640080" y="5989320"/>
            <a:ext cx="10911535" cy="274320"/>
          </a:xfrm>
          <a:prstGeom prst="rect">
            <a:avLst/>
          </a:prstGeom>
          <a:noFill/>
          <a:ln/>
        </p:spPr>
        <p:txBody>
          <a:bodyPr wrap="square" lIns="0" tIns="0" rIns="0" bIns="0" rtlCol="0" anchor="ctr"/>
          <a:lstStyle/>
          <a:p>
            <a:pPr indent="0" marL="0">
              <a:buNone/>
            </a:pPr>
            <a:r>
              <a:rPr lang="en-US" sz="1200" i="1" dirty="0">
                <a:solidFill>
                  <a:srgbClr val="051D60"/>
                </a:solidFill>
                <a:latin typeface="Calibri" pitchFamily="34" charset="0"/>
                <a:ea typeface="Calibri" pitchFamily="34" charset="-122"/>
                <a:cs typeface="Calibri" pitchFamily="34" charset="-120"/>
              </a:rPr>
              <a:t>The response is to separate the two things that keep getting fused — and then to make the separation mechanical, so it survives contact with a deadline.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WHAT IT IS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One framework, dropped into any repo</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Install once. It scaffolds a delivery/ tree into the repo you actually work in, and records what happened at every gate.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3 / 19</a:t>
            </a:r>
            <a:endParaRPr lang="en-US" sz="850" dirty="0"/>
          </a:p>
        </p:txBody>
      </p:sp>
      <p:sp>
        <p:nvSpPr>
          <p:cNvPr id="7" name="Shape 4"/>
          <p:cNvSpPr/>
          <p:nvPr/>
        </p:nvSpPr>
        <p:spPr>
          <a:xfrm>
            <a:off x="640080" y="1828800"/>
            <a:ext cx="3429914" cy="3337560"/>
          </a:xfrm>
          <a:prstGeom prst="roundRect">
            <a:avLst>
              <a:gd name="adj" fmla="val 1644"/>
            </a:avLst>
          </a:prstGeom>
          <a:solidFill>
            <a:srgbClr val="FFFFFF"/>
          </a:solidFill>
          <a:ln w="12700">
            <a:solidFill>
              <a:srgbClr val="CFC7B8"/>
            </a:solidFill>
            <a:prstDash val="solid"/>
          </a:ln>
        </p:spPr>
      </p:sp>
      <p:sp>
        <p:nvSpPr>
          <p:cNvPr id="8" name="Text 5"/>
          <p:cNvSpPr txBox="1"/>
          <p:nvPr/>
        </p:nvSpPr>
        <p:spPr>
          <a:xfrm>
            <a:off x="914400" y="2029968"/>
            <a:ext cx="2881274" cy="530352"/>
          </a:xfrm>
          <a:prstGeom prst="rect">
            <a:avLst/>
          </a:prstGeom>
          <a:noFill/>
          <a:ln/>
        </p:spPr>
        <p:txBody>
          <a:bodyPr wrap="square" lIns="0" tIns="0" rIns="0" bIns="0" rtlCol="0" anchor="ctr"/>
          <a:lstStyle/>
          <a:p>
            <a:pPr indent="0" marL="0">
              <a:buNone/>
            </a:pPr>
            <a:r>
              <a:rPr lang="en-US" sz="3000" b="1" dirty="0">
                <a:solidFill>
                  <a:srgbClr val="051D60"/>
                </a:solidFill>
                <a:latin typeface="Mulish" pitchFamily="34" charset="0"/>
                <a:ea typeface="Mulish" pitchFamily="34" charset="-122"/>
                <a:cs typeface="Mulish" pitchFamily="34" charset="-120"/>
              </a:rPr>
              <a:t>11</a:t>
            </a:r>
            <a:endParaRPr lang="en-US" sz="3000" dirty="0"/>
          </a:p>
        </p:txBody>
      </p:sp>
      <p:sp>
        <p:nvSpPr>
          <p:cNvPr id="9" name="Text 6"/>
          <p:cNvSpPr txBox="1"/>
          <p:nvPr/>
        </p:nvSpPr>
        <p:spPr>
          <a:xfrm>
            <a:off x="914400" y="2615184"/>
            <a:ext cx="2881274" cy="292608"/>
          </a:xfrm>
          <a:prstGeom prst="rect">
            <a:avLst/>
          </a:prstGeom>
          <a:noFill/>
          <a:ln/>
        </p:spPr>
        <p:txBody>
          <a:bodyPr wrap="square" lIns="0" tIns="0" rIns="0" bIns="0" rtlCol="0" anchor="ctr"/>
          <a:lstStyle/>
          <a:p>
            <a:pPr indent="0" marL="0">
              <a:buNone/>
            </a:pPr>
            <a:r>
              <a:rPr lang="en-US" sz="1800" b="1" dirty="0">
                <a:solidFill>
                  <a:srgbClr val="051D60"/>
                </a:solidFill>
                <a:latin typeface="Mulish" pitchFamily="34" charset="0"/>
                <a:ea typeface="Mulish" pitchFamily="34" charset="-122"/>
                <a:cs typeface="Mulish" pitchFamily="34" charset="-120"/>
              </a:rPr>
              <a:t>Agents</a:t>
            </a:r>
            <a:endParaRPr lang="en-US" sz="1800" dirty="0"/>
          </a:p>
        </p:txBody>
      </p:sp>
      <p:sp>
        <p:nvSpPr>
          <p:cNvPr id="10" name="Text 7"/>
          <p:cNvSpPr txBox="1"/>
          <p:nvPr/>
        </p:nvSpPr>
        <p:spPr>
          <a:xfrm>
            <a:off x="914400" y="2926080"/>
            <a:ext cx="2881274" cy="201168"/>
          </a:xfrm>
          <a:prstGeom prst="rect">
            <a:avLst/>
          </a:prstGeom>
          <a:noFill/>
          <a:ln/>
        </p:spPr>
        <p:txBody>
          <a:bodyPr wrap="square" lIns="0" tIns="0" rIns="0" bIns="0" rtlCol="0" anchor="ctr"/>
          <a:lstStyle/>
          <a:p>
            <a:pPr indent="0" marL="0">
              <a:buNone/>
            </a:pPr>
            <a:r>
              <a:rPr lang="en-US" sz="900" b="1" spc="160" kern="0" dirty="0">
                <a:solidFill>
                  <a:srgbClr val="5F6476"/>
                </a:solidFill>
                <a:latin typeface="Calibri" pitchFamily="34" charset="0"/>
                <a:ea typeface="Calibri" pitchFamily="34" charset="-122"/>
                <a:cs typeface="Calibri" pitchFamily="34" charset="-120"/>
              </a:rPr>
              <a:t>THE THINKING</a:t>
            </a:r>
            <a:endParaRPr lang="en-US" sz="900" dirty="0"/>
          </a:p>
        </p:txBody>
      </p:sp>
      <p:sp>
        <p:nvSpPr>
          <p:cNvPr id="11" name="Text 8"/>
          <p:cNvSpPr txBox="1"/>
          <p:nvPr/>
        </p:nvSpPr>
        <p:spPr>
          <a:xfrm>
            <a:off x="914400"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Mission and accountability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A mental model of the discipline</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How to weigh trade-offs</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When to escalate to a human</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Which skill to reach for</a:t>
            </a:r>
            <a:endParaRPr lang="en-US" sz="1100" dirty="0"/>
          </a:p>
        </p:txBody>
      </p:sp>
      <p:sp>
        <p:nvSpPr>
          <p:cNvPr id="12" name="Shape 9"/>
          <p:cNvSpPr/>
          <p:nvPr/>
        </p:nvSpPr>
        <p:spPr>
          <a:xfrm>
            <a:off x="4380890" y="1828800"/>
            <a:ext cx="3429914" cy="3337560"/>
          </a:xfrm>
          <a:prstGeom prst="roundRect">
            <a:avLst>
              <a:gd name="adj" fmla="val 1644"/>
            </a:avLst>
          </a:prstGeom>
          <a:solidFill>
            <a:srgbClr val="051D60"/>
          </a:solidFill>
          <a:ln w="12700">
            <a:solidFill>
              <a:srgbClr val="051D60"/>
            </a:solidFill>
            <a:prstDash val="solid"/>
          </a:ln>
        </p:spPr>
      </p:sp>
      <p:sp>
        <p:nvSpPr>
          <p:cNvPr id="13" name="Text 10"/>
          <p:cNvSpPr txBox="1"/>
          <p:nvPr/>
        </p:nvSpPr>
        <p:spPr>
          <a:xfrm>
            <a:off x="4655210" y="2029968"/>
            <a:ext cx="2881274" cy="530352"/>
          </a:xfrm>
          <a:prstGeom prst="rect">
            <a:avLst/>
          </a:prstGeom>
          <a:noFill/>
          <a:ln/>
        </p:spPr>
        <p:txBody>
          <a:bodyPr wrap="square" lIns="0" tIns="0" rIns="0" bIns="0" rtlCol="0" anchor="ctr"/>
          <a:lstStyle/>
          <a:p>
            <a:pPr indent="0" marL="0">
              <a:buNone/>
            </a:pPr>
            <a:r>
              <a:rPr lang="en-US" sz="3000" b="1" dirty="0">
                <a:solidFill>
                  <a:srgbClr val="FAF3E7"/>
                </a:solidFill>
                <a:latin typeface="Mulish" pitchFamily="34" charset="0"/>
                <a:ea typeface="Mulish" pitchFamily="34" charset="-122"/>
                <a:cs typeface="Mulish" pitchFamily="34" charset="-120"/>
              </a:rPr>
              <a:t>50</a:t>
            </a:r>
            <a:endParaRPr lang="en-US" sz="3000" dirty="0"/>
          </a:p>
        </p:txBody>
      </p:sp>
      <p:sp>
        <p:nvSpPr>
          <p:cNvPr id="14" name="Text 11"/>
          <p:cNvSpPr txBox="1"/>
          <p:nvPr/>
        </p:nvSpPr>
        <p:spPr>
          <a:xfrm>
            <a:off x="4655210" y="2615184"/>
            <a:ext cx="2881274" cy="292608"/>
          </a:xfrm>
          <a:prstGeom prst="rect">
            <a:avLst/>
          </a:prstGeom>
          <a:noFill/>
          <a:ln/>
        </p:spPr>
        <p:txBody>
          <a:bodyPr wrap="square" lIns="0" tIns="0" rIns="0" bIns="0" rtlCol="0" anchor="ctr"/>
          <a:lstStyle/>
          <a:p>
            <a:pPr indent="0" marL="0">
              <a:buNone/>
            </a:pPr>
            <a:r>
              <a:rPr lang="en-US" sz="1800" b="1" dirty="0">
                <a:solidFill>
                  <a:srgbClr val="FAF3E7"/>
                </a:solidFill>
                <a:latin typeface="Mulish" pitchFamily="34" charset="0"/>
                <a:ea typeface="Mulish" pitchFamily="34" charset="-122"/>
                <a:cs typeface="Mulish" pitchFamily="34" charset="-120"/>
              </a:rPr>
              <a:t>Skills</a:t>
            </a:r>
            <a:endParaRPr lang="en-US" sz="1800" dirty="0"/>
          </a:p>
        </p:txBody>
      </p:sp>
      <p:sp>
        <p:nvSpPr>
          <p:cNvPr id="15" name="Text 12"/>
          <p:cNvSpPr txBox="1"/>
          <p:nvPr/>
        </p:nvSpPr>
        <p:spPr>
          <a:xfrm>
            <a:off x="4655210" y="2926080"/>
            <a:ext cx="2881274" cy="201168"/>
          </a:xfrm>
          <a:prstGeom prst="rect">
            <a:avLst/>
          </a:prstGeom>
          <a:noFill/>
          <a:ln/>
        </p:spPr>
        <p:txBody>
          <a:bodyPr wrap="square" lIns="0" tIns="0" rIns="0" bIns="0" rtlCol="0" anchor="ctr"/>
          <a:lstStyle/>
          <a:p>
            <a:pPr indent="0" marL="0">
              <a:buNone/>
            </a:pPr>
            <a:r>
              <a:rPr lang="en-US" sz="900" b="1" spc="160" kern="0" dirty="0">
                <a:solidFill>
                  <a:srgbClr val="9BA2BA"/>
                </a:solidFill>
                <a:latin typeface="Calibri" pitchFamily="34" charset="0"/>
                <a:ea typeface="Calibri" pitchFamily="34" charset="-122"/>
                <a:cs typeface="Calibri" pitchFamily="34" charset="-120"/>
              </a:rPr>
              <a:t>THE RULES</a:t>
            </a:r>
            <a:endParaRPr lang="en-US" sz="900" dirty="0"/>
          </a:p>
        </p:txBody>
      </p:sp>
      <p:sp>
        <p:nvSpPr>
          <p:cNvPr id="16" name="Text 13"/>
          <p:cNvSpPr txBox="1"/>
          <p:nvPr/>
        </p:nvSpPr>
        <p:spPr>
          <a:xfrm>
            <a:off x="4655210"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Standards and conventions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Decision tables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Copy-ready templates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Self-check checklists</a:t>
            </a:r>
            <a:endParaRPr lang="en-US" sz="1100" dirty="0"/>
          </a:p>
          <a:p>
            <a:pPr marL="342900" indent="-342900">
              <a:spcAft>
                <a:spcPts val="700"/>
              </a:spcAft>
              <a:buSzPct val="100000"/>
              <a:buChar char="•"/>
            </a:pPr>
            <a:r>
              <a:rPr lang="en-US" sz="1100" dirty="0">
                <a:solidFill>
                  <a:srgbClr val="E4DED3"/>
                </a:solidFill>
                <a:latin typeface="Calibri" pitchFamily="34" charset="0"/>
                <a:ea typeface="Calibri" pitchFamily="34" charset="-122"/>
                <a:cs typeface="Calibri" pitchFamily="34" charset="-120"/>
              </a:rPr>
              <a:t>A mechanical Validation block</a:t>
            </a:r>
            <a:endParaRPr lang="en-US" sz="1100" dirty="0"/>
          </a:p>
        </p:txBody>
      </p:sp>
      <p:sp>
        <p:nvSpPr>
          <p:cNvPr id="17" name="Shape 14"/>
          <p:cNvSpPr/>
          <p:nvPr/>
        </p:nvSpPr>
        <p:spPr>
          <a:xfrm>
            <a:off x="8121701" y="1828800"/>
            <a:ext cx="3429914" cy="3337560"/>
          </a:xfrm>
          <a:prstGeom prst="roundRect">
            <a:avLst>
              <a:gd name="adj" fmla="val 1644"/>
            </a:avLst>
          </a:prstGeom>
          <a:solidFill>
            <a:srgbClr val="FFFFFF"/>
          </a:solidFill>
          <a:ln w="12700">
            <a:solidFill>
              <a:srgbClr val="CFC7B8"/>
            </a:solidFill>
            <a:prstDash val="solid"/>
          </a:ln>
        </p:spPr>
      </p:sp>
      <p:sp>
        <p:nvSpPr>
          <p:cNvPr id="18" name="Text 15"/>
          <p:cNvSpPr txBox="1"/>
          <p:nvPr/>
        </p:nvSpPr>
        <p:spPr>
          <a:xfrm>
            <a:off x="8396021" y="2029968"/>
            <a:ext cx="2881274" cy="530352"/>
          </a:xfrm>
          <a:prstGeom prst="rect">
            <a:avLst/>
          </a:prstGeom>
          <a:noFill/>
          <a:ln/>
        </p:spPr>
        <p:txBody>
          <a:bodyPr wrap="square" lIns="0" tIns="0" rIns="0" bIns="0" rtlCol="0" anchor="ctr"/>
          <a:lstStyle/>
          <a:p>
            <a:pPr indent="0" marL="0">
              <a:buNone/>
            </a:pPr>
            <a:r>
              <a:rPr lang="en-US" sz="3000" b="1" dirty="0">
                <a:solidFill>
                  <a:srgbClr val="051D60"/>
                </a:solidFill>
                <a:latin typeface="Mulish" pitchFamily="34" charset="0"/>
                <a:ea typeface="Mulish" pitchFamily="34" charset="-122"/>
                <a:cs typeface="Mulish" pitchFamily="34" charset="-120"/>
              </a:rPr>
              <a:t>9·9·4</a:t>
            </a:r>
            <a:endParaRPr lang="en-US" sz="3000" dirty="0"/>
          </a:p>
        </p:txBody>
      </p:sp>
      <p:sp>
        <p:nvSpPr>
          <p:cNvPr id="19" name="Text 16"/>
          <p:cNvSpPr txBox="1"/>
          <p:nvPr/>
        </p:nvSpPr>
        <p:spPr>
          <a:xfrm>
            <a:off x="8396021" y="2615184"/>
            <a:ext cx="2881274" cy="292608"/>
          </a:xfrm>
          <a:prstGeom prst="rect">
            <a:avLst/>
          </a:prstGeom>
          <a:noFill/>
          <a:ln/>
        </p:spPr>
        <p:txBody>
          <a:bodyPr wrap="square" lIns="0" tIns="0" rIns="0" bIns="0" rtlCol="0" anchor="ctr"/>
          <a:lstStyle/>
          <a:p>
            <a:pPr indent="0" marL="0">
              <a:buNone/>
            </a:pPr>
            <a:r>
              <a:rPr lang="en-US" sz="1800" b="1" dirty="0">
                <a:solidFill>
                  <a:srgbClr val="051D60"/>
                </a:solidFill>
                <a:latin typeface="Mulish" pitchFamily="34" charset="0"/>
                <a:ea typeface="Mulish" pitchFamily="34" charset="-122"/>
                <a:cs typeface="Mulish" pitchFamily="34" charset="-120"/>
              </a:rPr>
              <a:t>Lifecycle</a:t>
            </a:r>
            <a:endParaRPr lang="en-US" sz="1800" dirty="0"/>
          </a:p>
        </p:txBody>
      </p:sp>
      <p:sp>
        <p:nvSpPr>
          <p:cNvPr id="20" name="Text 17"/>
          <p:cNvSpPr txBox="1"/>
          <p:nvPr/>
        </p:nvSpPr>
        <p:spPr>
          <a:xfrm>
            <a:off x="8396021" y="2926080"/>
            <a:ext cx="2881274" cy="201168"/>
          </a:xfrm>
          <a:prstGeom prst="rect">
            <a:avLst/>
          </a:prstGeom>
          <a:noFill/>
          <a:ln/>
        </p:spPr>
        <p:txBody>
          <a:bodyPr wrap="square" lIns="0" tIns="0" rIns="0" bIns="0" rtlCol="0" anchor="ctr"/>
          <a:lstStyle/>
          <a:p>
            <a:pPr indent="0" marL="0">
              <a:buNone/>
            </a:pPr>
            <a:r>
              <a:rPr lang="en-US" sz="900" b="1" spc="160" kern="0" dirty="0">
                <a:solidFill>
                  <a:srgbClr val="5F6476"/>
                </a:solidFill>
                <a:latin typeface="Calibri" pitchFamily="34" charset="0"/>
                <a:ea typeface="Calibri" pitchFamily="34" charset="-122"/>
                <a:cs typeface="Calibri" pitchFamily="34" charset="-120"/>
              </a:rPr>
              <a:t>THE SPINE</a:t>
            </a:r>
            <a:endParaRPr lang="en-US" sz="900" dirty="0"/>
          </a:p>
        </p:txBody>
      </p:sp>
      <p:sp>
        <p:nvSpPr>
          <p:cNvPr id="21" name="Text 18"/>
          <p:cNvSpPr txBox="1"/>
          <p:nvPr/>
        </p:nvSpPr>
        <p:spPr>
          <a:xfrm>
            <a:off x="8396021" y="3255264"/>
            <a:ext cx="2881274" cy="173736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Nine ADLC phases</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Nine binding gates, evidence required</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Four lanes for proportionality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REQ → … → INSIGHT traceability</a:t>
            </a:r>
            <a:endParaRPr lang="en-US" sz="1100" dirty="0"/>
          </a:p>
          <a:p>
            <a:pPr marL="342900" indent="-342900">
              <a:spcAft>
                <a:spcPts val="700"/>
              </a:spcAft>
              <a:buSzPct val="100000"/>
              <a:buChar char="•"/>
            </a:pPr>
            <a:r>
              <a:rPr lang="en-US" sz="1100" dirty="0">
                <a:solidFill>
                  <a:srgbClr val="5F6476"/>
                </a:solidFill>
                <a:latin typeface="Calibri" pitchFamily="34" charset="0"/>
                <a:ea typeface="Calibri" pitchFamily="34" charset="-122"/>
                <a:cs typeface="Calibri" pitchFamily="34" charset="-120"/>
              </a:rPr>
              <a:t>State that survives the session</a:t>
            </a:r>
            <a:endParaRPr lang="en-US" sz="1100" dirty="0"/>
          </a:p>
        </p:txBody>
      </p:sp>
      <p:sp>
        <p:nvSpPr>
          <p:cNvPr id="22" name="Shape 19"/>
          <p:cNvSpPr/>
          <p:nvPr/>
        </p:nvSpPr>
        <p:spPr>
          <a:xfrm>
            <a:off x="640080" y="5376672"/>
            <a:ext cx="10911535" cy="749808"/>
          </a:xfrm>
          <a:prstGeom prst="roundRect">
            <a:avLst>
              <a:gd name="adj" fmla="val 7317"/>
            </a:avLst>
          </a:prstGeom>
          <a:solidFill>
            <a:srgbClr val="F1E9DA"/>
          </a:solidFill>
          <a:ln w="12700">
            <a:solidFill>
              <a:srgbClr val="F1E9DA"/>
            </a:solidFill>
            <a:prstDash val="solid"/>
          </a:ln>
        </p:spPr>
      </p:sp>
      <p:sp>
        <p:nvSpPr>
          <p:cNvPr id="23" name="Text 20"/>
          <p:cNvSpPr txBox="1"/>
          <p:nvPr/>
        </p:nvSpPr>
        <p:spPr>
          <a:xfrm>
            <a:off x="950976" y="5541264"/>
            <a:ext cx="10289743" cy="420624"/>
          </a:xfrm>
          <a:prstGeom prst="rect">
            <a:avLst/>
          </a:prstGeom>
          <a:noFill/>
          <a:ln/>
        </p:spPr>
        <p:txBody>
          <a:bodyPr wrap="square" lIns="0" tIns="0" rIns="0" bIns="0" rtlCol="0" anchor="ctr"/>
          <a:lstStyle/>
          <a:p>
            <a:pPr indent="0" marL="0">
              <a:buNone/>
            </a:pPr>
            <a:r>
              <a:rPr lang="en-US" sz="1250" dirty="0">
                <a:solidFill>
                  <a:srgbClr val="051D60"/>
                </a:solidFill>
                <a:latin typeface="Calibri" pitchFamily="34" charset="0"/>
                <a:ea typeface="Calibri" pitchFamily="34" charset="-122"/>
                <a:cs typeface="Calibri" pitchFamily="34" charset="-120"/>
              </a:rPr>
              <a:t>Runs in Claude Code today, and in a bare chat window with no plugin support at all — every agent capability declares a mandatory fallback.</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THE SEPARATION</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Judgment invokes rules. It never improvises them.</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An agent may not produce a lifecycle artifact from memory. It loads the governing skill, follows it, and records which skills it used.</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4 / 19</a:t>
            </a:r>
            <a:endParaRPr lang="en-US" sz="850" dirty="0"/>
          </a:p>
        </p:txBody>
      </p:sp>
      <p:sp>
        <p:nvSpPr>
          <p:cNvPr id="7" name="Shape 4"/>
          <p:cNvSpPr/>
          <p:nvPr/>
        </p:nvSpPr>
        <p:spPr>
          <a:xfrm>
            <a:off x="640080" y="1965960"/>
            <a:ext cx="4434840" cy="2743200"/>
          </a:xfrm>
          <a:prstGeom prst="roundRect">
            <a:avLst>
              <a:gd name="adj" fmla="val 2000"/>
            </a:avLst>
          </a:prstGeom>
          <a:solidFill>
            <a:srgbClr val="0E2470"/>
          </a:solidFill>
          <a:ln w="12700">
            <a:solidFill>
              <a:srgbClr val="0E2470"/>
            </a:solidFill>
            <a:prstDash val="solid"/>
          </a:ln>
        </p:spPr>
      </p:sp>
      <p:sp>
        <p:nvSpPr>
          <p:cNvPr id="8" name="Text 5"/>
          <p:cNvSpPr txBox="1"/>
          <p:nvPr/>
        </p:nvSpPr>
        <p:spPr>
          <a:xfrm>
            <a:off x="932688" y="2203704"/>
            <a:ext cx="2743200" cy="310896"/>
          </a:xfrm>
          <a:prstGeom prst="rect">
            <a:avLst/>
          </a:prstGeom>
          <a:noFill/>
          <a:ln/>
        </p:spPr>
        <p:txBody>
          <a:bodyPr wrap="square" lIns="0" tIns="0" rIns="0" bIns="0" rtlCol="0" anchor="ctr"/>
          <a:lstStyle/>
          <a:p>
            <a:pPr indent="0" marL="0">
              <a:buNone/>
            </a:pPr>
            <a:r>
              <a:rPr lang="en-US" sz="1900" b="1" dirty="0">
                <a:solidFill>
                  <a:srgbClr val="FAF3E7"/>
                </a:solidFill>
                <a:latin typeface="Mulish" pitchFamily="34" charset="0"/>
                <a:ea typeface="Mulish" pitchFamily="34" charset="-122"/>
                <a:cs typeface="Mulish" pitchFamily="34" charset="-120"/>
              </a:rPr>
              <a:t>AGENT</a:t>
            </a:r>
            <a:endParaRPr lang="en-US" sz="1900" dirty="0"/>
          </a:p>
        </p:txBody>
      </p:sp>
      <p:sp>
        <p:nvSpPr>
          <p:cNvPr id="9" name="Text 6"/>
          <p:cNvSpPr txBox="1"/>
          <p:nvPr/>
        </p:nvSpPr>
        <p:spPr>
          <a:xfrm>
            <a:off x="932688" y="2551176"/>
            <a:ext cx="3657600" cy="219456"/>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what · why · when</a:t>
            </a:r>
            <a:endParaRPr lang="en-US" sz="1050" dirty="0"/>
          </a:p>
        </p:txBody>
      </p:sp>
      <p:sp>
        <p:nvSpPr>
          <p:cNvPr id="10" name="Text 7"/>
          <p:cNvSpPr txBox="1"/>
          <p:nvPr/>
        </p:nvSpPr>
        <p:spPr>
          <a:xfrm>
            <a:off x="932688" y="2880360"/>
            <a:ext cx="3849624" cy="132588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Mission and accountability</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mental model of the discipline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How to weigh a trade-off, and why</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What 'good' looks like here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When to stop and escalate to a human</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plan for which skills to invoke</a:t>
            </a:r>
            <a:endParaRPr lang="en-US" sz="1100" dirty="0"/>
          </a:p>
        </p:txBody>
      </p:sp>
      <p:sp>
        <p:nvSpPr>
          <p:cNvPr id="11" name="Text 8"/>
          <p:cNvSpPr txBox="1"/>
          <p:nvPr/>
        </p:nvSpPr>
        <p:spPr>
          <a:xfrm>
            <a:off x="932688" y="4343400"/>
            <a:ext cx="3849624" cy="23774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Voice: first person, persona.   File: agents/navi-agent-&lt;persona&gt;/</a:t>
            </a:r>
            <a:endParaRPr lang="en-US" sz="950" dirty="0"/>
          </a:p>
        </p:txBody>
      </p:sp>
      <p:sp>
        <p:nvSpPr>
          <p:cNvPr id="12" name="Shape 9"/>
          <p:cNvSpPr/>
          <p:nvPr/>
        </p:nvSpPr>
        <p:spPr>
          <a:xfrm>
            <a:off x="7116775" y="1965960"/>
            <a:ext cx="4434840" cy="2743200"/>
          </a:xfrm>
          <a:prstGeom prst="roundRect">
            <a:avLst>
              <a:gd name="adj" fmla="val 2000"/>
            </a:avLst>
          </a:prstGeom>
          <a:solidFill>
            <a:srgbClr val="132C79"/>
          </a:solidFill>
          <a:ln w="12700">
            <a:solidFill>
              <a:srgbClr val="132C79"/>
            </a:solidFill>
            <a:prstDash val="solid"/>
          </a:ln>
        </p:spPr>
      </p:sp>
      <p:sp>
        <p:nvSpPr>
          <p:cNvPr id="13" name="Text 10"/>
          <p:cNvSpPr txBox="1"/>
          <p:nvPr/>
        </p:nvSpPr>
        <p:spPr>
          <a:xfrm>
            <a:off x="7409383" y="2203704"/>
            <a:ext cx="2743200" cy="310896"/>
          </a:xfrm>
          <a:prstGeom prst="rect">
            <a:avLst/>
          </a:prstGeom>
          <a:noFill/>
          <a:ln/>
        </p:spPr>
        <p:txBody>
          <a:bodyPr wrap="square" lIns="0" tIns="0" rIns="0" bIns="0" rtlCol="0" anchor="ctr"/>
          <a:lstStyle/>
          <a:p>
            <a:pPr indent="0" marL="0">
              <a:buNone/>
            </a:pPr>
            <a:r>
              <a:rPr lang="en-US" sz="1900" b="1" dirty="0">
                <a:solidFill>
                  <a:srgbClr val="FAF3E7"/>
                </a:solidFill>
                <a:latin typeface="Mulish" pitchFamily="34" charset="0"/>
                <a:ea typeface="Mulish" pitchFamily="34" charset="-122"/>
                <a:cs typeface="Mulish" pitchFamily="34" charset="-120"/>
              </a:rPr>
              <a:t>SKILL</a:t>
            </a:r>
            <a:endParaRPr lang="en-US" sz="1900" dirty="0"/>
          </a:p>
        </p:txBody>
      </p:sp>
      <p:sp>
        <p:nvSpPr>
          <p:cNvPr id="14" name="Text 11"/>
          <p:cNvSpPr txBox="1"/>
          <p:nvPr/>
        </p:nvSpPr>
        <p:spPr>
          <a:xfrm>
            <a:off x="7409383" y="2551176"/>
            <a:ext cx="3657600" cy="219456"/>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how</a:t>
            </a:r>
            <a:endParaRPr lang="en-US" sz="1050" dirty="0"/>
          </a:p>
        </p:txBody>
      </p:sp>
      <p:sp>
        <p:nvSpPr>
          <p:cNvPr id="15" name="Text 12"/>
          <p:cNvSpPr txBox="1"/>
          <p:nvPr/>
        </p:nvSpPr>
        <p:spPr>
          <a:xfrm>
            <a:off x="7409383" y="2880360"/>
            <a:ext cx="3849624" cy="132588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Standards and conventions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decision table for the hard calls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copy-ready template</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self-check checklist</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Named anti-patterns</a:t>
            </a:r>
            <a:endParaRPr lang="en-US" sz="1100" dirty="0"/>
          </a:p>
          <a:p>
            <a:pPr marL="342900" indent="-342900">
              <a:spcAft>
                <a:spcPts val="400"/>
              </a:spcAft>
              <a:buSzPct val="100000"/>
              <a:buChar char="•"/>
            </a:pPr>
            <a:r>
              <a:rPr lang="en-US" sz="1100" dirty="0">
                <a:solidFill>
                  <a:srgbClr val="E4DED3"/>
                </a:solidFill>
                <a:latin typeface="Calibri" pitchFamily="34" charset="0"/>
                <a:ea typeface="Calibri" pitchFamily="34" charset="-122"/>
                <a:cs typeface="Calibri" pitchFamily="34" charset="-120"/>
              </a:rPr>
              <a:t>A mechanical Validation block</a:t>
            </a:r>
            <a:endParaRPr lang="en-US" sz="1100" dirty="0"/>
          </a:p>
        </p:txBody>
      </p:sp>
      <p:sp>
        <p:nvSpPr>
          <p:cNvPr id="16" name="Text 13"/>
          <p:cNvSpPr txBox="1"/>
          <p:nvPr/>
        </p:nvSpPr>
        <p:spPr>
          <a:xfrm>
            <a:off x="7409383" y="4343400"/>
            <a:ext cx="3849624" cy="23774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Voice: impersonal, imperative.   File: skills/&lt;discipline&gt;/navi-skill-&lt;name&gt;/</a:t>
            </a:r>
            <a:endParaRPr lang="en-US" sz="950" dirty="0"/>
          </a:p>
        </p:txBody>
      </p:sp>
      <p:sp>
        <p:nvSpPr>
          <p:cNvPr id="17" name="Shape 14"/>
          <p:cNvSpPr/>
          <p:nvPr/>
        </p:nvSpPr>
        <p:spPr>
          <a:xfrm>
            <a:off x="5276088" y="2990088"/>
            <a:ext cx="1639519" cy="0"/>
          </a:xfrm>
          <a:prstGeom prst="line">
            <a:avLst/>
          </a:prstGeom>
          <a:noFill/>
          <a:ln w="28575">
            <a:solidFill>
              <a:srgbClr val="FAF3E7"/>
            </a:solidFill>
            <a:prstDash val="solid"/>
            <a:headEnd type="none"/>
            <a:tailEnd type="triangle"/>
          </a:ln>
        </p:spPr>
      </p:sp>
      <p:sp>
        <p:nvSpPr>
          <p:cNvPr id="18" name="Text 15"/>
          <p:cNvSpPr txBox="1"/>
          <p:nvPr/>
        </p:nvSpPr>
        <p:spPr>
          <a:xfrm>
            <a:off x="5074920" y="2606040"/>
            <a:ext cx="2041855" cy="274320"/>
          </a:xfrm>
          <a:prstGeom prst="rect">
            <a:avLst/>
          </a:prstGeom>
          <a:noFill/>
          <a:ln/>
        </p:spPr>
        <p:txBody>
          <a:bodyPr wrap="square" lIns="0" tIns="0" rIns="0" bIns="0" rtlCol="0" anchor="ctr"/>
          <a:lstStyle/>
          <a:p>
            <a:pPr algn="ctr" indent="0" marL="0">
              <a:buNone/>
            </a:pPr>
            <a:r>
              <a:rPr lang="en-US" sz="1250" b="1" dirty="0">
                <a:solidFill>
                  <a:srgbClr val="FAF3E7"/>
                </a:solidFill>
                <a:latin typeface="Calibri" pitchFamily="34" charset="0"/>
                <a:ea typeface="Calibri" pitchFamily="34" charset="-122"/>
                <a:cs typeface="Calibri" pitchFamily="34" charset="-120"/>
              </a:rPr>
              <a:t>loads</a:t>
            </a:r>
            <a:endParaRPr lang="en-US" sz="1250" dirty="0"/>
          </a:p>
        </p:txBody>
      </p:sp>
      <p:sp>
        <p:nvSpPr>
          <p:cNvPr id="19" name="Text 16"/>
          <p:cNvSpPr txBox="1"/>
          <p:nvPr/>
        </p:nvSpPr>
        <p:spPr>
          <a:xfrm>
            <a:off x="5074920" y="3136392"/>
            <a:ext cx="2041855" cy="256032"/>
          </a:xfrm>
          <a:prstGeom prst="rect">
            <a:avLst/>
          </a:prstGeom>
          <a:noFill/>
          <a:ln/>
        </p:spPr>
        <p:txBody>
          <a:bodyPr wrap="square" lIns="0" tIns="0" rIns="0" bIns="0" rtlCol="0" anchor="ctr"/>
          <a:lstStyle/>
          <a:p>
            <a:pPr algn="ctr" indent="0" marL="0">
              <a:buNone/>
            </a:pPr>
            <a:r>
              <a:rPr lang="en-US" sz="1000" i="1" dirty="0">
                <a:solidFill>
                  <a:srgbClr val="9BA2BA"/>
                </a:solidFill>
                <a:latin typeface="Calibri" pitchFamily="34" charset="0"/>
                <a:ea typeface="Calibri" pitchFamily="34" charset="-122"/>
                <a:cs typeface="Calibri" pitchFamily="34" charset="-120"/>
              </a:rPr>
              <a:t>never improvises</a:t>
            </a:r>
            <a:endParaRPr lang="en-US" sz="1000" dirty="0"/>
          </a:p>
        </p:txBody>
      </p:sp>
      <p:sp>
        <p:nvSpPr>
          <p:cNvPr id="20" name="Shape 17"/>
          <p:cNvSpPr/>
          <p:nvPr/>
        </p:nvSpPr>
        <p:spPr>
          <a:xfrm flipH="1">
            <a:off x="5276088" y="4087368"/>
            <a:ext cx="1639519" cy="0"/>
          </a:xfrm>
          <a:prstGeom prst="line">
            <a:avLst/>
          </a:prstGeom>
          <a:noFill/>
          <a:ln w="20320">
            <a:solidFill>
              <a:srgbClr val="E4DED3"/>
            </a:solidFill>
            <a:prstDash val="solid"/>
            <a:headEnd type="none"/>
            <a:tailEnd type="triangle"/>
          </a:ln>
        </p:spPr>
      </p:sp>
      <p:sp>
        <p:nvSpPr>
          <p:cNvPr id="21" name="Text 18"/>
          <p:cNvSpPr txBox="1"/>
          <p:nvPr/>
        </p:nvSpPr>
        <p:spPr>
          <a:xfrm>
            <a:off x="5074920" y="3557016"/>
            <a:ext cx="2041855" cy="237744"/>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records which skills it used,</a:t>
            </a:r>
            <a:endParaRPr lang="en-US" sz="950" dirty="0"/>
          </a:p>
        </p:txBody>
      </p:sp>
      <p:sp>
        <p:nvSpPr>
          <p:cNvPr id="22" name="Text 19"/>
          <p:cNvSpPr txBox="1"/>
          <p:nvPr/>
        </p:nvSpPr>
        <p:spPr>
          <a:xfrm>
            <a:off x="5074920" y="3776472"/>
            <a:ext cx="2041855" cy="237744"/>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in the handoff envelope</a:t>
            </a:r>
            <a:endParaRPr lang="en-US" sz="950" dirty="0"/>
          </a:p>
        </p:txBody>
      </p:sp>
      <p:sp>
        <p:nvSpPr>
          <p:cNvPr id="23" name="Shape 20"/>
          <p:cNvSpPr/>
          <p:nvPr/>
        </p:nvSpPr>
        <p:spPr>
          <a:xfrm>
            <a:off x="640080" y="5029200"/>
            <a:ext cx="10911535" cy="1097280"/>
          </a:xfrm>
          <a:prstGeom prst="roundRect">
            <a:avLst>
              <a:gd name="adj" fmla="val 5000"/>
            </a:avLst>
          </a:prstGeom>
          <a:solidFill>
            <a:srgbClr val="192954"/>
          </a:solidFill>
          <a:ln w="12700">
            <a:solidFill>
              <a:srgbClr val="192954"/>
            </a:solidFill>
            <a:prstDash val="solid"/>
          </a:ln>
        </p:spPr>
      </p:sp>
      <p:sp>
        <p:nvSpPr>
          <p:cNvPr id="24" name="Text 21"/>
          <p:cNvSpPr txBox="1"/>
          <p:nvPr/>
        </p:nvSpPr>
        <p:spPr>
          <a:xfrm>
            <a:off x="932688" y="5175504"/>
            <a:ext cx="5852160" cy="274320"/>
          </a:xfrm>
          <a:prstGeom prst="rect">
            <a:avLst/>
          </a:prstGeom>
          <a:noFill/>
          <a:ln/>
        </p:spPr>
        <p:txBody>
          <a:bodyPr wrap="square" lIns="0" tIns="0" rIns="0" bIns="0" rtlCol="0" anchor="ctr"/>
          <a:lstStyle/>
          <a:p>
            <a:pPr indent="0" marL="0">
              <a:buNone/>
            </a:pPr>
            <a:r>
              <a:rPr lang="en-US" sz="1200" b="1" dirty="0">
                <a:solidFill>
                  <a:srgbClr val="FAF3E7"/>
                </a:solidFill>
                <a:latin typeface="Calibri" pitchFamily="34" charset="0"/>
                <a:ea typeface="Calibri" pitchFamily="34" charset="-122"/>
                <a:cs typeface="Calibri" pitchFamily="34" charset="-120"/>
              </a:rPr>
              <a:t>Enforced, not aspirational — scripts/lint_separation.py fails the build on:</a:t>
            </a:r>
            <a:endParaRPr lang="en-US" sz="1200" dirty="0"/>
          </a:p>
        </p:txBody>
      </p:sp>
      <p:sp>
        <p:nvSpPr>
          <p:cNvPr id="25" name="Text 22"/>
          <p:cNvSpPr txBox="1"/>
          <p:nvPr/>
        </p:nvSpPr>
        <p:spPr>
          <a:xfrm>
            <a:off x="93268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SEP1</a:t>
            </a:r>
            <a:endParaRPr lang="en-US" sz="1100" dirty="0"/>
          </a:p>
        </p:txBody>
      </p:sp>
      <p:sp>
        <p:nvSpPr>
          <p:cNvPr id="26" name="Text 23"/>
          <p:cNvSpPr txBox="1"/>
          <p:nvPr/>
        </p:nvSpPr>
        <p:spPr>
          <a:xfrm>
            <a:off x="93268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a numbered procedure inside an agent</a:t>
            </a:r>
            <a:endParaRPr lang="en-US" sz="950" dirty="0"/>
          </a:p>
        </p:txBody>
      </p:sp>
      <p:sp>
        <p:nvSpPr>
          <p:cNvPr id="27" name="Text 24"/>
          <p:cNvSpPr txBox="1"/>
          <p:nvPr/>
        </p:nvSpPr>
        <p:spPr>
          <a:xfrm>
            <a:off x="351426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SEP2</a:t>
            </a:r>
            <a:endParaRPr lang="en-US" sz="1100" dirty="0"/>
          </a:p>
        </p:txBody>
      </p:sp>
      <p:sp>
        <p:nvSpPr>
          <p:cNvPr id="28" name="Text 25"/>
          <p:cNvSpPr txBox="1"/>
          <p:nvPr/>
        </p:nvSpPr>
        <p:spPr>
          <a:xfrm>
            <a:off x="351426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a Template or Checklist inside an agent</a:t>
            </a:r>
            <a:endParaRPr lang="en-US" sz="950" dirty="0"/>
          </a:p>
        </p:txBody>
      </p:sp>
      <p:sp>
        <p:nvSpPr>
          <p:cNvPr id="29" name="Text 26"/>
          <p:cNvSpPr txBox="1"/>
          <p:nvPr/>
        </p:nvSpPr>
        <p:spPr>
          <a:xfrm>
            <a:off x="6095848"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SEP3</a:t>
            </a:r>
            <a:endParaRPr lang="en-US" sz="1100" dirty="0"/>
          </a:p>
        </p:txBody>
      </p:sp>
      <p:sp>
        <p:nvSpPr>
          <p:cNvPr id="30" name="Text 27"/>
          <p:cNvSpPr txBox="1"/>
          <p:nvPr/>
        </p:nvSpPr>
        <p:spPr>
          <a:xfrm>
            <a:off x="6095848"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persona voice inside a skill</a:t>
            </a:r>
            <a:endParaRPr lang="en-US" sz="950" dirty="0"/>
          </a:p>
        </p:txBody>
      </p:sp>
      <p:sp>
        <p:nvSpPr>
          <p:cNvPr id="31" name="Text 28"/>
          <p:cNvSpPr txBox="1"/>
          <p:nvPr/>
        </p:nvSpPr>
        <p:spPr>
          <a:xfrm>
            <a:off x="8677427" y="5522976"/>
            <a:ext cx="2398700" cy="219456"/>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SEP4</a:t>
            </a:r>
            <a:endParaRPr lang="en-US" sz="1100" dirty="0"/>
          </a:p>
        </p:txBody>
      </p:sp>
      <p:sp>
        <p:nvSpPr>
          <p:cNvPr id="32" name="Text 29"/>
          <p:cNvSpPr txBox="1"/>
          <p:nvPr/>
        </p:nvSpPr>
        <p:spPr>
          <a:xfrm>
            <a:off x="8677427" y="5742432"/>
            <a:ext cx="2398700" cy="329184"/>
          </a:xfrm>
          <a:prstGeom prst="rect">
            <a:avLst/>
          </a:prstGeom>
          <a:noFill/>
          <a:ln/>
        </p:spPr>
        <p:txBody>
          <a:bodyPr wrap="square" lIns="0" tIns="0" rIns="0" bIns="0" rtlCol="0" anchor="ctr"/>
          <a:lstStyle/>
          <a:p>
            <a:pPr indent="0" marL="0">
              <a:buNone/>
            </a:pPr>
            <a:r>
              <a:rPr lang="en-US" sz="950" dirty="0">
                <a:solidFill>
                  <a:srgbClr val="9BA2BA"/>
                </a:solidFill>
                <a:latin typeface="Calibri" pitchFamily="34" charset="0"/>
                <a:ea typeface="Calibri" pitchFamily="34" charset="-122"/>
                <a:cs typeface="Calibri" pitchFamily="34" charset="-120"/>
              </a:rPr>
              <a:t>first person inside a skill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11 AGENTS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One persona per discipline, plus a delivery lead</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Each carries a mission, a mental model, its escalation triggers, and the phases and gates it owns.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5 / 19</a:t>
            </a:r>
            <a:endParaRPr lang="en-US" sz="850" dirty="0"/>
          </a:p>
        </p:txBody>
      </p:sp>
      <p:sp>
        <p:nvSpPr>
          <p:cNvPr id="7" name="Shape 4"/>
          <p:cNvSpPr/>
          <p:nvPr/>
        </p:nvSpPr>
        <p:spPr>
          <a:xfrm>
            <a:off x="640080" y="1828800"/>
            <a:ext cx="10911535" cy="841248"/>
          </a:xfrm>
          <a:prstGeom prst="roundRect">
            <a:avLst>
              <a:gd name="adj" fmla="val 6522"/>
            </a:avLst>
          </a:prstGeom>
          <a:solidFill>
            <a:srgbClr val="051D60"/>
          </a:solidFill>
          <a:ln w="12700">
            <a:solidFill>
              <a:srgbClr val="051D60"/>
            </a:solidFill>
            <a:prstDash val="solid"/>
          </a:ln>
        </p:spPr>
      </p:sp>
      <p:sp>
        <p:nvSpPr>
          <p:cNvPr id="8" name="Text 5"/>
          <p:cNvSpPr txBox="1"/>
          <p:nvPr/>
        </p:nvSpPr>
        <p:spPr>
          <a:xfrm>
            <a:off x="950976" y="1993392"/>
            <a:ext cx="3566160"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navi-agent-orchestrator</a:t>
            </a:r>
            <a:endParaRPr lang="en-US" sz="1500" dirty="0"/>
          </a:p>
        </p:txBody>
      </p:sp>
      <p:sp>
        <p:nvSpPr>
          <p:cNvPr id="9" name="Text 6"/>
          <p:cNvSpPr txBox="1"/>
          <p:nvPr/>
        </p:nvSpPr>
        <p:spPr>
          <a:xfrm>
            <a:off x="950976" y="2286000"/>
            <a:ext cx="7589520" cy="256032"/>
          </a:xfrm>
          <a:prstGeom prst="rect">
            <a:avLst/>
          </a:prstGeom>
          <a:noFill/>
          <a:ln/>
        </p:spPr>
        <p:txBody>
          <a:bodyPr wrap="square" lIns="0" tIns="0" rIns="0" bIns="0" rtlCol="0" anchor="ctr"/>
          <a:lstStyle/>
          <a:p>
            <a:pPr indent="0" marL="0">
              <a:buNone/>
            </a:pPr>
            <a:r>
              <a:rPr lang="en-US" sz="1100" dirty="0">
                <a:solidFill>
                  <a:srgbClr val="E4DED3"/>
                </a:solidFill>
                <a:latin typeface="Calibri" pitchFamily="34" charset="0"/>
                <a:ea typeface="Calibri" pitchFamily="34" charset="-122"/>
                <a:cs typeface="Calibri" pitchFamily="34" charset="-120"/>
              </a:rPr>
              <a:t>Delivery lead — lane selection, gate enforcement, rework ordering, arbitration between personas</a:t>
            </a:r>
            <a:endParaRPr lang="en-US" sz="1100" dirty="0"/>
          </a:p>
        </p:txBody>
      </p:sp>
      <p:sp>
        <p:nvSpPr>
          <p:cNvPr id="10" name="Text 7"/>
          <p:cNvSpPr txBox="1"/>
          <p:nvPr/>
        </p:nvSpPr>
        <p:spPr>
          <a:xfrm>
            <a:off x="9814255" y="2103120"/>
            <a:ext cx="1426464" cy="274320"/>
          </a:xfrm>
          <a:prstGeom prst="rect">
            <a:avLst/>
          </a:prstGeom>
          <a:noFill/>
          <a:ln/>
        </p:spPr>
        <p:txBody>
          <a:bodyPr wrap="square" lIns="0" tIns="0" rIns="0" bIns="0" rtlCol="0" anchor="ctr"/>
          <a:lstStyle/>
          <a:p>
            <a:pPr algn="r" indent="0" marL="0">
              <a:buNone/>
            </a:pPr>
            <a:r>
              <a:rPr lang="en-US" sz="1300" b="1" dirty="0">
                <a:solidFill>
                  <a:srgbClr val="FAF3E7"/>
                </a:solidFill>
                <a:latin typeface="Mulish" pitchFamily="34" charset="0"/>
                <a:ea typeface="Mulish" pitchFamily="34" charset="-122"/>
                <a:cs typeface="Mulish" pitchFamily="34" charset="-120"/>
              </a:rPr>
              <a:t>Phases 1–9</a:t>
            </a:r>
            <a:endParaRPr lang="en-US" sz="1300" dirty="0"/>
          </a:p>
        </p:txBody>
      </p:sp>
      <p:sp>
        <p:nvSpPr>
          <p:cNvPr id="11" name="Shape 8"/>
          <p:cNvSpPr/>
          <p:nvPr/>
        </p:nvSpPr>
        <p:spPr>
          <a:xfrm>
            <a:off x="640080" y="2852928"/>
            <a:ext cx="2006742" cy="1371600"/>
          </a:xfrm>
          <a:prstGeom prst="roundRect">
            <a:avLst>
              <a:gd name="adj" fmla="val 4000"/>
            </a:avLst>
          </a:prstGeom>
          <a:solidFill>
            <a:srgbClr val="FFFFFF"/>
          </a:solidFill>
          <a:ln w="12700">
            <a:solidFill>
              <a:srgbClr val="CFC7B8"/>
            </a:solidFill>
            <a:prstDash val="solid"/>
          </a:ln>
        </p:spPr>
      </p:sp>
      <p:sp>
        <p:nvSpPr>
          <p:cNvPr id="12" name="Text 9"/>
          <p:cNvSpPr txBox="1"/>
          <p:nvPr/>
        </p:nvSpPr>
        <p:spPr>
          <a:xfrm>
            <a:off x="841248"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Product Owner</a:t>
            </a:r>
            <a:endParaRPr lang="en-US" sz="1250" dirty="0"/>
          </a:p>
        </p:txBody>
      </p:sp>
      <p:sp>
        <p:nvSpPr>
          <p:cNvPr id="13" name="Text 10"/>
          <p:cNvSpPr txBox="1"/>
          <p:nvPr/>
        </p:nvSpPr>
        <p:spPr>
          <a:xfrm>
            <a:off x="841248"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1 · 9</a:t>
            </a:r>
            <a:endParaRPr lang="en-US" sz="850" dirty="0"/>
          </a:p>
        </p:txBody>
      </p:sp>
      <p:sp>
        <p:nvSpPr>
          <p:cNvPr id="14" name="Text 11"/>
          <p:cNvSpPr txBox="1"/>
          <p:nvPr/>
        </p:nvSpPr>
        <p:spPr>
          <a:xfrm>
            <a:off x="841248"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Is it worth making, and did it move the measure?</a:t>
            </a:r>
            <a:endParaRPr lang="en-US" sz="950" dirty="0"/>
          </a:p>
        </p:txBody>
      </p:sp>
      <p:sp>
        <p:nvSpPr>
          <p:cNvPr id="15" name="Shape 12"/>
          <p:cNvSpPr/>
          <p:nvPr/>
        </p:nvSpPr>
        <p:spPr>
          <a:xfrm>
            <a:off x="2866278" y="2852928"/>
            <a:ext cx="2006742" cy="1371600"/>
          </a:xfrm>
          <a:prstGeom prst="roundRect">
            <a:avLst>
              <a:gd name="adj" fmla="val 4000"/>
            </a:avLst>
          </a:prstGeom>
          <a:solidFill>
            <a:srgbClr val="FFFFFF"/>
          </a:solidFill>
          <a:ln w="12700">
            <a:solidFill>
              <a:srgbClr val="CFC7B8"/>
            </a:solidFill>
            <a:prstDash val="solid"/>
          </a:ln>
        </p:spPr>
      </p:sp>
      <p:sp>
        <p:nvSpPr>
          <p:cNvPr id="16" name="Text 13"/>
          <p:cNvSpPr txBox="1"/>
          <p:nvPr/>
        </p:nvSpPr>
        <p:spPr>
          <a:xfrm>
            <a:off x="3067446"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Business Analyst</a:t>
            </a:r>
            <a:endParaRPr lang="en-US" sz="1250" dirty="0"/>
          </a:p>
        </p:txBody>
      </p:sp>
      <p:sp>
        <p:nvSpPr>
          <p:cNvPr id="17" name="Text 14"/>
          <p:cNvSpPr txBox="1"/>
          <p:nvPr/>
        </p:nvSpPr>
        <p:spPr>
          <a:xfrm>
            <a:off x="3067446"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2</a:t>
            </a:r>
            <a:endParaRPr lang="en-US" sz="850" dirty="0"/>
          </a:p>
        </p:txBody>
      </p:sp>
      <p:sp>
        <p:nvSpPr>
          <p:cNvPr id="18" name="Text 15"/>
          <p:cNvSpPr txBox="1"/>
          <p:nvPr/>
        </p:nvSpPr>
        <p:spPr>
          <a:xfrm>
            <a:off x="3067446"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Ambiguity out; testable criteria in.</a:t>
            </a:r>
            <a:endParaRPr lang="en-US" sz="950" dirty="0"/>
          </a:p>
        </p:txBody>
      </p:sp>
      <p:sp>
        <p:nvSpPr>
          <p:cNvPr id="19" name="Shape 16"/>
          <p:cNvSpPr/>
          <p:nvPr/>
        </p:nvSpPr>
        <p:spPr>
          <a:xfrm>
            <a:off x="5092476" y="2852928"/>
            <a:ext cx="2006742" cy="1371600"/>
          </a:xfrm>
          <a:prstGeom prst="roundRect">
            <a:avLst>
              <a:gd name="adj" fmla="val 4000"/>
            </a:avLst>
          </a:prstGeom>
          <a:solidFill>
            <a:srgbClr val="FFFFFF"/>
          </a:solidFill>
          <a:ln w="12700">
            <a:solidFill>
              <a:srgbClr val="CFC7B8"/>
            </a:solidFill>
            <a:prstDash val="solid"/>
          </a:ln>
        </p:spPr>
      </p:sp>
      <p:sp>
        <p:nvSpPr>
          <p:cNvPr id="20" name="Text 17"/>
          <p:cNvSpPr txBox="1"/>
          <p:nvPr/>
        </p:nvSpPr>
        <p:spPr>
          <a:xfrm>
            <a:off x="5293644"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Architect</a:t>
            </a:r>
            <a:endParaRPr lang="en-US" sz="1250" dirty="0"/>
          </a:p>
        </p:txBody>
      </p:sp>
      <p:sp>
        <p:nvSpPr>
          <p:cNvPr id="21" name="Text 18"/>
          <p:cNvSpPr txBox="1"/>
          <p:nvPr/>
        </p:nvSpPr>
        <p:spPr>
          <a:xfrm>
            <a:off x="5293644"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3 · 9</a:t>
            </a:r>
            <a:endParaRPr lang="en-US" sz="850" dirty="0"/>
          </a:p>
        </p:txBody>
      </p:sp>
      <p:sp>
        <p:nvSpPr>
          <p:cNvPr id="22" name="Text 19"/>
          <p:cNvSpPr txBox="1"/>
          <p:nvPr/>
        </p:nvSpPr>
        <p:spPr>
          <a:xfrm>
            <a:off x="5293644"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Boundaries, quality attributes, what debt we accept.</a:t>
            </a:r>
            <a:endParaRPr lang="en-US" sz="950" dirty="0"/>
          </a:p>
        </p:txBody>
      </p:sp>
      <p:sp>
        <p:nvSpPr>
          <p:cNvPr id="23" name="Shape 20"/>
          <p:cNvSpPr/>
          <p:nvPr/>
        </p:nvSpPr>
        <p:spPr>
          <a:xfrm>
            <a:off x="7318675" y="2852928"/>
            <a:ext cx="2006742" cy="1371600"/>
          </a:xfrm>
          <a:prstGeom prst="roundRect">
            <a:avLst>
              <a:gd name="adj" fmla="val 4000"/>
            </a:avLst>
          </a:prstGeom>
          <a:solidFill>
            <a:srgbClr val="FFFFFF"/>
          </a:solidFill>
          <a:ln w="12700">
            <a:solidFill>
              <a:srgbClr val="CFC7B8"/>
            </a:solidFill>
            <a:prstDash val="solid"/>
          </a:ln>
        </p:spPr>
      </p:sp>
      <p:sp>
        <p:nvSpPr>
          <p:cNvPr id="24" name="Text 21"/>
          <p:cNvSpPr txBox="1"/>
          <p:nvPr/>
        </p:nvSpPr>
        <p:spPr>
          <a:xfrm>
            <a:off x="7519843"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Security Engineer</a:t>
            </a:r>
            <a:endParaRPr lang="en-US" sz="1250" dirty="0"/>
          </a:p>
        </p:txBody>
      </p:sp>
      <p:sp>
        <p:nvSpPr>
          <p:cNvPr id="25" name="Text 22"/>
          <p:cNvSpPr txBox="1"/>
          <p:nvPr/>
        </p:nvSpPr>
        <p:spPr>
          <a:xfrm>
            <a:off x="7519843"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3 · 6</a:t>
            </a:r>
            <a:endParaRPr lang="en-US" sz="850" dirty="0"/>
          </a:p>
        </p:txBody>
      </p:sp>
      <p:sp>
        <p:nvSpPr>
          <p:cNvPr id="26" name="Text 23"/>
          <p:cNvSpPr txBox="1"/>
          <p:nvPr/>
        </p:nvSpPr>
        <p:spPr>
          <a:xfrm>
            <a:off x="7519843"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Trust boundaries, threat model, what we can live with.</a:t>
            </a:r>
            <a:endParaRPr lang="en-US" sz="950" dirty="0"/>
          </a:p>
        </p:txBody>
      </p:sp>
      <p:sp>
        <p:nvSpPr>
          <p:cNvPr id="27" name="Shape 24"/>
          <p:cNvSpPr/>
          <p:nvPr/>
        </p:nvSpPr>
        <p:spPr>
          <a:xfrm>
            <a:off x="9544873" y="2852928"/>
            <a:ext cx="2006742" cy="1371600"/>
          </a:xfrm>
          <a:prstGeom prst="roundRect">
            <a:avLst>
              <a:gd name="adj" fmla="val 4000"/>
            </a:avLst>
          </a:prstGeom>
          <a:solidFill>
            <a:srgbClr val="FFFFFF"/>
          </a:solidFill>
          <a:ln w="12700">
            <a:solidFill>
              <a:srgbClr val="CFC7B8"/>
            </a:solidFill>
            <a:prstDash val="solid"/>
          </a:ln>
        </p:spPr>
      </p:sp>
      <p:sp>
        <p:nvSpPr>
          <p:cNvPr id="28" name="Text 25"/>
          <p:cNvSpPr txBox="1"/>
          <p:nvPr/>
        </p:nvSpPr>
        <p:spPr>
          <a:xfrm>
            <a:off x="9746041" y="3035808"/>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Fullstack Developer</a:t>
            </a:r>
            <a:endParaRPr lang="en-US" sz="1250" dirty="0"/>
          </a:p>
        </p:txBody>
      </p:sp>
      <p:sp>
        <p:nvSpPr>
          <p:cNvPr id="29" name="Text 26"/>
          <p:cNvSpPr txBox="1"/>
          <p:nvPr/>
        </p:nvSpPr>
        <p:spPr>
          <a:xfrm>
            <a:off x="9746041" y="3474720"/>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5</a:t>
            </a:r>
            <a:endParaRPr lang="en-US" sz="850" dirty="0"/>
          </a:p>
        </p:txBody>
      </p:sp>
      <p:sp>
        <p:nvSpPr>
          <p:cNvPr id="30" name="Text 27"/>
          <p:cNvSpPr txBox="1"/>
          <p:nvPr/>
        </p:nvSpPr>
        <p:spPr>
          <a:xfrm>
            <a:off x="9746041" y="3694176"/>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Decomposition, contracts, seams, what to refactor.</a:t>
            </a:r>
            <a:endParaRPr lang="en-US" sz="950" dirty="0"/>
          </a:p>
        </p:txBody>
      </p:sp>
      <p:sp>
        <p:nvSpPr>
          <p:cNvPr id="31" name="Shape 28"/>
          <p:cNvSpPr/>
          <p:nvPr/>
        </p:nvSpPr>
        <p:spPr>
          <a:xfrm>
            <a:off x="640080" y="4462272"/>
            <a:ext cx="2006742" cy="1371600"/>
          </a:xfrm>
          <a:prstGeom prst="roundRect">
            <a:avLst>
              <a:gd name="adj" fmla="val 4000"/>
            </a:avLst>
          </a:prstGeom>
          <a:solidFill>
            <a:srgbClr val="FFFFFF"/>
          </a:solidFill>
          <a:ln w="12700">
            <a:solidFill>
              <a:srgbClr val="CFC7B8"/>
            </a:solidFill>
            <a:prstDash val="solid"/>
          </a:ln>
        </p:spPr>
      </p:sp>
      <p:sp>
        <p:nvSpPr>
          <p:cNvPr id="32" name="Text 29"/>
          <p:cNvSpPr txBox="1"/>
          <p:nvPr/>
        </p:nvSpPr>
        <p:spPr>
          <a:xfrm>
            <a:off x="841248"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Data Engineer</a:t>
            </a:r>
            <a:endParaRPr lang="en-US" sz="1250" dirty="0"/>
          </a:p>
        </p:txBody>
      </p:sp>
      <p:sp>
        <p:nvSpPr>
          <p:cNvPr id="33" name="Text 30"/>
          <p:cNvSpPr txBox="1"/>
          <p:nvPr/>
        </p:nvSpPr>
        <p:spPr>
          <a:xfrm>
            <a:off x="841248"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4 · 5</a:t>
            </a:r>
            <a:endParaRPr lang="en-US" sz="850" dirty="0"/>
          </a:p>
        </p:txBody>
      </p:sp>
      <p:sp>
        <p:nvSpPr>
          <p:cNvPr id="34" name="Text 31"/>
          <p:cNvSpPr txBox="1"/>
          <p:nvPr/>
        </p:nvSpPr>
        <p:spPr>
          <a:xfrm>
            <a:off x="841248"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Lineage, schema evolution, idempotency, contracts.</a:t>
            </a:r>
            <a:endParaRPr lang="en-US" sz="950" dirty="0"/>
          </a:p>
        </p:txBody>
      </p:sp>
      <p:sp>
        <p:nvSpPr>
          <p:cNvPr id="35" name="Shape 32"/>
          <p:cNvSpPr/>
          <p:nvPr/>
        </p:nvSpPr>
        <p:spPr>
          <a:xfrm>
            <a:off x="2866278" y="4462272"/>
            <a:ext cx="2006742" cy="1371600"/>
          </a:xfrm>
          <a:prstGeom prst="roundRect">
            <a:avLst>
              <a:gd name="adj" fmla="val 4000"/>
            </a:avLst>
          </a:prstGeom>
          <a:solidFill>
            <a:srgbClr val="FFFFFF"/>
          </a:solidFill>
          <a:ln w="12700">
            <a:solidFill>
              <a:srgbClr val="CFC7B8"/>
            </a:solidFill>
            <a:prstDash val="solid"/>
          </a:ln>
        </p:spPr>
      </p:sp>
      <p:sp>
        <p:nvSpPr>
          <p:cNvPr id="36" name="Text 33"/>
          <p:cNvSpPr txBox="1"/>
          <p:nvPr/>
        </p:nvSpPr>
        <p:spPr>
          <a:xfrm>
            <a:off x="3067446"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ML Engineer</a:t>
            </a:r>
            <a:endParaRPr lang="en-US" sz="1250" dirty="0"/>
          </a:p>
        </p:txBody>
      </p:sp>
      <p:sp>
        <p:nvSpPr>
          <p:cNvPr id="37" name="Text 34"/>
          <p:cNvSpPr txBox="1"/>
          <p:nvPr/>
        </p:nvSpPr>
        <p:spPr>
          <a:xfrm>
            <a:off x="3067446"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4 · 5</a:t>
            </a:r>
            <a:endParaRPr lang="en-US" sz="850" dirty="0"/>
          </a:p>
        </p:txBody>
      </p:sp>
      <p:sp>
        <p:nvSpPr>
          <p:cNvPr id="38" name="Text 35"/>
          <p:cNvSpPr txBox="1"/>
          <p:nvPr/>
        </p:nvSpPr>
        <p:spPr>
          <a:xfrm>
            <a:off x="3067446"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Is ML warranted? Baseline, leakage, where it fails.</a:t>
            </a:r>
            <a:endParaRPr lang="en-US" sz="950" dirty="0"/>
          </a:p>
        </p:txBody>
      </p:sp>
      <p:sp>
        <p:nvSpPr>
          <p:cNvPr id="39" name="Shape 36"/>
          <p:cNvSpPr/>
          <p:nvPr/>
        </p:nvSpPr>
        <p:spPr>
          <a:xfrm>
            <a:off x="5092476" y="4462272"/>
            <a:ext cx="2006742" cy="1371600"/>
          </a:xfrm>
          <a:prstGeom prst="roundRect">
            <a:avLst>
              <a:gd name="adj" fmla="val 4000"/>
            </a:avLst>
          </a:prstGeom>
          <a:solidFill>
            <a:srgbClr val="FFFFFF"/>
          </a:solidFill>
          <a:ln w="12700">
            <a:solidFill>
              <a:srgbClr val="CFC7B8"/>
            </a:solidFill>
            <a:prstDash val="solid"/>
          </a:ln>
        </p:spPr>
      </p:sp>
      <p:sp>
        <p:nvSpPr>
          <p:cNvPr id="40" name="Text 37"/>
          <p:cNvSpPr txBox="1"/>
          <p:nvPr/>
        </p:nvSpPr>
        <p:spPr>
          <a:xfrm>
            <a:off x="5293644"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MLOps Engineer</a:t>
            </a:r>
            <a:endParaRPr lang="en-US" sz="1250" dirty="0"/>
          </a:p>
        </p:txBody>
      </p:sp>
      <p:sp>
        <p:nvSpPr>
          <p:cNvPr id="41" name="Text 38"/>
          <p:cNvSpPr txBox="1"/>
          <p:nvPr/>
        </p:nvSpPr>
        <p:spPr>
          <a:xfrm>
            <a:off x="5293644"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7 · 8</a:t>
            </a:r>
            <a:endParaRPr lang="en-US" sz="850" dirty="0"/>
          </a:p>
        </p:txBody>
      </p:sp>
      <p:sp>
        <p:nvSpPr>
          <p:cNvPr id="42" name="Text 39"/>
          <p:cNvSpPr txBox="1"/>
          <p:nvPr/>
        </p:nvSpPr>
        <p:spPr>
          <a:xfrm>
            <a:off x="5293644"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Promotion criteria, drift and decay, model rollback.</a:t>
            </a:r>
            <a:endParaRPr lang="en-US" sz="950" dirty="0"/>
          </a:p>
        </p:txBody>
      </p:sp>
      <p:sp>
        <p:nvSpPr>
          <p:cNvPr id="43" name="Shape 40"/>
          <p:cNvSpPr/>
          <p:nvPr/>
        </p:nvSpPr>
        <p:spPr>
          <a:xfrm>
            <a:off x="7318675" y="4462272"/>
            <a:ext cx="2006742" cy="1371600"/>
          </a:xfrm>
          <a:prstGeom prst="roundRect">
            <a:avLst>
              <a:gd name="adj" fmla="val 4000"/>
            </a:avLst>
          </a:prstGeom>
          <a:solidFill>
            <a:srgbClr val="FFFFFF"/>
          </a:solidFill>
          <a:ln w="12700">
            <a:solidFill>
              <a:srgbClr val="CFC7B8"/>
            </a:solidFill>
            <a:prstDash val="solid"/>
          </a:ln>
        </p:spPr>
      </p:sp>
      <p:sp>
        <p:nvSpPr>
          <p:cNvPr id="44" name="Text 41"/>
          <p:cNvSpPr txBox="1"/>
          <p:nvPr/>
        </p:nvSpPr>
        <p:spPr>
          <a:xfrm>
            <a:off x="7519843"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DevOps Engineer</a:t>
            </a:r>
            <a:endParaRPr lang="en-US" sz="1250" dirty="0"/>
          </a:p>
        </p:txBody>
      </p:sp>
      <p:sp>
        <p:nvSpPr>
          <p:cNvPr id="45" name="Text 42"/>
          <p:cNvSpPr txBox="1"/>
          <p:nvPr/>
        </p:nvSpPr>
        <p:spPr>
          <a:xfrm>
            <a:off x="7519843"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7 · 8</a:t>
            </a:r>
            <a:endParaRPr lang="en-US" sz="850" dirty="0"/>
          </a:p>
        </p:txBody>
      </p:sp>
      <p:sp>
        <p:nvSpPr>
          <p:cNvPr id="46" name="Text 43"/>
          <p:cNvSpPr txBox="1"/>
          <p:nvPr/>
        </p:nvSpPr>
        <p:spPr>
          <a:xfrm>
            <a:off x="7519843"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Blast radius, environment parity, SLOs, secrets.</a:t>
            </a:r>
            <a:endParaRPr lang="en-US" sz="950" dirty="0"/>
          </a:p>
        </p:txBody>
      </p:sp>
      <p:sp>
        <p:nvSpPr>
          <p:cNvPr id="47" name="Shape 44"/>
          <p:cNvSpPr/>
          <p:nvPr/>
        </p:nvSpPr>
        <p:spPr>
          <a:xfrm>
            <a:off x="9544873" y="4462272"/>
            <a:ext cx="2006742" cy="1371600"/>
          </a:xfrm>
          <a:prstGeom prst="roundRect">
            <a:avLst>
              <a:gd name="adj" fmla="val 4000"/>
            </a:avLst>
          </a:prstGeom>
          <a:solidFill>
            <a:srgbClr val="FFFFFF"/>
          </a:solidFill>
          <a:ln w="12700">
            <a:solidFill>
              <a:srgbClr val="CFC7B8"/>
            </a:solidFill>
            <a:prstDash val="solid"/>
          </a:ln>
        </p:spPr>
      </p:sp>
      <p:sp>
        <p:nvSpPr>
          <p:cNvPr id="48" name="Text 45"/>
          <p:cNvSpPr txBox="1"/>
          <p:nvPr/>
        </p:nvSpPr>
        <p:spPr>
          <a:xfrm>
            <a:off x="9746041" y="4645152"/>
            <a:ext cx="1604406" cy="457200"/>
          </a:xfrm>
          <a:prstGeom prst="rect">
            <a:avLst/>
          </a:prstGeom>
          <a:noFill/>
          <a:ln/>
        </p:spPr>
        <p:txBody>
          <a:bodyPr wrap="square" lIns="0" tIns="0" rIns="0" bIns="0" rtlCol="0" anchor="t"/>
          <a:lstStyle/>
          <a:p>
            <a:pPr indent="0" marL="0">
              <a:buNone/>
            </a:pPr>
            <a:r>
              <a:rPr lang="en-US" sz="1250" b="1" dirty="0">
                <a:solidFill>
                  <a:srgbClr val="051D60"/>
                </a:solidFill>
                <a:latin typeface="Mulish" pitchFamily="34" charset="0"/>
                <a:ea typeface="Mulish" pitchFamily="34" charset="-122"/>
                <a:cs typeface="Mulish" pitchFamily="34" charset="-120"/>
              </a:rPr>
              <a:t>QA Engineer</a:t>
            </a:r>
            <a:endParaRPr lang="en-US" sz="1250" dirty="0"/>
          </a:p>
        </p:txBody>
      </p:sp>
      <p:sp>
        <p:nvSpPr>
          <p:cNvPr id="49" name="Text 46"/>
          <p:cNvSpPr txBox="1"/>
          <p:nvPr/>
        </p:nvSpPr>
        <p:spPr>
          <a:xfrm>
            <a:off x="9746041" y="5084064"/>
            <a:ext cx="1604406" cy="182880"/>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PHASE 6</a:t>
            </a:r>
            <a:endParaRPr lang="en-US" sz="850" dirty="0"/>
          </a:p>
        </p:txBody>
      </p:sp>
      <p:sp>
        <p:nvSpPr>
          <p:cNvPr id="50" name="Text 47"/>
          <p:cNvSpPr txBox="1"/>
          <p:nvPr/>
        </p:nvSpPr>
        <p:spPr>
          <a:xfrm>
            <a:off x="9746041" y="5303520"/>
            <a:ext cx="1604406" cy="438912"/>
          </a:xfrm>
          <a:prstGeom prst="rect">
            <a:avLst/>
          </a:prstGeom>
          <a:noFill/>
          <a:ln/>
        </p:spPr>
        <p:txBody>
          <a:bodyPr wrap="square" lIns="0" tIns="0" rIns="0" bIns="0" rtlCol="0" anchor="ctr"/>
          <a:lstStyle/>
          <a:p>
            <a:pPr indent="0" marL="0">
              <a:lnSpc>
                <a:spcPct val="110000"/>
              </a:lnSpc>
              <a:buNone/>
            </a:pPr>
            <a:r>
              <a:rPr lang="en-US" sz="950" dirty="0">
                <a:solidFill>
                  <a:srgbClr val="5F6476"/>
                </a:solidFill>
                <a:latin typeface="Calibri" pitchFamily="34" charset="0"/>
                <a:ea typeface="Calibri" pitchFamily="34" charset="-122"/>
                <a:cs typeface="Calibri" pitchFamily="34" charset="-120"/>
              </a:rPr>
              <a:t>Risk-based coverage, flakiness, the release call.</a:t>
            </a:r>
            <a:endParaRPr lang="en-US" sz="950" dirty="0"/>
          </a:p>
        </p:txBody>
      </p:sp>
      <p:sp>
        <p:nvSpPr>
          <p:cNvPr id="51" name="Text 48"/>
          <p:cNvSpPr txBox="1"/>
          <p:nvPr/>
        </p:nvSpPr>
        <p:spPr>
          <a:xfrm>
            <a:off x="640080" y="6053328"/>
            <a:ext cx="10911535" cy="274320"/>
          </a:xfrm>
          <a:prstGeom prst="rect">
            <a:avLst/>
          </a:prstGeom>
          <a:noFill/>
          <a:ln/>
        </p:spPr>
        <p:txBody>
          <a:bodyPr wrap="square" lIns="0" tIns="0" rIns="0" bIns="0" rtlCol="0" anchor="ctr"/>
          <a:lstStyle/>
          <a:p>
            <a:pPr indent="0" marL="0">
              <a:buNone/>
            </a:pPr>
            <a:r>
              <a:rPr lang="en-US" sz="1100" i="1" dirty="0">
                <a:solidFill>
                  <a:srgbClr val="5F6476"/>
                </a:solidFill>
                <a:latin typeface="Calibri" pitchFamily="34" charset="0"/>
                <a:ea typeface="Calibri" pitchFamily="34" charset="-122"/>
                <a:cs typeface="Calibri" pitchFamily="34" charset="-120"/>
              </a:rPr>
              <a:t>Every agent declares the skills it may invoke, and validate_manifests.py refuses a name that does not resolve.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50 SKILLS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13 disciplines, and every skill the same shape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 skill is not prose. It is a standard, a decision table, a template you can copy, a checklist, named anti-patterns, and a check a machine can run.</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6 / 19</a:t>
            </a:r>
            <a:endParaRPr lang="en-US" sz="850" dirty="0"/>
          </a:p>
        </p:txBody>
      </p:sp>
      <p:sp>
        <p:nvSpPr>
          <p:cNvPr id="7" name="Text 4"/>
          <p:cNvSpPr txBox="1"/>
          <p:nvPr/>
        </p:nvSpPr>
        <p:spPr>
          <a:xfrm>
            <a:off x="640080" y="190195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platform-devops</a:t>
            </a:r>
            <a:endParaRPr lang="en-US" sz="1150" dirty="0"/>
          </a:p>
        </p:txBody>
      </p:sp>
      <p:sp>
        <p:nvSpPr>
          <p:cNvPr id="8" name="Shape 5"/>
          <p:cNvSpPr/>
          <p:nvPr/>
        </p:nvSpPr>
        <p:spPr>
          <a:xfrm>
            <a:off x="3063240" y="1947672"/>
            <a:ext cx="2346808" cy="201168"/>
          </a:xfrm>
          <a:prstGeom prst="roundRect">
            <a:avLst>
              <a:gd name="adj" fmla="val 18182"/>
            </a:avLst>
          </a:prstGeom>
          <a:solidFill>
            <a:srgbClr val="E4DED3"/>
          </a:solidFill>
          <a:ln w="12700">
            <a:solidFill>
              <a:srgbClr val="E4DED3"/>
            </a:solidFill>
            <a:prstDash val="solid"/>
          </a:ln>
        </p:spPr>
      </p:sp>
      <p:sp>
        <p:nvSpPr>
          <p:cNvPr id="9" name="Shape 6"/>
          <p:cNvSpPr/>
          <p:nvPr/>
        </p:nvSpPr>
        <p:spPr>
          <a:xfrm>
            <a:off x="3063240" y="1947672"/>
            <a:ext cx="2346808" cy="201168"/>
          </a:xfrm>
          <a:prstGeom prst="roundRect">
            <a:avLst>
              <a:gd name="adj" fmla="val 18182"/>
            </a:avLst>
          </a:prstGeom>
          <a:solidFill>
            <a:srgbClr val="051D60"/>
          </a:solidFill>
          <a:ln w="12700">
            <a:solidFill>
              <a:srgbClr val="051D60"/>
            </a:solidFill>
            <a:prstDash val="solid"/>
          </a:ln>
        </p:spPr>
      </p:sp>
      <p:sp>
        <p:nvSpPr>
          <p:cNvPr id="10" name="Text 7"/>
          <p:cNvSpPr txBox="1"/>
          <p:nvPr/>
        </p:nvSpPr>
        <p:spPr>
          <a:xfrm>
            <a:off x="5519776" y="190195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9</a:t>
            </a:r>
            <a:endParaRPr lang="en-US" sz="1150" dirty="0"/>
          </a:p>
        </p:txBody>
      </p:sp>
      <p:sp>
        <p:nvSpPr>
          <p:cNvPr id="11" name="Text 8"/>
          <p:cNvSpPr txBox="1"/>
          <p:nvPr/>
        </p:nvSpPr>
        <p:spPr>
          <a:xfrm>
            <a:off x="640080" y="230428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software-development</a:t>
            </a:r>
            <a:endParaRPr lang="en-US" sz="1150" dirty="0"/>
          </a:p>
        </p:txBody>
      </p:sp>
      <p:sp>
        <p:nvSpPr>
          <p:cNvPr id="12" name="Shape 9"/>
          <p:cNvSpPr/>
          <p:nvPr/>
        </p:nvSpPr>
        <p:spPr>
          <a:xfrm>
            <a:off x="3063240" y="2350008"/>
            <a:ext cx="2346808" cy="201168"/>
          </a:xfrm>
          <a:prstGeom prst="roundRect">
            <a:avLst>
              <a:gd name="adj" fmla="val 18182"/>
            </a:avLst>
          </a:prstGeom>
          <a:solidFill>
            <a:srgbClr val="E4DED3"/>
          </a:solidFill>
          <a:ln w="12700">
            <a:solidFill>
              <a:srgbClr val="E4DED3"/>
            </a:solidFill>
            <a:prstDash val="solid"/>
          </a:ln>
        </p:spPr>
      </p:sp>
      <p:sp>
        <p:nvSpPr>
          <p:cNvPr id="13" name="Shape 10"/>
          <p:cNvSpPr/>
          <p:nvPr/>
        </p:nvSpPr>
        <p:spPr>
          <a:xfrm>
            <a:off x="3063240" y="2350008"/>
            <a:ext cx="2346808" cy="201168"/>
          </a:xfrm>
          <a:prstGeom prst="roundRect">
            <a:avLst>
              <a:gd name="adj" fmla="val 18182"/>
            </a:avLst>
          </a:prstGeom>
          <a:solidFill>
            <a:srgbClr val="051D60"/>
          </a:solidFill>
          <a:ln w="12700">
            <a:solidFill>
              <a:srgbClr val="051D60"/>
            </a:solidFill>
            <a:prstDash val="solid"/>
          </a:ln>
        </p:spPr>
      </p:sp>
      <p:sp>
        <p:nvSpPr>
          <p:cNvPr id="14" name="Text 11"/>
          <p:cNvSpPr txBox="1"/>
          <p:nvPr/>
        </p:nvSpPr>
        <p:spPr>
          <a:xfrm>
            <a:off x="5519776" y="230428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9</a:t>
            </a:r>
            <a:endParaRPr lang="en-US" sz="1150" dirty="0"/>
          </a:p>
        </p:txBody>
      </p:sp>
      <p:sp>
        <p:nvSpPr>
          <p:cNvPr id="15" name="Text 12"/>
          <p:cNvSpPr txBox="1"/>
          <p:nvPr/>
        </p:nvSpPr>
        <p:spPr>
          <a:xfrm>
            <a:off x="640080" y="2706624"/>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lifecycle-method</a:t>
            </a:r>
            <a:endParaRPr lang="en-US" sz="1150" dirty="0"/>
          </a:p>
        </p:txBody>
      </p:sp>
      <p:sp>
        <p:nvSpPr>
          <p:cNvPr id="16" name="Shape 13"/>
          <p:cNvSpPr/>
          <p:nvPr/>
        </p:nvSpPr>
        <p:spPr>
          <a:xfrm>
            <a:off x="3063240" y="2752344"/>
            <a:ext cx="2346808" cy="201168"/>
          </a:xfrm>
          <a:prstGeom prst="roundRect">
            <a:avLst>
              <a:gd name="adj" fmla="val 18182"/>
            </a:avLst>
          </a:prstGeom>
          <a:solidFill>
            <a:srgbClr val="E4DED3"/>
          </a:solidFill>
          <a:ln w="12700">
            <a:solidFill>
              <a:srgbClr val="E4DED3"/>
            </a:solidFill>
            <a:prstDash val="solid"/>
          </a:ln>
        </p:spPr>
      </p:sp>
      <p:sp>
        <p:nvSpPr>
          <p:cNvPr id="17" name="Shape 14"/>
          <p:cNvSpPr/>
          <p:nvPr/>
        </p:nvSpPr>
        <p:spPr>
          <a:xfrm>
            <a:off x="3063240" y="2752344"/>
            <a:ext cx="1564538" cy="201168"/>
          </a:xfrm>
          <a:prstGeom prst="roundRect">
            <a:avLst>
              <a:gd name="adj" fmla="val 18182"/>
            </a:avLst>
          </a:prstGeom>
          <a:solidFill>
            <a:srgbClr val="051D60"/>
          </a:solidFill>
          <a:ln w="12700">
            <a:solidFill>
              <a:srgbClr val="051D60"/>
            </a:solidFill>
            <a:prstDash val="solid"/>
          </a:ln>
        </p:spPr>
      </p:sp>
      <p:sp>
        <p:nvSpPr>
          <p:cNvPr id="18" name="Text 15"/>
          <p:cNvSpPr txBox="1"/>
          <p:nvPr/>
        </p:nvSpPr>
        <p:spPr>
          <a:xfrm>
            <a:off x="5519776" y="2706624"/>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6</a:t>
            </a:r>
            <a:endParaRPr lang="en-US" sz="1150" dirty="0"/>
          </a:p>
        </p:txBody>
      </p:sp>
      <p:sp>
        <p:nvSpPr>
          <p:cNvPr id="19" name="Text 16"/>
          <p:cNvSpPr txBox="1"/>
          <p:nvPr/>
        </p:nvSpPr>
        <p:spPr>
          <a:xfrm>
            <a:off x="640080" y="3108960"/>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architecture</a:t>
            </a:r>
            <a:endParaRPr lang="en-US" sz="1150" dirty="0"/>
          </a:p>
        </p:txBody>
      </p:sp>
      <p:sp>
        <p:nvSpPr>
          <p:cNvPr id="20" name="Shape 17"/>
          <p:cNvSpPr/>
          <p:nvPr/>
        </p:nvSpPr>
        <p:spPr>
          <a:xfrm>
            <a:off x="3063240" y="3154680"/>
            <a:ext cx="2346808" cy="201168"/>
          </a:xfrm>
          <a:prstGeom prst="roundRect">
            <a:avLst>
              <a:gd name="adj" fmla="val 18182"/>
            </a:avLst>
          </a:prstGeom>
          <a:solidFill>
            <a:srgbClr val="E4DED3"/>
          </a:solidFill>
          <a:ln w="12700">
            <a:solidFill>
              <a:srgbClr val="E4DED3"/>
            </a:solidFill>
            <a:prstDash val="solid"/>
          </a:ln>
        </p:spPr>
      </p:sp>
      <p:sp>
        <p:nvSpPr>
          <p:cNvPr id="21" name="Shape 18"/>
          <p:cNvSpPr/>
          <p:nvPr/>
        </p:nvSpPr>
        <p:spPr>
          <a:xfrm>
            <a:off x="3063240" y="3154680"/>
            <a:ext cx="1043026" cy="201168"/>
          </a:xfrm>
          <a:prstGeom prst="roundRect">
            <a:avLst>
              <a:gd name="adj" fmla="val 18182"/>
            </a:avLst>
          </a:prstGeom>
          <a:solidFill>
            <a:srgbClr val="051D60"/>
          </a:solidFill>
          <a:ln w="12700">
            <a:solidFill>
              <a:srgbClr val="051D60"/>
            </a:solidFill>
            <a:prstDash val="solid"/>
          </a:ln>
        </p:spPr>
      </p:sp>
      <p:sp>
        <p:nvSpPr>
          <p:cNvPr id="22" name="Text 19"/>
          <p:cNvSpPr txBox="1"/>
          <p:nvPr/>
        </p:nvSpPr>
        <p:spPr>
          <a:xfrm>
            <a:off x="5519776" y="3108960"/>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4</a:t>
            </a:r>
            <a:endParaRPr lang="en-US" sz="1150" dirty="0"/>
          </a:p>
        </p:txBody>
      </p:sp>
      <p:sp>
        <p:nvSpPr>
          <p:cNvPr id="23" name="Text 20"/>
          <p:cNvSpPr txBox="1"/>
          <p:nvPr/>
        </p:nvSpPr>
        <p:spPr>
          <a:xfrm>
            <a:off x="640080" y="3511296"/>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spec-driven-development</a:t>
            </a:r>
            <a:endParaRPr lang="en-US" sz="1150" dirty="0"/>
          </a:p>
        </p:txBody>
      </p:sp>
      <p:sp>
        <p:nvSpPr>
          <p:cNvPr id="24" name="Shape 21"/>
          <p:cNvSpPr/>
          <p:nvPr/>
        </p:nvSpPr>
        <p:spPr>
          <a:xfrm>
            <a:off x="3063240" y="3557016"/>
            <a:ext cx="2346808" cy="201168"/>
          </a:xfrm>
          <a:prstGeom prst="roundRect">
            <a:avLst>
              <a:gd name="adj" fmla="val 18182"/>
            </a:avLst>
          </a:prstGeom>
          <a:solidFill>
            <a:srgbClr val="E4DED3"/>
          </a:solidFill>
          <a:ln w="12700">
            <a:solidFill>
              <a:srgbClr val="E4DED3"/>
            </a:solidFill>
            <a:prstDash val="solid"/>
          </a:ln>
        </p:spPr>
      </p:sp>
      <p:sp>
        <p:nvSpPr>
          <p:cNvPr id="25" name="Shape 22"/>
          <p:cNvSpPr/>
          <p:nvPr/>
        </p:nvSpPr>
        <p:spPr>
          <a:xfrm>
            <a:off x="3063240" y="3557016"/>
            <a:ext cx="1043026" cy="201168"/>
          </a:xfrm>
          <a:prstGeom prst="roundRect">
            <a:avLst>
              <a:gd name="adj" fmla="val 18182"/>
            </a:avLst>
          </a:prstGeom>
          <a:solidFill>
            <a:srgbClr val="051D60"/>
          </a:solidFill>
          <a:ln w="12700">
            <a:solidFill>
              <a:srgbClr val="051D60"/>
            </a:solidFill>
            <a:prstDash val="solid"/>
          </a:ln>
        </p:spPr>
      </p:sp>
      <p:sp>
        <p:nvSpPr>
          <p:cNvPr id="26" name="Text 23"/>
          <p:cNvSpPr txBox="1"/>
          <p:nvPr/>
        </p:nvSpPr>
        <p:spPr>
          <a:xfrm>
            <a:off x="5519776" y="3511296"/>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4</a:t>
            </a:r>
            <a:endParaRPr lang="en-US" sz="1150" dirty="0"/>
          </a:p>
        </p:txBody>
      </p:sp>
      <p:sp>
        <p:nvSpPr>
          <p:cNvPr id="27" name="Text 24"/>
          <p:cNvSpPr txBox="1"/>
          <p:nvPr/>
        </p:nvSpPr>
        <p:spPr>
          <a:xfrm>
            <a:off x="640080" y="391363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data-engineering</a:t>
            </a:r>
            <a:endParaRPr lang="en-US" sz="1150" dirty="0"/>
          </a:p>
        </p:txBody>
      </p:sp>
      <p:sp>
        <p:nvSpPr>
          <p:cNvPr id="28" name="Shape 25"/>
          <p:cNvSpPr/>
          <p:nvPr/>
        </p:nvSpPr>
        <p:spPr>
          <a:xfrm>
            <a:off x="3063240" y="3959352"/>
            <a:ext cx="2346808" cy="201168"/>
          </a:xfrm>
          <a:prstGeom prst="roundRect">
            <a:avLst>
              <a:gd name="adj" fmla="val 18182"/>
            </a:avLst>
          </a:prstGeom>
          <a:solidFill>
            <a:srgbClr val="E4DED3"/>
          </a:solidFill>
          <a:ln w="12700">
            <a:solidFill>
              <a:srgbClr val="E4DED3"/>
            </a:solidFill>
            <a:prstDash val="solid"/>
          </a:ln>
        </p:spPr>
      </p:sp>
      <p:sp>
        <p:nvSpPr>
          <p:cNvPr id="29" name="Shape 26"/>
          <p:cNvSpPr/>
          <p:nvPr/>
        </p:nvSpPr>
        <p:spPr>
          <a:xfrm>
            <a:off x="3063240" y="3959352"/>
            <a:ext cx="782269" cy="201168"/>
          </a:xfrm>
          <a:prstGeom prst="roundRect">
            <a:avLst>
              <a:gd name="adj" fmla="val 18182"/>
            </a:avLst>
          </a:prstGeom>
          <a:solidFill>
            <a:srgbClr val="051D60"/>
          </a:solidFill>
          <a:ln w="12700">
            <a:solidFill>
              <a:srgbClr val="051D60"/>
            </a:solidFill>
            <a:prstDash val="solid"/>
          </a:ln>
        </p:spPr>
      </p:sp>
      <p:sp>
        <p:nvSpPr>
          <p:cNvPr id="30" name="Text 27"/>
          <p:cNvSpPr txBox="1"/>
          <p:nvPr/>
        </p:nvSpPr>
        <p:spPr>
          <a:xfrm>
            <a:off x="5519776" y="391363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1" name="Text 28"/>
          <p:cNvSpPr txBox="1"/>
          <p:nvPr/>
        </p:nvSpPr>
        <p:spPr>
          <a:xfrm>
            <a:off x="640080" y="431596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machine-learning</a:t>
            </a:r>
            <a:endParaRPr lang="en-US" sz="1150" dirty="0"/>
          </a:p>
        </p:txBody>
      </p:sp>
      <p:sp>
        <p:nvSpPr>
          <p:cNvPr id="32" name="Shape 29"/>
          <p:cNvSpPr/>
          <p:nvPr/>
        </p:nvSpPr>
        <p:spPr>
          <a:xfrm>
            <a:off x="3063240" y="4361688"/>
            <a:ext cx="2346808" cy="201168"/>
          </a:xfrm>
          <a:prstGeom prst="roundRect">
            <a:avLst>
              <a:gd name="adj" fmla="val 18182"/>
            </a:avLst>
          </a:prstGeom>
          <a:solidFill>
            <a:srgbClr val="E4DED3"/>
          </a:solidFill>
          <a:ln w="12700">
            <a:solidFill>
              <a:srgbClr val="E4DED3"/>
            </a:solidFill>
            <a:prstDash val="solid"/>
          </a:ln>
        </p:spPr>
      </p:sp>
      <p:sp>
        <p:nvSpPr>
          <p:cNvPr id="33" name="Shape 30"/>
          <p:cNvSpPr/>
          <p:nvPr/>
        </p:nvSpPr>
        <p:spPr>
          <a:xfrm>
            <a:off x="3063240" y="4361688"/>
            <a:ext cx="782269" cy="201168"/>
          </a:xfrm>
          <a:prstGeom prst="roundRect">
            <a:avLst>
              <a:gd name="adj" fmla="val 18182"/>
            </a:avLst>
          </a:prstGeom>
          <a:solidFill>
            <a:srgbClr val="051D60"/>
          </a:solidFill>
          <a:ln w="12700">
            <a:solidFill>
              <a:srgbClr val="051D60"/>
            </a:solidFill>
            <a:prstDash val="solid"/>
          </a:ln>
        </p:spPr>
      </p:sp>
      <p:sp>
        <p:nvSpPr>
          <p:cNvPr id="34" name="Text 31"/>
          <p:cNvSpPr txBox="1"/>
          <p:nvPr/>
        </p:nvSpPr>
        <p:spPr>
          <a:xfrm>
            <a:off x="5519776" y="431596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5" name="Text 32"/>
          <p:cNvSpPr txBox="1"/>
          <p:nvPr/>
        </p:nvSpPr>
        <p:spPr>
          <a:xfrm>
            <a:off x="6324448" y="190195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quality-engineering</a:t>
            </a:r>
            <a:endParaRPr lang="en-US" sz="1150" dirty="0"/>
          </a:p>
        </p:txBody>
      </p:sp>
      <p:sp>
        <p:nvSpPr>
          <p:cNvPr id="36" name="Shape 33"/>
          <p:cNvSpPr/>
          <p:nvPr/>
        </p:nvSpPr>
        <p:spPr>
          <a:xfrm>
            <a:off x="8747608" y="1947672"/>
            <a:ext cx="2346808" cy="201168"/>
          </a:xfrm>
          <a:prstGeom prst="roundRect">
            <a:avLst>
              <a:gd name="adj" fmla="val 18182"/>
            </a:avLst>
          </a:prstGeom>
          <a:solidFill>
            <a:srgbClr val="E4DED3"/>
          </a:solidFill>
          <a:ln w="12700">
            <a:solidFill>
              <a:srgbClr val="E4DED3"/>
            </a:solidFill>
            <a:prstDash val="solid"/>
          </a:ln>
        </p:spPr>
      </p:sp>
      <p:sp>
        <p:nvSpPr>
          <p:cNvPr id="37" name="Shape 34"/>
          <p:cNvSpPr/>
          <p:nvPr/>
        </p:nvSpPr>
        <p:spPr>
          <a:xfrm>
            <a:off x="8747608" y="1947672"/>
            <a:ext cx="782269" cy="201168"/>
          </a:xfrm>
          <a:prstGeom prst="roundRect">
            <a:avLst>
              <a:gd name="adj" fmla="val 18182"/>
            </a:avLst>
          </a:prstGeom>
          <a:solidFill>
            <a:srgbClr val="051D60"/>
          </a:solidFill>
          <a:ln w="12700">
            <a:solidFill>
              <a:srgbClr val="051D60"/>
            </a:solidFill>
            <a:prstDash val="solid"/>
          </a:ln>
        </p:spPr>
      </p:sp>
      <p:sp>
        <p:nvSpPr>
          <p:cNvPr id="38" name="Text 35"/>
          <p:cNvSpPr txBox="1"/>
          <p:nvPr/>
        </p:nvSpPr>
        <p:spPr>
          <a:xfrm>
            <a:off x="11204143" y="190195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3</a:t>
            </a:r>
            <a:endParaRPr lang="en-US" sz="1150" dirty="0"/>
          </a:p>
        </p:txBody>
      </p:sp>
      <p:sp>
        <p:nvSpPr>
          <p:cNvPr id="39" name="Text 36"/>
          <p:cNvSpPr txBox="1"/>
          <p:nvPr/>
        </p:nvSpPr>
        <p:spPr>
          <a:xfrm>
            <a:off x="6324448" y="2304288"/>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business-analysis</a:t>
            </a:r>
            <a:endParaRPr lang="en-US" sz="1150" dirty="0"/>
          </a:p>
        </p:txBody>
      </p:sp>
      <p:sp>
        <p:nvSpPr>
          <p:cNvPr id="40" name="Shape 37"/>
          <p:cNvSpPr/>
          <p:nvPr/>
        </p:nvSpPr>
        <p:spPr>
          <a:xfrm>
            <a:off x="8747608" y="2350008"/>
            <a:ext cx="2346808" cy="201168"/>
          </a:xfrm>
          <a:prstGeom prst="roundRect">
            <a:avLst>
              <a:gd name="adj" fmla="val 18182"/>
            </a:avLst>
          </a:prstGeom>
          <a:solidFill>
            <a:srgbClr val="E4DED3"/>
          </a:solidFill>
          <a:ln w="12700">
            <a:solidFill>
              <a:srgbClr val="E4DED3"/>
            </a:solidFill>
            <a:prstDash val="solid"/>
          </a:ln>
        </p:spPr>
      </p:sp>
      <p:sp>
        <p:nvSpPr>
          <p:cNvPr id="41" name="Shape 38"/>
          <p:cNvSpPr/>
          <p:nvPr/>
        </p:nvSpPr>
        <p:spPr>
          <a:xfrm>
            <a:off x="8747608" y="2350008"/>
            <a:ext cx="521513" cy="201168"/>
          </a:xfrm>
          <a:prstGeom prst="roundRect">
            <a:avLst>
              <a:gd name="adj" fmla="val 18182"/>
            </a:avLst>
          </a:prstGeom>
          <a:solidFill>
            <a:srgbClr val="051D60"/>
          </a:solidFill>
          <a:ln w="12700">
            <a:solidFill>
              <a:srgbClr val="051D60"/>
            </a:solidFill>
            <a:prstDash val="solid"/>
          </a:ln>
        </p:spPr>
      </p:sp>
      <p:sp>
        <p:nvSpPr>
          <p:cNvPr id="42" name="Text 39"/>
          <p:cNvSpPr txBox="1"/>
          <p:nvPr/>
        </p:nvSpPr>
        <p:spPr>
          <a:xfrm>
            <a:off x="11204143" y="2304288"/>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43" name="Text 40"/>
          <p:cNvSpPr txBox="1"/>
          <p:nvPr/>
        </p:nvSpPr>
        <p:spPr>
          <a:xfrm>
            <a:off x="6324448" y="2706624"/>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integration</a:t>
            </a:r>
            <a:endParaRPr lang="en-US" sz="1150" dirty="0"/>
          </a:p>
        </p:txBody>
      </p:sp>
      <p:sp>
        <p:nvSpPr>
          <p:cNvPr id="44" name="Shape 41"/>
          <p:cNvSpPr/>
          <p:nvPr/>
        </p:nvSpPr>
        <p:spPr>
          <a:xfrm>
            <a:off x="8747608" y="2752344"/>
            <a:ext cx="2346808" cy="201168"/>
          </a:xfrm>
          <a:prstGeom prst="roundRect">
            <a:avLst>
              <a:gd name="adj" fmla="val 18182"/>
            </a:avLst>
          </a:prstGeom>
          <a:solidFill>
            <a:srgbClr val="E4DED3"/>
          </a:solidFill>
          <a:ln w="12700">
            <a:solidFill>
              <a:srgbClr val="E4DED3"/>
            </a:solidFill>
            <a:prstDash val="solid"/>
          </a:ln>
        </p:spPr>
      </p:sp>
      <p:sp>
        <p:nvSpPr>
          <p:cNvPr id="45" name="Shape 42"/>
          <p:cNvSpPr/>
          <p:nvPr/>
        </p:nvSpPr>
        <p:spPr>
          <a:xfrm>
            <a:off x="8747608" y="2752344"/>
            <a:ext cx="521513" cy="201168"/>
          </a:xfrm>
          <a:prstGeom prst="roundRect">
            <a:avLst>
              <a:gd name="adj" fmla="val 18182"/>
            </a:avLst>
          </a:prstGeom>
          <a:solidFill>
            <a:srgbClr val="051D60"/>
          </a:solidFill>
          <a:ln w="12700">
            <a:solidFill>
              <a:srgbClr val="051D60"/>
            </a:solidFill>
            <a:prstDash val="solid"/>
          </a:ln>
        </p:spPr>
      </p:sp>
      <p:sp>
        <p:nvSpPr>
          <p:cNvPr id="46" name="Text 43"/>
          <p:cNvSpPr txBox="1"/>
          <p:nvPr/>
        </p:nvSpPr>
        <p:spPr>
          <a:xfrm>
            <a:off x="11204143" y="2706624"/>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47" name="Text 44"/>
          <p:cNvSpPr txBox="1"/>
          <p:nvPr/>
        </p:nvSpPr>
        <p:spPr>
          <a:xfrm>
            <a:off x="6324448" y="3108960"/>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mlops</a:t>
            </a:r>
            <a:endParaRPr lang="en-US" sz="1150" dirty="0"/>
          </a:p>
        </p:txBody>
      </p:sp>
      <p:sp>
        <p:nvSpPr>
          <p:cNvPr id="48" name="Shape 45"/>
          <p:cNvSpPr/>
          <p:nvPr/>
        </p:nvSpPr>
        <p:spPr>
          <a:xfrm>
            <a:off x="8747608" y="3154680"/>
            <a:ext cx="2346808" cy="201168"/>
          </a:xfrm>
          <a:prstGeom prst="roundRect">
            <a:avLst>
              <a:gd name="adj" fmla="val 18182"/>
            </a:avLst>
          </a:prstGeom>
          <a:solidFill>
            <a:srgbClr val="E4DED3"/>
          </a:solidFill>
          <a:ln w="12700">
            <a:solidFill>
              <a:srgbClr val="E4DED3"/>
            </a:solidFill>
            <a:prstDash val="solid"/>
          </a:ln>
        </p:spPr>
      </p:sp>
      <p:sp>
        <p:nvSpPr>
          <p:cNvPr id="49" name="Shape 46"/>
          <p:cNvSpPr/>
          <p:nvPr/>
        </p:nvSpPr>
        <p:spPr>
          <a:xfrm>
            <a:off x="8747608" y="3154680"/>
            <a:ext cx="521513" cy="201168"/>
          </a:xfrm>
          <a:prstGeom prst="roundRect">
            <a:avLst>
              <a:gd name="adj" fmla="val 18182"/>
            </a:avLst>
          </a:prstGeom>
          <a:solidFill>
            <a:srgbClr val="051D60"/>
          </a:solidFill>
          <a:ln w="12700">
            <a:solidFill>
              <a:srgbClr val="051D60"/>
            </a:solidFill>
            <a:prstDash val="solid"/>
          </a:ln>
        </p:spPr>
      </p:sp>
      <p:sp>
        <p:nvSpPr>
          <p:cNvPr id="50" name="Text 47"/>
          <p:cNvSpPr txBox="1"/>
          <p:nvPr/>
        </p:nvSpPr>
        <p:spPr>
          <a:xfrm>
            <a:off x="11204143" y="3108960"/>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51" name="Text 48"/>
          <p:cNvSpPr txBox="1"/>
          <p:nvPr/>
        </p:nvSpPr>
        <p:spPr>
          <a:xfrm>
            <a:off x="6324448" y="3511296"/>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product-management</a:t>
            </a:r>
            <a:endParaRPr lang="en-US" sz="1150" dirty="0"/>
          </a:p>
        </p:txBody>
      </p:sp>
      <p:sp>
        <p:nvSpPr>
          <p:cNvPr id="52" name="Shape 49"/>
          <p:cNvSpPr/>
          <p:nvPr/>
        </p:nvSpPr>
        <p:spPr>
          <a:xfrm>
            <a:off x="8747608" y="3557016"/>
            <a:ext cx="2346808" cy="201168"/>
          </a:xfrm>
          <a:prstGeom prst="roundRect">
            <a:avLst>
              <a:gd name="adj" fmla="val 18182"/>
            </a:avLst>
          </a:prstGeom>
          <a:solidFill>
            <a:srgbClr val="E4DED3"/>
          </a:solidFill>
          <a:ln w="12700">
            <a:solidFill>
              <a:srgbClr val="E4DED3"/>
            </a:solidFill>
            <a:prstDash val="solid"/>
          </a:ln>
        </p:spPr>
      </p:sp>
      <p:sp>
        <p:nvSpPr>
          <p:cNvPr id="53" name="Shape 50"/>
          <p:cNvSpPr/>
          <p:nvPr/>
        </p:nvSpPr>
        <p:spPr>
          <a:xfrm>
            <a:off x="8747608" y="3557016"/>
            <a:ext cx="521513" cy="201168"/>
          </a:xfrm>
          <a:prstGeom prst="roundRect">
            <a:avLst>
              <a:gd name="adj" fmla="val 18182"/>
            </a:avLst>
          </a:prstGeom>
          <a:solidFill>
            <a:srgbClr val="051D60"/>
          </a:solidFill>
          <a:ln w="12700">
            <a:solidFill>
              <a:srgbClr val="051D60"/>
            </a:solidFill>
            <a:prstDash val="solid"/>
          </a:ln>
        </p:spPr>
      </p:sp>
      <p:sp>
        <p:nvSpPr>
          <p:cNvPr id="54" name="Text 51"/>
          <p:cNvSpPr txBox="1"/>
          <p:nvPr/>
        </p:nvSpPr>
        <p:spPr>
          <a:xfrm>
            <a:off x="11204143" y="3511296"/>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2</a:t>
            </a:r>
            <a:endParaRPr lang="en-US" sz="1150" dirty="0"/>
          </a:p>
        </p:txBody>
      </p:sp>
      <p:sp>
        <p:nvSpPr>
          <p:cNvPr id="55" name="Text 52"/>
          <p:cNvSpPr txBox="1"/>
          <p:nvPr/>
        </p:nvSpPr>
        <p:spPr>
          <a:xfrm>
            <a:off x="6324448" y="3913632"/>
            <a:ext cx="2331720" cy="274320"/>
          </a:xfrm>
          <a:prstGeom prst="rect">
            <a:avLst/>
          </a:prstGeom>
          <a:noFill/>
          <a:ln/>
        </p:spPr>
        <p:txBody>
          <a:bodyPr wrap="square" lIns="0" tIns="0" rIns="0" bIns="0" rtlCol="0" anchor="ctr"/>
          <a:lstStyle/>
          <a:p>
            <a:pPr indent="0" marL="0">
              <a:buNone/>
            </a:pPr>
            <a:r>
              <a:rPr lang="en-US" sz="1150" dirty="0">
                <a:solidFill>
                  <a:srgbClr val="051D60"/>
                </a:solidFill>
                <a:latin typeface="Calibri" pitchFamily="34" charset="0"/>
                <a:ea typeface="Calibri" pitchFamily="34" charset="-122"/>
                <a:cs typeface="Calibri" pitchFamily="34" charset="-120"/>
              </a:rPr>
              <a:t>security</a:t>
            </a:r>
            <a:endParaRPr lang="en-US" sz="1150" dirty="0"/>
          </a:p>
        </p:txBody>
      </p:sp>
      <p:sp>
        <p:nvSpPr>
          <p:cNvPr id="56" name="Shape 53"/>
          <p:cNvSpPr/>
          <p:nvPr/>
        </p:nvSpPr>
        <p:spPr>
          <a:xfrm>
            <a:off x="8747608" y="3959352"/>
            <a:ext cx="2346808" cy="201168"/>
          </a:xfrm>
          <a:prstGeom prst="roundRect">
            <a:avLst>
              <a:gd name="adj" fmla="val 18182"/>
            </a:avLst>
          </a:prstGeom>
          <a:solidFill>
            <a:srgbClr val="E4DED3"/>
          </a:solidFill>
          <a:ln w="12700">
            <a:solidFill>
              <a:srgbClr val="E4DED3"/>
            </a:solidFill>
            <a:prstDash val="solid"/>
          </a:ln>
        </p:spPr>
      </p:sp>
      <p:sp>
        <p:nvSpPr>
          <p:cNvPr id="57" name="Shape 54"/>
          <p:cNvSpPr/>
          <p:nvPr/>
        </p:nvSpPr>
        <p:spPr>
          <a:xfrm>
            <a:off x="8747608" y="3959352"/>
            <a:ext cx="260756" cy="201168"/>
          </a:xfrm>
          <a:prstGeom prst="roundRect">
            <a:avLst>
              <a:gd name="adj" fmla="val 18182"/>
            </a:avLst>
          </a:prstGeom>
          <a:solidFill>
            <a:srgbClr val="051D60"/>
          </a:solidFill>
          <a:ln w="12700">
            <a:solidFill>
              <a:srgbClr val="051D60"/>
            </a:solidFill>
            <a:prstDash val="solid"/>
          </a:ln>
        </p:spPr>
      </p:sp>
      <p:sp>
        <p:nvSpPr>
          <p:cNvPr id="58" name="Text 55"/>
          <p:cNvSpPr txBox="1"/>
          <p:nvPr/>
        </p:nvSpPr>
        <p:spPr>
          <a:xfrm>
            <a:off x="11204143" y="3913632"/>
            <a:ext cx="320040" cy="274320"/>
          </a:xfrm>
          <a:prstGeom prst="rect">
            <a:avLst/>
          </a:prstGeom>
          <a:noFill/>
          <a:ln/>
        </p:spPr>
        <p:txBody>
          <a:bodyPr wrap="square" lIns="0" tIns="0" rIns="0" bIns="0" rtlCol="0" anchor="ctr"/>
          <a:lstStyle/>
          <a:p>
            <a:pPr indent="0" marL="0">
              <a:buNone/>
            </a:pPr>
            <a:r>
              <a:rPr lang="en-US" sz="1150" b="1" dirty="0">
                <a:solidFill>
                  <a:srgbClr val="051D60"/>
                </a:solidFill>
                <a:latin typeface="Mulish" pitchFamily="34" charset="0"/>
                <a:ea typeface="Mulish" pitchFamily="34" charset="-122"/>
                <a:cs typeface="Mulish" pitchFamily="34" charset="-120"/>
              </a:rPr>
              <a:t>1</a:t>
            </a:r>
            <a:endParaRPr lang="en-US" sz="1150" dirty="0"/>
          </a:p>
        </p:txBody>
      </p:sp>
      <p:sp>
        <p:nvSpPr>
          <p:cNvPr id="59" name="Shape 56"/>
          <p:cNvSpPr/>
          <p:nvPr/>
        </p:nvSpPr>
        <p:spPr>
          <a:xfrm>
            <a:off x="640080" y="4846320"/>
            <a:ext cx="5318608" cy="1280160"/>
          </a:xfrm>
          <a:prstGeom prst="roundRect">
            <a:avLst>
              <a:gd name="adj" fmla="val 4286"/>
            </a:avLst>
          </a:prstGeom>
          <a:solidFill>
            <a:srgbClr val="FFFFFF"/>
          </a:solidFill>
          <a:ln w="12700">
            <a:solidFill>
              <a:srgbClr val="CFC7B8"/>
            </a:solidFill>
            <a:prstDash val="solid"/>
          </a:ln>
        </p:spPr>
      </p:sp>
      <p:sp>
        <p:nvSpPr>
          <p:cNvPr id="60" name="Text 57"/>
          <p:cNvSpPr txBox="1"/>
          <p:nvPr/>
        </p:nvSpPr>
        <p:spPr>
          <a:xfrm>
            <a:off x="914400" y="5029200"/>
            <a:ext cx="4769968"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Every skill ends with a Validation block</a:t>
            </a:r>
            <a:endParaRPr lang="en-US" sz="1300" dirty="0"/>
          </a:p>
        </p:txBody>
      </p:sp>
      <p:sp>
        <p:nvSpPr>
          <p:cNvPr id="61" name="Text 58"/>
          <p:cNvSpPr txBox="1"/>
          <p:nvPr/>
        </p:nvSpPr>
        <p:spPr>
          <a:xfrm>
            <a:off x="914400" y="5340096"/>
            <a:ext cx="4769968" cy="658368"/>
          </a:xfrm>
          <a:prstGeom prst="rect">
            <a:avLst/>
          </a:prstGeom>
          <a:noFill/>
          <a:ln/>
        </p:spPr>
        <p:txBody>
          <a:bodyPr wrap="square" lIns="0" tIns="0" rIns="0" bIns="0" rtlCol="0" anchor="ctr"/>
          <a:lstStyle/>
          <a:p>
            <a:pPr indent="0" marL="0">
              <a:lnSpc>
                <a:spcPct val="112000"/>
              </a:lnSpc>
              <a:buNone/>
            </a:pPr>
            <a:r>
              <a:rPr lang="en-US" sz="1050" dirty="0">
                <a:solidFill>
                  <a:srgbClr val="5F6476"/>
                </a:solidFill>
                <a:latin typeface="Calibri" pitchFamily="34" charset="0"/>
                <a:ea typeface="Calibri" pitchFamily="34" charset="-122"/>
                <a:cs typeface="Calibri" pitchFamily="34" charset="-120"/>
              </a:rPr>
              <a:t>A command or a grep that a machine runs — not advice. scripts/validate_skill_checks.py runs each block against that skill's own template, then against a mutation that breaks a rule the block claims to catch.</a:t>
            </a:r>
            <a:endParaRPr lang="en-US" sz="1050" dirty="0"/>
          </a:p>
        </p:txBody>
      </p:sp>
      <p:sp>
        <p:nvSpPr>
          <p:cNvPr id="62" name="Shape 59"/>
          <p:cNvSpPr/>
          <p:nvPr/>
        </p:nvSpPr>
        <p:spPr>
          <a:xfrm>
            <a:off x="6233008" y="4846320"/>
            <a:ext cx="5318608" cy="1280160"/>
          </a:xfrm>
          <a:prstGeom prst="roundRect">
            <a:avLst>
              <a:gd name="adj" fmla="val 4286"/>
            </a:avLst>
          </a:prstGeom>
          <a:solidFill>
            <a:srgbClr val="F1E9DA"/>
          </a:solidFill>
          <a:ln w="12700">
            <a:solidFill>
              <a:srgbClr val="F1E9DA"/>
            </a:solidFill>
            <a:prstDash val="solid"/>
          </a:ln>
        </p:spPr>
      </p:sp>
      <p:sp>
        <p:nvSpPr>
          <p:cNvPr id="63" name="Text 60"/>
          <p:cNvSpPr txBox="1"/>
          <p:nvPr/>
        </p:nvSpPr>
        <p:spPr>
          <a:xfrm>
            <a:off x="6507328" y="5029200"/>
            <a:ext cx="4769968"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Reuses the tooling this team already has</a:t>
            </a:r>
            <a:endParaRPr lang="en-US" sz="1300" dirty="0"/>
          </a:p>
        </p:txBody>
      </p:sp>
      <p:sp>
        <p:nvSpPr>
          <p:cNvPr id="64" name="Text 61"/>
          <p:cNvSpPr txBox="1"/>
          <p:nvPr/>
        </p:nvSpPr>
        <p:spPr>
          <a:xfrm>
            <a:off x="6507328" y="5340096"/>
            <a:ext cx="4769968" cy="658368"/>
          </a:xfrm>
          <a:prstGeom prst="rect">
            <a:avLst/>
          </a:prstGeom>
          <a:noFill/>
          <a:ln/>
        </p:spPr>
        <p:txBody>
          <a:bodyPr wrap="square" lIns="0" tIns="0" rIns="0" bIns="0" rtlCol="0" anchor="ctr"/>
          <a:lstStyle/>
          <a:p>
            <a:pPr indent="0" marL="0">
              <a:lnSpc>
                <a:spcPct val="112000"/>
              </a:lnSpc>
              <a:buNone/>
            </a:pPr>
            <a:r>
              <a:rPr lang="en-US" sz="1050" dirty="0">
                <a:solidFill>
                  <a:srgbClr val="5F6476"/>
                </a:solidFill>
                <a:latin typeface="Calibri" pitchFamily="34" charset="0"/>
                <a:ea typeface="Calibri" pitchFamily="34" charset="-122"/>
                <a:cs typeface="Calibri" pitchFamily="34" charset="-120"/>
              </a:rPr>
              <a:t>Each skill ships an evals.json in the house format, so /skill-creator, /eai-eng-skills-evaluator and skill-batch-creator all work against this repo unchanged.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THE LIFECYCLE</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Nine phases, nine gates — and phase 9 feeds phase 1</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Not a waterfall and not a line. The last phase is the one that changes what the first phase will be asked to do.</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7 / 19</a:t>
            </a:r>
            <a:endParaRPr lang="en-US" sz="850" dirty="0"/>
          </a:p>
        </p:txBody>
      </p:sp>
      <p:sp>
        <p:nvSpPr>
          <p:cNvPr id="7" name="Shape 4"/>
          <p:cNvSpPr/>
          <p:nvPr/>
        </p:nvSpPr>
        <p:spPr>
          <a:xfrm>
            <a:off x="640080" y="2084832"/>
            <a:ext cx="1828800" cy="859536"/>
          </a:xfrm>
          <a:prstGeom prst="roundRect">
            <a:avLst>
              <a:gd name="adj" fmla="val 6383"/>
            </a:avLst>
          </a:prstGeom>
          <a:solidFill>
            <a:srgbClr val="0E2470"/>
          </a:solidFill>
          <a:ln w="12700">
            <a:solidFill>
              <a:srgbClr val="0E2470"/>
            </a:solidFill>
            <a:prstDash val="solid"/>
          </a:ln>
        </p:spPr>
      </p:sp>
      <p:sp>
        <p:nvSpPr>
          <p:cNvPr id="8" name="Text 5"/>
          <p:cNvSpPr txBox="1"/>
          <p:nvPr/>
        </p:nvSpPr>
        <p:spPr>
          <a:xfrm>
            <a:off x="822960"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1</a:t>
            </a:r>
            <a:endParaRPr lang="en-US" sz="800" dirty="0"/>
          </a:p>
        </p:txBody>
      </p:sp>
      <p:sp>
        <p:nvSpPr>
          <p:cNvPr id="9" name="Text 6"/>
          <p:cNvSpPr txBox="1"/>
          <p:nvPr/>
        </p:nvSpPr>
        <p:spPr>
          <a:xfrm>
            <a:off x="822960"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Plan</a:t>
            </a:r>
            <a:endParaRPr lang="en-US" sz="1300" dirty="0"/>
          </a:p>
        </p:txBody>
      </p:sp>
      <p:sp>
        <p:nvSpPr>
          <p:cNvPr id="10" name="Shape 7"/>
          <p:cNvSpPr/>
          <p:nvPr/>
        </p:nvSpPr>
        <p:spPr>
          <a:xfrm>
            <a:off x="1810512" y="2203704"/>
            <a:ext cx="493776" cy="237744"/>
          </a:xfrm>
          <a:prstGeom prst="roundRect">
            <a:avLst>
              <a:gd name="adj" fmla="val 15385"/>
            </a:avLst>
          </a:prstGeom>
          <a:solidFill>
            <a:srgbClr val="FAF3E7"/>
          </a:solidFill>
          <a:ln w="12700">
            <a:solidFill>
              <a:srgbClr val="FAF3E7"/>
            </a:solidFill>
            <a:prstDash val="solid"/>
          </a:ln>
        </p:spPr>
      </p:sp>
      <p:sp>
        <p:nvSpPr>
          <p:cNvPr id="11" name="Text 8"/>
          <p:cNvSpPr txBox="1"/>
          <p:nvPr/>
        </p:nvSpPr>
        <p:spPr>
          <a:xfrm>
            <a:off x="1810512"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G1</a:t>
            </a:r>
            <a:endParaRPr lang="en-US" sz="950" dirty="0"/>
          </a:p>
        </p:txBody>
      </p:sp>
      <p:sp>
        <p:nvSpPr>
          <p:cNvPr id="12" name="Shape 9"/>
          <p:cNvSpPr/>
          <p:nvPr/>
        </p:nvSpPr>
        <p:spPr>
          <a:xfrm>
            <a:off x="2910764" y="2084832"/>
            <a:ext cx="1828800" cy="859536"/>
          </a:xfrm>
          <a:prstGeom prst="roundRect">
            <a:avLst>
              <a:gd name="adj" fmla="val 6383"/>
            </a:avLst>
          </a:prstGeom>
          <a:solidFill>
            <a:srgbClr val="0E2470"/>
          </a:solidFill>
          <a:ln w="12700">
            <a:solidFill>
              <a:srgbClr val="0E2470"/>
            </a:solidFill>
            <a:prstDash val="solid"/>
          </a:ln>
        </p:spPr>
      </p:sp>
      <p:sp>
        <p:nvSpPr>
          <p:cNvPr id="13" name="Text 10"/>
          <p:cNvSpPr txBox="1"/>
          <p:nvPr/>
        </p:nvSpPr>
        <p:spPr>
          <a:xfrm>
            <a:off x="3093644"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2</a:t>
            </a:r>
            <a:endParaRPr lang="en-US" sz="800" dirty="0"/>
          </a:p>
        </p:txBody>
      </p:sp>
      <p:sp>
        <p:nvSpPr>
          <p:cNvPr id="14" name="Text 11"/>
          <p:cNvSpPr txBox="1"/>
          <p:nvPr/>
        </p:nvSpPr>
        <p:spPr>
          <a:xfrm>
            <a:off x="3093644"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Specify</a:t>
            </a:r>
            <a:endParaRPr lang="en-US" sz="1300" dirty="0"/>
          </a:p>
        </p:txBody>
      </p:sp>
      <p:sp>
        <p:nvSpPr>
          <p:cNvPr id="15" name="Shape 12"/>
          <p:cNvSpPr/>
          <p:nvPr/>
        </p:nvSpPr>
        <p:spPr>
          <a:xfrm>
            <a:off x="4081196" y="2203704"/>
            <a:ext cx="493776" cy="237744"/>
          </a:xfrm>
          <a:prstGeom prst="roundRect">
            <a:avLst>
              <a:gd name="adj" fmla="val 15385"/>
            </a:avLst>
          </a:prstGeom>
          <a:solidFill>
            <a:srgbClr val="FAF3E7"/>
          </a:solidFill>
          <a:ln w="12700">
            <a:solidFill>
              <a:srgbClr val="FAF3E7"/>
            </a:solidFill>
            <a:prstDash val="solid"/>
          </a:ln>
        </p:spPr>
      </p:sp>
      <p:sp>
        <p:nvSpPr>
          <p:cNvPr id="16" name="Text 13"/>
          <p:cNvSpPr txBox="1"/>
          <p:nvPr/>
        </p:nvSpPr>
        <p:spPr>
          <a:xfrm>
            <a:off x="4081196"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G2</a:t>
            </a:r>
            <a:endParaRPr lang="en-US" sz="950" dirty="0"/>
          </a:p>
        </p:txBody>
      </p:sp>
      <p:sp>
        <p:nvSpPr>
          <p:cNvPr id="17" name="Shape 14"/>
          <p:cNvSpPr/>
          <p:nvPr/>
        </p:nvSpPr>
        <p:spPr>
          <a:xfrm>
            <a:off x="5181448" y="2084832"/>
            <a:ext cx="1828800" cy="859536"/>
          </a:xfrm>
          <a:prstGeom prst="roundRect">
            <a:avLst>
              <a:gd name="adj" fmla="val 6383"/>
            </a:avLst>
          </a:prstGeom>
          <a:solidFill>
            <a:srgbClr val="0E2470"/>
          </a:solidFill>
          <a:ln w="12700">
            <a:solidFill>
              <a:srgbClr val="0E2470"/>
            </a:solidFill>
            <a:prstDash val="solid"/>
          </a:ln>
        </p:spPr>
      </p:sp>
      <p:sp>
        <p:nvSpPr>
          <p:cNvPr id="18" name="Text 15"/>
          <p:cNvSpPr txBox="1"/>
          <p:nvPr/>
        </p:nvSpPr>
        <p:spPr>
          <a:xfrm>
            <a:off x="5364328"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3</a:t>
            </a:r>
            <a:endParaRPr lang="en-US" sz="800" dirty="0"/>
          </a:p>
        </p:txBody>
      </p:sp>
      <p:sp>
        <p:nvSpPr>
          <p:cNvPr id="19" name="Text 16"/>
          <p:cNvSpPr txBox="1"/>
          <p:nvPr/>
        </p:nvSpPr>
        <p:spPr>
          <a:xfrm>
            <a:off x="5364328"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Architect</a:t>
            </a:r>
            <a:endParaRPr lang="en-US" sz="1300" dirty="0"/>
          </a:p>
        </p:txBody>
      </p:sp>
      <p:sp>
        <p:nvSpPr>
          <p:cNvPr id="20" name="Shape 17"/>
          <p:cNvSpPr/>
          <p:nvPr/>
        </p:nvSpPr>
        <p:spPr>
          <a:xfrm>
            <a:off x="6351880" y="2203704"/>
            <a:ext cx="493776" cy="237744"/>
          </a:xfrm>
          <a:prstGeom prst="roundRect">
            <a:avLst>
              <a:gd name="adj" fmla="val 15385"/>
            </a:avLst>
          </a:prstGeom>
          <a:solidFill>
            <a:srgbClr val="FAF3E7"/>
          </a:solidFill>
          <a:ln w="12700">
            <a:solidFill>
              <a:srgbClr val="FAF3E7"/>
            </a:solidFill>
            <a:prstDash val="solid"/>
          </a:ln>
        </p:spPr>
      </p:sp>
      <p:sp>
        <p:nvSpPr>
          <p:cNvPr id="21" name="Text 18"/>
          <p:cNvSpPr txBox="1"/>
          <p:nvPr/>
        </p:nvSpPr>
        <p:spPr>
          <a:xfrm>
            <a:off x="6351880"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G3</a:t>
            </a:r>
            <a:endParaRPr lang="en-US" sz="950" dirty="0"/>
          </a:p>
        </p:txBody>
      </p:sp>
      <p:sp>
        <p:nvSpPr>
          <p:cNvPr id="22" name="Shape 19"/>
          <p:cNvSpPr/>
          <p:nvPr/>
        </p:nvSpPr>
        <p:spPr>
          <a:xfrm>
            <a:off x="7452131" y="2084832"/>
            <a:ext cx="1828800" cy="859536"/>
          </a:xfrm>
          <a:prstGeom prst="roundRect">
            <a:avLst>
              <a:gd name="adj" fmla="val 6383"/>
            </a:avLst>
          </a:prstGeom>
          <a:solidFill>
            <a:srgbClr val="0E2470"/>
          </a:solidFill>
          <a:ln w="12700">
            <a:solidFill>
              <a:srgbClr val="0E2470"/>
            </a:solidFill>
            <a:prstDash val="solid"/>
          </a:ln>
        </p:spPr>
      </p:sp>
      <p:sp>
        <p:nvSpPr>
          <p:cNvPr id="23" name="Text 20"/>
          <p:cNvSpPr txBox="1"/>
          <p:nvPr/>
        </p:nvSpPr>
        <p:spPr>
          <a:xfrm>
            <a:off x="7635011"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4</a:t>
            </a:r>
            <a:endParaRPr lang="en-US" sz="800" dirty="0"/>
          </a:p>
        </p:txBody>
      </p:sp>
      <p:sp>
        <p:nvSpPr>
          <p:cNvPr id="24" name="Text 21"/>
          <p:cNvSpPr txBox="1"/>
          <p:nvPr/>
        </p:nvSpPr>
        <p:spPr>
          <a:xfrm>
            <a:off x="7635011"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Data &amp; Model</a:t>
            </a:r>
            <a:endParaRPr lang="en-US" sz="1300" dirty="0"/>
          </a:p>
        </p:txBody>
      </p:sp>
      <p:sp>
        <p:nvSpPr>
          <p:cNvPr id="25" name="Shape 22"/>
          <p:cNvSpPr/>
          <p:nvPr/>
        </p:nvSpPr>
        <p:spPr>
          <a:xfrm>
            <a:off x="8622563" y="2203704"/>
            <a:ext cx="493776" cy="237744"/>
          </a:xfrm>
          <a:prstGeom prst="roundRect">
            <a:avLst>
              <a:gd name="adj" fmla="val 15385"/>
            </a:avLst>
          </a:prstGeom>
          <a:solidFill>
            <a:srgbClr val="FAF3E7"/>
          </a:solidFill>
          <a:ln w="12700">
            <a:solidFill>
              <a:srgbClr val="FAF3E7"/>
            </a:solidFill>
            <a:prstDash val="solid"/>
          </a:ln>
        </p:spPr>
      </p:sp>
      <p:sp>
        <p:nvSpPr>
          <p:cNvPr id="26" name="Text 23"/>
          <p:cNvSpPr txBox="1"/>
          <p:nvPr/>
        </p:nvSpPr>
        <p:spPr>
          <a:xfrm>
            <a:off x="8622563"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G4</a:t>
            </a:r>
            <a:endParaRPr lang="en-US" sz="950" dirty="0"/>
          </a:p>
        </p:txBody>
      </p:sp>
      <p:sp>
        <p:nvSpPr>
          <p:cNvPr id="27" name="Shape 24"/>
          <p:cNvSpPr/>
          <p:nvPr/>
        </p:nvSpPr>
        <p:spPr>
          <a:xfrm>
            <a:off x="9722815" y="2084832"/>
            <a:ext cx="1828800" cy="859536"/>
          </a:xfrm>
          <a:prstGeom prst="roundRect">
            <a:avLst>
              <a:gd name="adj" fmla="val 6383"/>
            </a:avLst>
          </a:prstGeom>
          <a:solidFill>
            <a:srgbClr val="0E2470"/>
          </a:solidFill>
          <a:ln w="12700">
            <a:solidFill>
              <a:srgbClr val="0E2470"/>
            </a:solidFill>
            <a:prstDash val="solid"/>
          </a:ln>
        </p:spPr>
      </p:sp>
      <p:sp>
        <p:nvSpPr>
          <p:cNvPr id="28" name="Text 25"/>
          <p:cNvSpPr txBox="1"/>
          <p:nvPr/>
        </p:nvSpPr>
        <p:spPr>
          <a:xfrm>
            <a:off x="9905695" y="2221992"/>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5</a:t>
            </a:r>
            <a:endParaRPr lang="en-US" sz="800" dirty="0"/>
          </a:p>
        </p:txBody>
      </p:sp>
      <p:sp>
        <p:nvSpPr>
          <p:cNvPr id="29" name="Text 26"/>
          <p:cNvSpPr txBox="1"/>
          <p:nvPr/>
        </p:nvSpPr>
        <p:spPr>
          <a:xfrm>
            <a:off x="9905695" y="2450592"/>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Build</a:t>
            </a:r>
            <a:endParaRPr lang="en-US" sz="1300" dirty="0"/>
          </a:p>
        </p:txBody>
      </p:sp>
      <p:sp>
        <p:nvSpPr>
          <p:cNvPr id="30" name="Shape 27"/>
          <p:cNvSpPr/>
          <p:nvPr/>
        </p:nvSpPr>
        <p:spPr>
          <a:xfrm>
            <a:off x="10893247" y="2203704"/>
            <a:ext cx="493776" cy="237744"/>
          </a:xfrm>
          <a:prstGeom prst="roundRect">
            <a:avLst>
              <a:gd name="adj" fmla="val 15385"/>
            </a:avLst>
          </a:prstGeom>
          <a:solidFill>
            <a:srgbClr val="FAF3E7"/>
          </a:solidFill>
          <a:ln w="12700">
            <a:solidFill>
              <a:srgbClr val="FAF3E7"/>
            </a:solidFill>
            <a:prstDash val="solid"/>
          </a:ln>
        </p:spPr>
      </p:sp>
      <p:sp>
        <p:nvSpPr>
          <p:cNvPr id="31" name="Text 28"/>
          <p:cNvSpPr txBox="1"/>
          <p:nvPr/>
        </p:nvSpPr>
        <p:spPr>
          <a:xfrm>
            <a:off x="10893247" y="2226564"/>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G5</a:t>
            </a:r>
            <a:endParaRPr lang="en-US" sz="950" dirty="0"/>
          </a:p>
        </p:txBody>
      </p:sp>
      <p:sp>
        <p:nvSpPr>
          <p:cNvPr id="32" name="Shape 29"/>
          <p:cNvSpPr/>
          <p:nvPr/>
        </p:nvSpPr>
        <p:spPr>
          <a:xfrm>
            <a:off x="640080" y="4681728"/>
            <a:ext cx="1828800" cy="859536"/>
          </a:xfrm>
          <a:prstGeom prst="roundRect">
            <a:avLst>
              <a:gd name="adj" fmla="val 6383"/>
            </a:avLst>
          </a:prstGeom>
          <a:solidFill>
            <a:srgbClr val="0E2470"/>
          </a:solidFill>
          <a:ln w="12700">
            <a:solidFill>
              <a:srgbClr val="0E2470"/>
            </a:solidFill>
            <a:prstDash val="solid"/>
          </a:ln>
        </p:spPr>
      </p:sp>
      <p:sp>
        <p:nvSpPr>
          <p:cNvPr id="33" name="Text 30"/>
          <p:cNvSpPr txBox="1"/>
          <p:nvPr/>
        </p:nvSpPr>
        <p:spPr>
          <a:xfrm>
            <a:off x="822960"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9</a:t>
            </a:r>
            <a:endParaRPr lang="en-US" sz="800" dirty="0"/>
          </a:p>
        </p:txBody>
      </p:sp>
      <p:sp>
        <p:nvSpPr>
          <p:cNvPr id="34" name="Text 31"/>
          <p:cNvSpPr txBox="1"/>
          <p:nvPr/>
        </p:nvSpPr>
        <p:spPr>
          <a:xfrm>
            <a:off x="822960"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Learn</a:t>
            </a:r>
            <a:endParaRPr lang="en-US" sz="1300" dirty="0"/>
          </a:p>
        </p:txBody>
      </p:sp>
      <p:sp>
        <p:nvSpPr>
          <p:cNvPr id="35" name="Shape 32"/>
          <p:cNvSpPr/>
          <p:nvPr/>
        </p:nvSpPr>
        <p:spPr>
          <a:xfrm>
            <a:off x="1810512" y="4800600"/>
            <a:ext cx="493776" cy="237744"/>
          </a:xfrm>
          <a:prstGeom prst="roundRect">
            <a:avLst>
              <a:gd name="adj" fmla="val 15385"/>
            </a:avLst>
          </a:prstGeom>
          <a:solidFill>
            <a:srgbClr val="FAF3E7"/>
          </a:solidFill>
          <a:ln w="12700">
            <a:solidFill>
              <a:srgbClr val="FAF3E7"/>
            </a:solidFill>
            <a:prstDash val="solid"/>
          </a:ln>
        </p:spPr>
      </p:sp>
      <p:sp>
        <p:nvSpPr>
          <p:cNvPr id="36" name="Text 33"/>
          <p:cNvSpPr txBox="1"/>
          <p:nvPr/>
        </p:nvSpPr>
        <p:spPr>
          <a:xfrm>
            <a:off x="1810512"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G9</a:t>
            </a:r>
            <a:endParaRPr lang="en-US" sz="950" dirty="0"/>
          </a:p>
        </p:txBody>
      </p:sp>
      <p:sp>
        <p:nvSpPr>
          <p:cNvPr id="37" name="Shape 34"/>
          <p:cNvSpPr/>
          <p:nvPr/>
        </p:nvSpPr>
        <p:spPr>
          <a:xfrm>
            <a:off x="3667658" y="4681728"/>
            <a:ext cx="1828800" cy="859536"/>
          </a:xfrm>
          <a:prstGeom prst="roundRect">
            <a:avLst>
              <a:gd name="adj" fmla="val 6383"/>
            </a:avLst>
          </a:prstGeom>
          <a:solidFill>
            <a:srgbClr val="0E2470"/>
          </a:solidFill>
          <a:ln w="12700">
            <a:solidFill>
              <a:srgbClr val="0E2470"/>
            </a:solidFill>
            <a:prstDash val="solid"/>
          </a:ln>
        </p:spPr>
      </p:sp>
      <p:sp>
        <p:nvSpPr>
          <p:cNvPr id="38" name="Text 35"/>
          <p:cNvSpPr txBox="1"/>
          <p:nvPr/>
        </p:nvSpPr>
        <p:spPr>
          <a:xfrm>
            <a:off x="3850538"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8</a:t>
            </a:r>
            <a:endParaRPr lang="en-US" sz="800" dirty="0"/>
          </a:p>
        </p:txBody>
      </p:sp>
      <p:sp>
        <p:nvSpPr>
          <p:cNvPr id="39" name="Text 36"/>
          <p:cNvSpPr txBox="1"/>
          <p:nvPr/>
        </p:nvSpPr>
        <p:spPr>
          <a:xfrm>
            <a:off x="3850538"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Operate</a:t>
            </a:r>
            <a:endParaRPr lang="en-US" sz="1300" dirty="0"/>
          </a:p>
        </p:txBody>
      </p:sp>
      <p:sp>
        <p:nvSpPr>
          <p:cNvPr id="40" name="Shape 37"/>
          <p:cNvSpPr/>
          <p:nvPr/>
        </p:nvSpPr>
        <p:spPr>
          <a:xfrm>
            <a:off x="4838090" y="4800600"/>
            <a:ext cx="493776" cy="237744"/>
          </a:xfrm>
          <a:prstGeom prst="roundRect">
            <a:avLst>
              <a:gd name="adj" fmla="val 15385"/>
            </a:avLst>
          </a:prstGeom>
          <a:solidFill>
            <a:srgbClr val="FAF3E7"/>
          </a:solidFill>
          <a:ln w="12700">
            <a:solidFill>
              <a:srgbClr val="FAF3E7"/>
            </a:solidFill>
            <a:prstDash val="solid"/>
          </a:ln>
        </p:spPr>
      </p:sp>
      <p:sp>
        <p:nvSpPr>
          <p:cNvPr id="41" name="Text 38"/>
          <p:cNvSpPr txBox="1"/>
          <p:nvPr/>
        </p:nvSpPr>
        <p:spPr>
          <a:xfrm>
            <a:off x="4838090"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G8</a:t>
            </a:r>
            <a:endParaRPr lang="en-US" sz="950" dirty="0"/>
          </a:p>
        </p:txBody>
      </p:sp>
      <p:sp>
        <p:nvSpPr>
          <p:cNvPr id="42" name="Shape 39"/>
          <p:cNvSpPr/>
          <p:nvPr/>
        </p:nvSpPr>
        <p:spPr>
          <a:xfrm>
            <a:off x="6695237" y="4681728"/>
            <a:ext cx="1828800" cy="859536"/>
          </a:xfrm>
          <a:prstGeom prst="roundRect">
            <a:avLst>
              <a:gd name="adj" fmla="val 6383"/>
            </a:avLst>
          </a:prstGeom>
          <a:solidFill>
            <a:srgbClr val="0E2470"/>
          </a:solidFill>
          <a:ln w="12700">
            <a:solidFill>
              <a:srgbClr val="0E2470"/>
            </a:solidFill>
            <a:prstDash val="solid"/>
          </a:ln>
        </p:spPr>
      </p:sp>
      <p:sp>
        <p:nvSpPr>
          <p:cNvPr id="43" name="Text 40"/>
          <p:cNvSpPr txBox="1"/>
          <p:nvPr/>
        </p:nvSpPr>
        <p:spPr>
          <a:xfrm>
            <a:off x="6878117"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7</a:t>
            </a:r>
            <a:endParaRPr lang="en-US" sz="800" dirty="0"/>
          </a:p>
        </p:txBody>
      </p:sp>
      <p:sp>
        <p:nvSpPr>
          <p:cNvPr id="44" name="Text 41"/>
          <p:cNvSpPr txBox="1"/>
          <p:nvPr/>
        </p:nvSpPr>
        <p:spPr>
          <a:xfrm>
            <a:off x="6878117"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Release</a:t>
            </a:r>
            <a:endParaRPr lang="en-US" sz="1300" dirty="0"/>
          </a:p>
        </p:txBody>
      </p:sp>
      <p:sp>
        <p:nvSpPr>
          <p:cNvPr id="45" name="Shape 42"/>
          <p:cNvSpPr/>
          <p:nvPr/>
        </p:nvSpPr>
        <p:spPr>
          <a:xfrm>
            <a:off x="7865669" y="4800600"/>
            <a:ext cx="493776" cy="237744"/>
          </a:xfrm>
          <a:prstGeom prst="roundRect">
            <a:avLst>
              <a:gd name="adj" fmla="val 15385"/>
            </a:avLst>
          </a:prstGeom>
          <a:solidFill>
            <a:srgbClr val="FAF3E7"/>
          </a:solidFill>
          <a:ln w="12700">
            <a:solidFill>
              <a:srgbClr val="FAF3E7"/>
            </a:solidFill>
            <a:prstDash val="solid"/>
          </a:ln>
        </p:spPr>
      </p:sp>
      <p:sp>
        <p:nvSpPr>
          <p:cNvPr id="46" name="Text 43"/>
          <p:cNvSpPr txBox="1"/>
          <p:nvPr/>
        </p:nvSpPr>
        <p:spPr>
          <a:xfrm>
            <a:off x="7865669"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G7</a:t>
            </a:r>
            <a:endParaRPr lang="en-US" sz="950" dirty="0"/>
          </a:p>
        </p:txBody>
      </p:sp>
      <p:sp>
        <p:nvSpPr>
          <p:cNvPr id="47" name="Shape 44"/>
          <p:cNvSpPr/>
          <p:nvPr/>
        </p:nvSpPr>
        <p:spPr>
          <a:xfrm>
            <a:off x="9722815" y="4681728"/>
            <a:ext cx="1828800" cy="859536"/>
          </a:xfrm>
          <a:prstGeom prst="roundRect">
            <a:avLst>
              <a:gd name="adj" fmla="val 6383"/>
            </a:avLst>
          </a:prstGeom>
          <a:solidFill>
            <a:srgbClr val="0E2470"/>
          </a:solidFill>
          <a:ln w="12700">
            <a:solidFill>
              <a:srgbClr val="0E2470"/>
            </a:solidFill>
            <a:prstDash val="solid"/>
          </a:ln>
        </p:spPr>
      </p:sp>
      <p:sp>
        <p:nvSpPr>
          <p:cNvPr id="48" name="Text 45"/>
          <p:cNvSpPr txBox="1"/>
          <p:nvPr/>
        </p:nvSpPr>
        <p:spPr>
          <a:xfrm>
            <a:off x="9905695" y="4818888"/>
            <a:ext cx="1005840" cy="182880"/>
          </a:xfrm>
          <a:prstGeom prst="rect">
            <a:avLst/>
          </a:prstGeom>
          <a:noFill/>
          <a:ln/>
        </p:spPr>
        <p:txBody>
          <a:bodyPr wrap="square" lIns="0" tIns="0" rIns="0" bIns="0" rtlCol="0" anchor="ctr"/>
          <a:lstStyle/>
          <a:p>
            <a:pPr indent="0" marL="0">
              <a:buNone/>
            </a:pPr>
            <a:r>
              <a:rPr lang="en-US" sz="800" b="1" spc="100" kern="0" dirty="0">
                <a:solidFill>
                  <a:srgbClr val="9BA2BA"/>
                </a:solidFill>
                <a:latin typeface="Calibri" pitchFamily="34" charset="0"/>
                <a:ea typeface="Calibri" pitchFamily="34" charset="-122"/>
                <a:cs typeface="Calibri" pitchFamily="34" charset="-120"/>
              </a:rPr>
              <a:t>PHASE 6</a:t>
            </a:r>
            <a:endParaRPr lang="en-US" sz="800" dirty="0"/>
          </a:p>
        </p:txBody>
      </p:sp>
      <p:sp>
        <p:nvSpPr>
          <p:cNvPr id="49" name="Text 46"/>
          <p:cNvSpPr txBox="1"/>
          <p:nvPr/>
        </p:nvSpPr>
        <p:spPr>
          <a:xfrm>
            <a:off x="9905695" y="5047488"/>
            <a:ext cx="1536192" cy="365760"/>
          </a:xfrm>
          <a:prstGeom prst="rect">
            <a:avLst/>
          </a:prstGeom>
          <a:noFill/>
          <a:ln/>
        </p:spPr>
        <p:txBody>
          <a:bodyPr wrap="square" lIns="0" tIns="0" rIns="0" bIns="0" rtlCol="0" anchor="t"/>
          <a:lstStyle/>
          <a:p>
            <a:pPr indent="0" marL="0">
              <a:buNone/>
            </a:pPr>
            <a:r>
              <a:rPr lang="en-US" sz="1300" b="1" dirty="0">
                <a:solidFill>
                  <a:srgbClr val="FAF3E7"/>
                </a:solidFill>
                <a:latin typeface="Mulish" pitchFamily="34" charset="0"/>
                <a:ea typeface="Mulish" pitchFamily="34" charset="-122"/>
                <a:cs typeface="Mulish" pitchFamily="34" charset="-120"/>
              </a:rPr>
              <a:t>Verify</a:t>
            </a:r>
            <a:endParaRPr lang="en-US" sz="1300" dirty="0"/>
          </a:p>
        </p:txBody>
      </p:sp>
      <p:sp>
        <p:nvSpPr>
          <p:cNvPr id="50" name="Shape 47"/>
          <p:cNvSpPr/>
          <p:nvPr/>
        </p:nvSpPr>
        <p:spPr>
          <a:xfrm>
            <a:off x="10893247" y="4800600"/>
            <a:ext cx="493776" cy="237744"/>
          </a:xfrm>
          <a:prstGeom prst="roundRect">
            <a:avLst>
              <a:gd name="adj" fmla="val 15385"/>
            </a:avLst>
          </a:prstGeom>
          <a:solidFill>
            <a:srgbClr val="FAF3E7"/>
          </a:solidFill>
          <a:ln w="12700">
            <a:solidFill>
              <a:srgbClr val="FAF3E7"/>
            </a:solidFill>
            <a:prstDash val="solid"/>
          </a:ln>
        </p:spPr>
      </p:sp>
      <p:sp>
        <p:nvSpPr>
          <p:cNvPr id="51" name="Text 48"/>
          <p:cNvSpPr txBox="1"/>
          <p:nvPr/>
        </p:nvSpPr>
        <p:spPr>
          <a:xfrm>
            <a:off x="10893247" y="4823460"/>
            <a:ext cx="493776" cy="192024"/>
          </a:xfrm>
          <a:prstGeom prst="rect">
            <a:avLst/>
          </a:prstGeom>
          <a:noFill/>
          <a:ln/>
        </p:spPr>
        <p:txBody>
          <a:bodyPr wrap="square" lIns="0" tIns="0" rIns="0" bIns="0" rtlCol="0" anchor="ctr"/>
          <a:lstStyle/>
          <a:p>
            <a:pPr algn="ctr" indent="0" marL="0">
              <a:buNone/>
            </a:pPr>
            <a:r>
              <a:rPr lang="en-US" sz="950" b="1" dirty="0">
                <a:solidFill>
                  <a:srgbClr val="051D60"/>
                </a:solidFill>
                <a:latin typeface="Calibri" pitchFamily="34" charset="0"/>
                <a:ea typeface="Calibri" pitchFamily="34" charset="-122"/>
                <a:cs typeface="Calibri" pitchFamily="34" charset="-120"/>
              </a:rPr>
              <a:t>G6</a:t>
            </a:r>
            <a:endParaRPr lang="en-US" sz="950" dirty="0"/>
          </a:p>
        </p:txBody>
      </p:sp>
      <p:sp>
        <p:nvSpPr>
          <p:cNvPr id="52" name="Shape 49"/>
          <p:cNvSpPr/>
          <p:nvPr/>
        </p:nvSpPr>
        <p:spPr>
          <a:xfrm>
            <a:off x="2532888" y="2514600"/>
            <a:ext cx="313868" cy="0"/>
          </a:xfrm>
          <a:prstGeom prst="line">
            <a:avLst/>
          </a:prstGeom>
          <a:noFill/>
          <a:ln w="20320">
            <a:solidFill>
              <a:srgbClr val="E4DED3"/>
            </a:solidFill>
            <a:prstDash val="solid"/>
            <a:headEnd type="none"/>
            <a:tailEnd type="triangle"/>
          </a:ln>
        </p:spPr>
      </p:sp>
      <p:sp>
        <p:nvSpPr>
          <p:cNvPr id="53" name="Shape 50"/>
          <p:cNvSpPr/>
          <p:nvPr/>
        </p:nvSpPr>
        <p:spPr>
          <a:xfrm>
            <a:off x="4803572" y="2514600"/>
            <a:ext cx="313868" cy="0"/>
          </a:xfrm>
          <a:prstGeom prst="line">
            <a:avLst/>
          </a:prstGeom>
          <a:noFill/>
          <a:ln w="20320">
            <a:solidFill>
              <a:srgbClr val="E4DED3"/>
            </a:solidFill>
            <a:prstDash val="solid"/>
            <a:headEnd type="none"/>
            <a:tailEnd type="triangle"/>
          </a:ln>
        </p:spPr>
      </p:sp>
      <p:sp>
        <p:nvSpPr>
          <p:cNvPr id="54" name="Shape 51"/>
          <p:cNvSpPr/>
          <p:nvPr/>
        </p:nvSpPr>
        <p:spPr>
          <a:xfrm>
            <a:off x="7074256" y="2514600"/>
            <a:ext cx="313868" cy="0"/>
          </a:xfrm>
          <a:prstGeom prst="line">
            <a:avLst/>
          </a:prstGeom>
          <a:noFill/>
          <a:ln w="20320">
            <a:solidFill>
              <a:srgbClr val="E4DED3"/>
            </a:solidFill>
            <a:prstDash val="solid"/>
            <a:headEnd type="none"/>
            <a:tailEnd type="triangle"/>
          </a:ln>
        </p:spPr>
      </p:sp>
      <p:sp>
        <p:nvSpPr>
          <p:cNvPr id="55" name="Shape 52"/>
          <p:cNvSpPr/>
          <p:nvPr/>
        </p:nvSpPr>
        <p:spPr>
          <a:xfrm>
            <a:off x="9344939" y="2514600"/>
            <a:ext cx="313868" cy="0"/>
          </a:xfrm>
          <a:prstGeom prst="line">
            <a:avLst/>
          </a:prstGeom>
          <a:noFill/>
          <a:ln w="20320">
            <a:solidFill>
              <a:srgbClr val="E4DED3"/>
            </a:solidFill>
            <a:prstDash val="solid"/>
            <a:headEnd type="none"/>
            <a:tailEnd type="triangle"/>
          </a:ln>
        </p:spPr>
      </p:sp>
      <p:sp>
        <p:nvSpPr>
          <p:cNvPr id="56" name="Shape 53"/>
          <p:cNvSpPr/>
          <p:nvPr/>
        </p:nvSpPr>
        <p:spPr>
          <a:xfrm>
            <a:off x="10637215" y="3017520"/>
            <a:ext cx="0" cy="1591056"/>
          </a:xfrm>
          <a:prstGeom prst="line">
            <a:avLst/>
          </a:prstGeom>
          <a:noFill/>
          <a:ln w="20320">
            <a:solidFill>
              <a:srgbClr val="E4DED3"/>
            </a:solidFill>
            <a:prstDash val="solid"/>
            <a:headEnd type="none"/>
            <a:tailEnd type="triangle"/>
          </a:ln>
        </p:spPr>
      </p:sp>
      <p:sp>
        <p:nvSpPr>
          <p:cNvPr id="57" name="Shape 54"/>
          <p:cNvSpPr/>
          <p:nvPr/>
        </p:nvSpPr>
        <p:spPr>
          <a:xfrm flipH="1">
            <a:off x="8588045" y="5111496"/>
            <a:ext cx="1070762" cy="0"/>
          </a:xfrm>
          <a:prstGeom prst="line">
            <a:avLst/>
          </a:prstGeom>
          <a:noFill/>
          <a:ln w="20320">
            <a:solidFill>
              <a:srgbClr val="E4DED3"/>
            </a:solidFill>
            <a:prstDash val="solid"/>
            <a:headEnd type="none"/>
            <a:tailEnd type="triangle"/>
          </a:ln>
        </p:spPr>
      </p:sp>
      <p:sp>
        <p:nvSpPr>
          <p:cNvPr id="58" name="Shape 55"/>
          <p:cNvSpPr/>
          <p:nvPr/>
        </p:nvSpPr>
        <p:spPr>
          <a:xfrm flipH="1">
            <a:off x="5560466" y="5111496"/>
            <a:ext cx="1070762" cy="0"/>
          </a:xfrm>
          <a:prstGeom prst="line">
            <a:avLst/>
          </a:prstGeom>
          <a:noFill/>
          <a:ln w="20320">
            <a:solidFill>
              <a:srgbClr val="E4DED3"/>
            </a:solidFill>
            <a:prstDash val="solid"/>
            <a:headEnd type="none"/>
            <a:tailEnd type="triangle"/>
          </a:ln>
        </p:spPr>
      </p:sp>
      <p:sp>
        <p:nvSpPr>
          <p:cNvPr id="59" name="Shape 56"/>
          <p:cNvSpPr/>
          <p:nvPr/>
        </p:nvSpPr>
        <p:spPr>
          <a:xfrm flipH="1">
            <a:off x="2532888" y="5111496"/>
            <a:ext cx="1070762" cy="0"/>
          </a:xfrm>
          <a:prstGeom prst="line">
            <a:avLst/>
          </a:prstGeom>
          <a:noFill/>
          <a:ln w="20320">
            <a:solidFill>
              <a:srgbClr val="E4DED3"/>
            </a:solidFill>
            <a:prstDash val="solid"/>
            <a:headEnd type="none"/>
            <a:tailEnd type="triangle"/>
          </a:ln>
        </p:spPr>
      </p:sp>
      <p:sp>
        <p:nvSpPr>
          <p:cNvPr id="60" name="Shape 57"/>
          <p:cNvSpPr/>
          <p:nvPr/>
        </p:nvSpPr>
        <p:spPr>
          <a:xfrm flipV="1">
            <a:off x="1554480" y="3017520"/>
            <a:ext cx="0" cy="1591056"/>
          </a:xfrm>
          <a:prstGeom prst="line">
            <a:avLst/>
          </a:prstGeom>
          <a:noFill/>
          <a:ln w="31750">
            <a:solidFill>
              <a:srgbClr val="FAF3E7"/>
            </a:solidFill>
            <a:prstDash val="solid"/>
            <a:headEnd type="none"/>
            <a:tailEnd type="triangle"/>
          </a:ln>
        </p:spPr>
      </p:sp>
      <p:sp>
        <p:nvSpPr>
          <p:cNvPr id="61" name="Text 58"/>
          <p:cNvSpPr txBox="1"/>
          <p:nvPr/>
        </p:nvSpPr>
        <p:spPr>
          <a:xfrm>
            <a:off x="2514600" y="3218688"/>
            <a:ext cx="7162495" cy="274320"/>
          </a:xfrm>
          <a:prstGeom prst="rect">
            <a:avLst/>
          </a:prstGeom>
          <a:noFill/>
          <a:ln/>
        </p:spPr>
        <p:txBody>
          <a:bodyPr wrap="square" lIns="0" tIns="0" rIns="0" bIns="0" rtlCol="0" anchor="ctr"/>
          <a:lstStyle/>
          <a:p>
            <a:pPr algn="ctr" indent="0" marL="0">
              <a:buNone/>
            </a:pPr>
            <a:r>
              <a:rPr lang="en-US" sz="1500" b="1" dirty="0">
                <a:solidFill>
                  <a:srgbClr val="FAF3E7"/>
                </a:solidFill>
                <a:latin typeface="Mulish" pitchFamily="34" charset="0"/>
                <a:ea typeface="Mulish" pitchFamily="34" charset="-122"/>
                <a:cs typeface="Mulish" pitchFamily="34" charset="-120"/>
              </a:rPr>
              <a:t>The loop that closes</a:t>
            </a:r>
            <a:endParaRPr lang="en-US" sz="1500" dirty="0"/>
          </a:p>
        </p:txBody>
      </p:sp>
      <p:sp>
        <p:nvSpPr>
          <p:cNvPr id="62" name="Text 59"/>
          <p:cNvSpPr txBox="1"/>
          <p:nvPr/>
        </p:nvSpPr>
        <p:spPr>
          <a:xfrm>
            <a:off x="2514600" y="3566160"/>
            <a:ext cx="7162495" cy="658368"/>
          </a:xfrm>
          <a:prstGeom prst="rect">
            <a:avLst/>
          </a:prstGeom>
          <a:noFill/>
          <a:ln/>
        </p:spPr>
        <p:txBody>
          <a:bodyPr wrap="square" lIns="0" tIns="0" rIns="0" bIns="0" rtlCol="0" anchor="ctr"/>
          <a:lstStyle/>
          <a:p>
            <a:pPr algn="ctr" indent="0" marL="0">
              <a:lnSpc>
                <a:spcPct val="120000"/>
              </a:lnSpc>
              <a:buNone/>
            </a:pPr>
            <a:r>
              <a:rPr lang="en-US" sz="1100" dirty="0">
                <a:solidFill>
                  <a:srgbClr val="E4DED3"/>
                </a:solidFill>
                <a:latin typeface="Calibri" pitchFamily="34" charset="0"/>
                <a:ea typeface="Calibri" pitchFamily="34" charset="-122"/>
                <a:cs typeface="Calibri" pitchFamily="34" charset="-120"/>
              </a:rPr>
              <a:t>archive folds the delta spec into specs/ and writes an insight stub. Every INSIGHT-### routes to exactly one destination:</a:t>
            </a:r>
            <a:endParaRPr lang="en-US" sz="1100" dirty="0"/>
          </a:p>
          <a:p>
            <a:pPr algn="ctr" indent="0" marL="0">
              <a:lnSpc>
                <a:spcPct val="120000"/>
              </a:lnSpc>
              <a:buNone/>
            </a:pPr>
            <a:r>
              <a:rPr lang="en-US" sz="1100" dirty="0">
                <a:solidFill>
                  <a:srgbClr val="E4DED3"/>
                </a:solidFill>
                <a:latin typeface="Calibri" pitchFamily="34" charset="0"/>
                <a:ea typeface="Calibri" pitchFamily="34" charset="-122"/>
                <a:cs typeface="Calibri" pitchFamily="34" charset="-120"/>
              </a:rPr>
              <a:t>a candidate REQ-### in the product backlog, or a pull request against the navi-skill-* file that got it wrong.</a:t>
            </a:r>
            <a:endParaRPr lang="en-US" sz="1100" dirty="0"/>
          </a:p>
        </p:txBody>
      </p:sp>
      <p:sp>
        <p:nvSpPr>
          <p:cNvPr id="63" name="Text 60"/>
          <p:cNvSpPr txBox="1"/>
          <p:nvPr/>
        </p:nvSpPr>
        <p:spPr>
          <a:xfrm>
            <a:off x="2514600" y="4224528"/>
            <a:ext cx="7162495" cy="256032"/>
          </a:xfrm>
          <a:prstGeom prst="rect">
            <a:avLst/>
          </a:prstGeom>
          <a:noFill/>
          <a:ln/>
        </p:spPr>
        <p:txBody>
          <a:bodyPr wrap="square" lIns="0" tIns="0" rIns="0" bIns="0" rtlCol="0" anchor="ctr"/>
          <a:lstStyle/>
          <a:p>
            <a:pPr algn="ctr" indent="0" marL="0">
              <a:buNone/>
            </a:pPr>
            <a:r>
              <a:rPr lang="en-US" sz="1050" i="1" dirty="0">
                <a:solidFill>
                  <a:srgbClr val="9BA2BA"/>
                </a:solidFill>
                <a:latin typeface="Calibri" pitchFamily="34" charset="0"/>
                <a:ea typeface="Calibri" pitchFamily="34" charset="-122"/>
                <a:cs typeface="Calibri" pitchFamily="34" charset="-120"/>
              </a:rPr>
              <a:t>An insight with no destination closes no loop, and is not an insight.</a:t>
            </a:r>
            <a:endParaRPr lang="en-US" sz="1050" dirty="0"/>
          </a:p>
        </p:txBody>
      </p:sp>
      <p:sp>
        <p:nvSpPr>
          <p:cNvPr id="64" name="Shape 61"/>
          <p:cNvSpPr/>
          <p:nvPr/>
        </p:nvSpPr>
        <p:spPr>
          <a:xfrm>
            <a:off x="777240" y="3639312"/>
            <a:ext cx="1554480" cy="694944"/>
          </a:xfrm>
          <a:prstGeom prst="roundRect">
            <a:avLst>
              <a:gd name="adj" fmla="val 6579"/>
            </a:avLst>
          </a:prstGeom>
          <a:solidFill>
            <a:srgbClr val="051D60"/>
          </a:solidFill>
          <a:ln w="12700">
            <a:solidFill>
              <a:srgbClr val="051D60"/>
            </a:solidFill>
            <a:prstDash val="solid"/>
          </a:ln>
        </p:spPr>
      </p:sp>
      <p:sp>
        <p:nvSpPr>
          <p:cNvPr id="65" name="Text 62"/>
          <p:cNvSpPr txBox="1"/>
          <p:nvPr/>
        </p:nvSpPr>
        <p:spPr>
          <a:xfrm>
            <a:off x="777240" y="3730752"/>
            <a:ext cx="1554480" cy="237744"/>
          </a:xfrm>
          <a:prstGeom prst="rect">
            <a:avLst/>
          </a:prstGeom>
          <a:noFill/>
          <a:ln/>
        </p:spPr>
        <p:txBody>
          <a:bodyPr wrap="square" lIns="0" tIns="0" rIns="0" bIns="0" rtlCol="0" anchor="ctr"/>
          <a:lstStyle/>
          <a:p>
            <a:pPr algn="ctr" indent="0" marL="0">
              <a:buNone/>
            </a:pPr>
            <a:r>
              <a:rPr lang="en-US" sz="1000" b="1" dirty="0">
                <a:solidFill>
                  <a:srgbClr val="FAF3E7"/>
                </a:solidFill>
                <a:latin typeface="Calibri" pitchFamily="34" charset="0"/>
                <a:ea typeface="Calibri" pitchFamily="34" charset="-122"/>
                <a:cs typeface="Calibri" pitchFamily="34" charset="-120"/>
              </a:rPr>
              <a:t>INSIGHT-###</a:t>
            </a:r>
            <a:endParaRPr lang="en-US" sz="1000" dirty="0"/>
          </a:p>
        </p:txBody>
      </p:sp>
      <p:sp>
        <p:nvSpPr>
          <p:cNvPr id="66" name="Text 63"/>
          <p:cNvSpPr txBox="1"/>
          <p:nvPr/>
        </p:nvSpPr>
        <p:spPr>
          <a:xfrm>
            <a:off x="731520" y="3986784"/>
            <a:ext cx="1645920" cy="256032"/>
          </a:xfrm>
          <a:prstGeom prst="rect">
            <a:avLst/>
          </a:prstGeom>
          <a:noFill/>
          <a:ln/>
        </p:spPr>
        <p:txBody>
          <a:bodyPr wrap="square" lIns="0" tIns="0" rIns="0" bIns="0" rtlCol="0" anchor="ctr"/>
          <a:lstStyle/>
          <a:p>
            <a:pPr algn="ctr" indent="0" marL="0">
              <a:buNone/>
            </a:pPr>
            <a:r>
              <a:rPr lang="en-US" sz="800" dirty="0">
                <a:solidFill>
                  <a:srgbClr val="E4DED3"/>
                </a:solidFill>
                <a:latin typeface="Calibri" pitchFamily="34" charset="0"/>
                <a:ea typeface="Calibri" pitchFamily="34" charset="-122"/>
                <a:cs typeface="Calibri" pitchFamily="34" charset="-120"/>
              </a:rPr>
              <a:t>backlog  ·  skill amendment</a:t>
            </a:r>
            <a:endParaRPr lang="en-US" sz="800" dirty="0"/>
          </a:p>
        </p:txBody>
      </p:sp>
      <p:sp>
        <p:nvSpPr>
          <p:cNvPr id="67" name="Text 64"/>
          <p:cNvSpPr txBox="1"/>
          <p:nvPr/>
        </p:nvSpPr>
        <p:spPr>
          <a:xfrm>
            <a:off x="640080" y="6035040"/>
            <a:ext cx="10911535" cy="274320"/>
          </a:xfrm>
          <a:prstGeom prst="rect">
            <a:avLst/>
          </a:prstGeom>
          <a:noFill/>
          <a:ln/>
        </p:spPr>
        <p:txBody>
          <a:bodyPr wrap="square" lIns="0" tIns="0" rIns="0" bIns="0" rtlCol="0" anchor="ctr"/>
          <a:lstStyle/>
          <a:p>
            <a:pPr indent="0" marL="0">
              <a:buNone/>
            </a:pPr>
            <a:r>
              <a:rPr lang="en-US" sz="1100" i="1" dirty="0">
                <a:solidFill>
                  <a:srgbClr val="9BA2BA"/>
                </a:solidFill>
                <a:latin typeface="Calibri" pitchFamily="34" charset="0"/>
                <a:ea typeface="Calibri" pitchFamily="34" charset="-122"/>
                <a:cs typeface="Calibri" pitchFamily="34" charset="-120"/>
              </a:rPr>
              <a:t>A phase that emits no telemetry did not happen. A gate whose verdict was never recorded was never passed.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THE NINE GATES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Each gate closes a phase, and needs a path on disk</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 verdict is one of exactly three values — pass, fail, waived. There is no conditional pass and no pass with follow-ups.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8 / 19</a:t>
            </a:r>
            <a:endParaRPr lang="en-US" sz="850" dirty="0"/>
          </a:p>
        </p:txBody>
      </p:sp>
      <p:sp>
        <p:nvSpPr>
          <p:cNvPr id="7" name="Text 4"/>
          <p:cNvSpPr txBox="1"/>
          <p:nvPr/>
        </p:nvSpPr>
        <p:spPr>
          <a:xfrm>
            <a:off x="731520" y="1847088"/>
            <a:ext cx="658368"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GATE</a:t>
            </a:r>
            <a:endParaRPr lang="en-US" sz="850" dirty="0"/>
          </a:p>
        </p:txBody>
      </p:sp>
      <p:sp>
        <p:nvSpPr>
          <p:cNvPr id="8" name="Text 5"/>
          <p:cNvSpPr txBox="1"/>
          <p:nvPr/>
        </p:nvSpPr>
        <p:spPr>
          <a:xfrm>
            <a:off x="1389888" y="1847088"/>
            <a:ext cx="1298448"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CLOSES</a:t>
            </a:r>
            <a:endParaRPr lang="en-US" sz="850" dirty="0"/>
          </a:p>
        </p:txBody>
      </p:sp>
      <p:sp>
        <p:nvSpPr>
          <p:cNvPr id="9" name="Text 6"/>
          <p:cNvSpPr txBox="1"/>
          <p:nvPr/>
        </p:nvSpPr>
        <p:spPr>
          <a:xfrm>
            <a:off x="2688336" y="1847088"/>
            <a:ext cx="457200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EXIT CRITERIA, IN SHORT</a:t>
            </a:r>
            <a:endParaRPr lang="en-US" sz="850" dirty="0"/>
          </a:p>
        </p:txBody>
      </p:sp>
      <p:sp>
        <p:nvSpPr>
          <p:cNvPr id="10" name="Text 7"/>
          <p:cNvSpPr txBox="1"/>
          <p:nvPr/>
        </p:nvSpPr>
        <p:spPr>
          <a:xfrm>
            <a:off x="8671255" y="1847088"/>
            <a:ext cx="28803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EVIDENCE</a:t>
            </a:r>
            <a:endParaRPr lang="en-US" sz="850" dirty="0"/>
          </a:p>
        </p:txBody>
      </p:sp>
      <p:sp>
        <p:nvSpPr>
          <p:cNvPr id="11" name="Shape 8"/>
          <p:cNvSpPr/>
          <p:nvPr/>
        </p:nvSpPr>
        <p:spPr>
          <a:xfrm>
            <a:off x="640080" y="2093976"/>
            <a:ext cx="10911535" cy="376733"/>
          </a:xfrm>
          <a:prstGeom prst="roundRect">
            <a:avLst>
              <a:gd name="adj" fmla="val 9709"/>
            </a:avLst>
          </a:prstGeom>
          <a:solidFill>
            <a:srgbClr val="FFFFFF"/>
          </a:solidFill>
          <a:ln w="12700">
            <a:solidFill>
              <a:srgbClr val="FFFFFF"/>
            </a:solidFill>
            <a:prstDash val="solid"/>
          </a:ln>
        </p:spPr>
      </p:sp>
      <p:sp>
        <p:nvSpPr>
          <p:cNvPr id="12" name="Text 9"/>
          <p:cNvSpPr txBox="1"/>
          <p:nvPr/>
        </p:nvSpPr>
        <p:spPr>
          <a:xfrm>
            <a:off x="731520" y="2176272"/>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G1</a:t>
            </a:r>
            <a:endParaRPr lang="en-US" sz="1300" dirty="0"/>
          </a:p>
        </p:txBody>
      </p:sp>
      <p:sp>
        <p:nvSpPr>
          <p:cNvPr id="13" name="Text 10"/>
          <p:cNvSpPr txBox="1"/>
          <p:nvPr/>
        </p:nvSpPr>
        <p:spPr>
          <a:xfrm>
            <a:off x="1389888" y="2203704"/>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Plan</a:t>
            </a:r>
            <a:endParaRPr lang="en-US" sz="1100" dirty="0"/>
          </a:p>
        </p:txBody>
      </p:sp>
      <p:sp>
        <p:nvSpPr>
          <p:cNvPr id="14" name="Text 11"/>
          <p:cNvSpPr txBox="1"/>
          <p:nvPr/>
        </p:nvSpPr>
        <p:spPr>
          <a:xfrm>
            <a:off x="2688336" y="2167128"/>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Lane declared and justified; at least one measurable outcome; non-goals a reader would otherwise assume</a:t>
            </a:r>
            <a:endParaRPr lang="en-US" sz="950" dirty="0"/>
          </a:p>
        </p:txBody>
      </p:sp>
      <p:sp>
        <p:nvSpPr>
          <p:cNvPr id="15" name="Text 12"/>
          <p:cNvSpPr txBox="1"/>
          <p:nvPr/>
        </p:nvSpPr>
        <p:spPr>
          <a:xfrm>
            <a:off x="8671255" y="2194560"/>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proposal.md</a:t>
            </a:r>
            <a:endParaRPr lang="en-US" sz="950" dirty="0"/>
          </a:p>
        </p:txBody>
      </p:sp>
      <p:sp>
        <p:nvSpPr>
          <p:cNvPr id="16" name="Text 13"/>
          <p:cNvSpPr txBox="1"/>
          <p:nvPr/>
        </p:nvSpPr>
        <p:spPr>
          <a:xfrm>
            <a:off x="731520" y="2589581"/>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G2</a:t>
            </a:r>
            <a:endParaRPr lang="en-US" sz="1300" dirty="0"/>
          </a:p>
        </p:txBody>
      </p:sp>
      <p:sp>
        <p:nvSpPr>
          <p:cNvPr id="17" name="Text 14"/>
          <p:cNvSpPr txBox="1"/>
          <p:nvPr/>
        </p:nvSpPr>
        <p:spPr>
          <a:xfrm>
            <a:off x="1389888" y="2617013"/>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Specify</a:t>
            </a:r>
            <a:endParaRPr lang="en-US" sz="1100" dirty="0"/>
          </a:p>
        </p:txBody>
      </p:sp>
      <p:sp>
        <p:nvSpPr>
          <p:cNvPr id="18" name="Text 15"/>
          <p:cNvSpPr txBox="1"/>
          <p:nvPr/>
        </p:nvSpPr>
        <p:spPr>
          <a:xfrm>
            <a:off x="2688336" y="2580437"/>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Every REQ-### carries an AC-###; Given/When/Then with an observable outcome; open questions as Q-###</a:t>
            </a:r>
            <a:endParaRPr lang="en-US" sz="950" dirty="0"/>
          </a:p>
        </p:txBody>
      </p:sp>
      <p:sp>
        <p:nvSpPr>
          <p:cNvPr id="19" name="Text 16"/>
          <p:cNvSpPr txBox="1"/>
          <p:nvPr/>
        </p:nvSpPr>
        <p:spPr>
          <a:xfrm>
            <a:off x="8671255" y="2607869"/>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delta spec · traceability output</a:t>
            </a:r>
            <a:endParaRPr lang="en-US" sz="950" dirty="0"/>
          </a:p>
        </p:txBody>
      </p:sp>
      <p:sp>
        <p:nvSpPr>
          <p:cNvPr id="20" name="Shape 17"/>
          <p:cNvSpPr/>
          <p:nvPr/>
        </p:nvSpPr>
        <p:spPr>
          <a:xfrm>
            <a:off x="640080" y="2920594"/>
            <a:ext cx="10911535" cy="376733"/>
          </a:xfrm>
          <a:prstGeom prst="roundRect">
            <a:avLst>
              <a:gd name="adj" fmla="val 9709"/>
            </a:avLst>
          </a:prstGeom>
          <a:solidFill>
            <a:srgbClr val="FFFFFF"/>
          </a:solidFill>
          <a:ln w="12700">
            <a:solidFill>
              <a:srgbClr val="FFFFFF"/>
            </a:solidFill>
            <a:prstDash val="solid"/>
          </a:ln>
        </p:spPr>
      </p:sp>
      <p:sp>
        <p:nvSpPr>
          <p:cNvPr id="21" name="Text 18"/>
          <p:cNvSpPr txBox="1"/>
          <p:nvPr/>
        </p:nvSpPr>
        <p:spPr>
          <a:xfrm>
            <a:off x="731520" y="3002890"/>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G3</a:t>
            </a:r>
            <a:endParaRPr lang="en-US" sz="1300" dirty="0"/>
          </a:p>
        </p:txBody>
      </p:sp>
      <p:sp>
        <p:nvSpPr>
          <p:cNvPr id="22" name="Text 19"/>
          <p:cNvSpPr txBox="1"/>
          <p:nvPr/>
        </p:nvSpPr>
        <p:spPr>
          <a:xfrm>
            <a:off x="1389888" y="3030322"/>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Architect</a:t>
            </a:r>
            <a:endParaRPr lang="en-US" sz="1100" dirty="0"/>
          </a:p>
        </p:txBody>
      </p:sp>
      <p:sp>
        <p:nvSpPr>
          <p:cNvPr id="23" name="Text 20"/>
          <p:cNvSpPr txBox="1"/>
          <p:nvPr/>
        </p:nvSpPr>
        <p:spPr>
          <a:xfrm>
            <a:off x="2688336" y="2993746"/>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Alternatives rejected; an ADR-### per consequential decision; a threat model with every threat dispositioned</a:t>
            </a:r>
            <a:endParaRPr lang="en-US" sz="950" dirty="0"/>
          </a:p>
        </p:txBody>
      </p:sp>
      <p:sp>
        <p:nvSpPr>
          <p:cNvPr id="24" name="Text 21"/>
          <p:cNvSpPr txBox="1"/>
          <p:nvPr/>
        </p:nvSpPr>
        <p:spPr>
          <a:xfrm>
            <a:off x="8671255" y="3021178"/>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design.md · ADRs · threat model</a:t>
            </a:r>
            <a:endParaRPr lang="en-US" sz="950" dirty="0"/>
          </a:p>
        </p:txBody>
      </p:sp>
      <p:sp>
        <p:nvSpPr>
          <p:cNvPr id="25" name="Text 22"/>
          <p:cNvSpPr txBox="1"/>
          <p:nvPr/>
        </p:nvSpPr>
        <p:spPr>
          <a:xfrm>
            <a:off x="731520" y="3416198"/>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G4</a:t>
            </a:r>
            <a:endParaRPr lang="en-US" sz="1300" dirty="0"/>
          </a:p>
        </p:txBody>
      </p:sp>
      <p:sp>
        <p:nvSpPr>
          <p:cNvPr id="26" name="Text 23"/>
          <p:cNvSpPr txBox="1"/>
          <p:nvPr/>
        </p:nvSpPr>
        <p:spPr>
          <a:xfrm>
            <a:off x="1389888" y="3443630"/>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Data &amp; Model</a:t>
            </a:r>
            <a:endParaRPr lang="en-US" sz="1100" dirty="0"/>
          </a:p>
        </p:txBody>
      </p:sp>
      <p:sp>
        <p:nvSpPr>
          <p:cNvPr id="27" name="Text 24"/>
          <p:cNvSpPr txBox="1"/>
          <p:nvPr/>
        </p:nvSpPr>
        <p:spPr>
          <a:xfrm>
            <a:off x="2688336" y="3407054"/>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 contract per source dataset; lineage; a leakage-checked eval set tied to the proposal's outcome; PII classified</a:t>
            </a:r>
            <a:endParaRPr lang="en-US" sz="950" dirty="0"/>
          </a:p>
        </p:txBody>
      </p:sp>
      <p:sp>
        <p:nvSpPr>
          <p:cNvPr id="28" name="Text 25"/>
          <p:cNvSpPr txBox="1"/>
          <p:nvPr/>
        </p:nvSpPr>
        <p:spPr>
          <a:xfrm>
            <a:off x="8671255" y="3434486"/>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contracts · lineage · baseline report</a:t>
            </a:r>
            <a:endParaRPr lang="en-US" sz="950" dirty="0"/>
          </a:p>
        </p:txBody>
      </p:sp>
      <p:sp>
        <p:nvSpPr>
          <p:cNvPr id="29" name="Shape 26"/>
          <p:cNvSpPr/>
          <p:nvPr/>
        </p:nvSpPr>
        <p:spPr>
          <a:xfrm>
            <a:off x="640080" y="3747211"/>
            <a:ext cx="10911535" cy="376733"/>
          </a:xfrm>
          <a:prstGeom prst="roundRect">
            <a:avLst>
              <a:gd name="adj" fmla="val 9709"/>
            </a:avLst>
          </a:prstGeom>
          <a:solidFill>
            <a:srgbClr val="FFFFFF"/>
          </a:solidFill>
          <a:ln w="12700">
            <a:solidFill>
              <a:srgbClr val="FFFFFF"/>
            </a:solidFill>
            <a:prstDash val="solid"/>
          </a:ln>
        </p:spPr>
      </p:sp>
      <p:sp>
        <p:nvSpPr>
          <p:cNvPr id="30" name="Text 27"/>
          <p:cNvSpPr txBox="1"/>
          <p:nvPr/>
        </p:nvSpPr>
        <p:spPr>
          <a:xfrm>
            <a:off x="731520" y="3829507"/>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G5</a:t>
            </a:r>
            <a:endParaRPr lang="en-US" sz="1300" dirty="0"/>
          </a:p>
        </p:txBody>
      </p:sp>
      <p:sp>
        <p:nvSpPr>
          <p:cNvPr id="31" name="Text 28"/>
          <p:cNvSpPr txBox="1"/>
          <p:nvPr/>
        </p:nvSpPr>
        <p:spPr>
          <a:xfrm>
            <a:off x="1389888" y="3856939"/>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Build</a:t>
            </a:r>
            <a:endParaRPr lang="en-US" sz="1100" dirty="0"/>
          </a:p>
        </p:txBody>
      </p:sp>
      <p:sp>
        <p:nvSpPr>
          <p:cNvPr id="32" name="Text 29"/>
          <p:cNvSpPr txBox="1"/>
          <p:nvPr/>
        </p:nvSpPr>
        <p:spPr>
          <a:xfrm>
            <a:off x="2688336" y="3820363"/>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Every task done or explicitly deferred; every AC referenced by an automated test; review complete</a:t>
            </a:r>
            <a:endParaRPr lang="en-US" sz="950" dirty="0"/>
          </a:p>
        </p:txBody>
      </p:sp>
      <p:sp>
        <p:nvSpPr>
          <p:cNvPr id="33" name="Text 30"/>
          <p:cNvSpPr txBox="1"/>
          <p:nvPr/>
        </p:nvSpPr>
        <p:spPr>
          <a:xfrm>
            <a:off x="8671255" y="3847795"/>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build output · traceability · review record</a:t>
            </a:r>
            <a:endParaRPr lang="en-US" sz="950" dirty="0"/>
          </a:p>
        </p:txBody>
      </p:sp>
      <p:sp>
        <p:nvSpPr>
          <p:cNvPr id="34" name="Text 31"/>
          <p:cNvSpPr txBox="1"/>
          <p:nvPr/>
        </p:nvSpPr>
        <p:spPr>
          <a:xfrm>
            <a:off x="731520" y="4242816"/>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G6</a:t>
            </a:r>
            <a:endParaRPr lang="en-US" sz="1300" dirty="0"/>
          </a:p>
        </p:txBody>
      </p:sp>
      <p:sp>
        <p:nvSpPr>
          <p:cNvPr id="35" name="Text 32"/>
          <p:cNvSpPr txBox="1"/>
          <p:nvPr/>
        </p:nvSpPr>
        <p:spPr>
          <a:xfrm>
            <a:off x="1389888" y="4270248"/>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Verify</a:t>
            </a:r>
            <a:endParaRPr lang="en-US" sz="1100" dirty="0"/>
          </a:p>
        </p:txBody>
      </p:sp>
      <p:sp>
        <p:nvSpPr>
          <p:cNvPr id="36" name="Text 33"/>
          <p:cNvSpPr txBox="1"/>
          <p:nvPr/>
        </p:nvSpPr>
        <p:spPr>
          <a:xfrm>
            <a:off x="2688336" y="4233672"/>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Negative and empty-state paths, not only the happy path; flaky tests quarantined with an owner and a date</a:t>
            </a:r>
            <a:endParaRPr lang="en-US" sz="950" dirty="0"/>
          </a:p>
        </p:txBody>
      </p:sp>
      <p:sp>
        <p:nvSpPr>
          <p:cNvPr id="37" name="Text 34"/>
          <p:cNvSpPr txBox="1"/>
          <p:nvPr/>
        </p:nvSpPr>
        <p:spPr>
          <a:xfrm>
            <a:off x="8671255" y="4261104"/>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test report · defect list · security record</a:t>
            </a:r>
            <a:endParaRPr lang="en-US" sz="950" dirty="0"/>
          </a:p>
        </p:txBody>
      </p:sp>
      <p:sp>
        <p:nvSpPr>
          <p:cNvPr id="38" name="Shape 35"/>
          <p:cNvSpPr/>
          <p:nvPr/>
        </p:nvSpPr>
        <p:spPr>
          <a:xfrm>
            <a:off x="640080" y="4573829"/>
            <a:ext cx="10911535" cy="376733"/>
          </a:xfrm>
          <a:prstGeom prst="roundRect">
            <a:avLst>
              <a:gd name="adj" fmla="val 9709"/>
            </a:avLst>
          </a:prstGeom>
          <a:solidFill>
            <a:srgbClr val="FFFFFF"/>
          </a:solidFill>
          <a:ln w="12700">
            <a:solidFill>
              <a:srgbClr val="FFFFFF"/>
            </a:solidFill>
            <a:prstDash val="solid"/>
          </a:ln>
        </p:spPr>
      </p:sp>
      <p:sp>
        <p:nvSpPr>
          <p:cNvPr id="39" name="Text 36"/>
          <p:cNvSpPr txBox="1"/>
          <p:nvPr/>
        </p:nvSpPr>
        <p:spPr>
          <a:xfrm>
            <a:off x="731520" y="4656125"/>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G7</a:t>
            </a:r>
            <a:endParaRPr lang="en-US" sz="1300" dirty="0"/>
          </a:p>
        </p:txBody>
      </p:sp>
      <p:sp>
        <p:nvSpPr>
          <p:cNvPr id="40" name="Text 37"/>
          <p:cNvSpPr txBox="1"/>
          <p:nvPr/>
        </p:nvSpPr>
        <p:spPr>
          <a:xfrm>
            <a:off x="1389888" y="4683557"/>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Release</a:t>
            </a:r>
            <a:endParaRPr lang="en-US" sz="1100" dirty="0"/>
          </a:p>
        </p:txBody>
      </p:sp>
      <p:sp>
        <p:nvSpPr>
          <p:cNvPr id="41" name="Text 38"/>
          <p:cNvSpPr txBox="1"/>
          <p:nvPr/>
        </p:nvSpPr>
        <p:spPr>
          <a:xfrm>
            <a:off x="2688336" y="4646981"/>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 rollback path that has been exercised, with a known time-to-restore; blast radius stated in people</a:t>
            </a:r>
            <a:endParaRPr lang="en-US" sz="950" dirty="0"/>
          </a:p>
        </p:txBody>
      </p:sp>
      <p:sp>
        <p:nvSpPr>
          <p:cNvPr id="42" name="Text 39"/>
          <p:cNvSpPr txBox="1"/>
          <p:nvPr/>
        </p:nvSpPr>
        <p:spPr>
          <a:xfrm>
            <a:off x="8671255" y="4674413"/>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pipeline run · rollback rehearsal · approval</a:t>
            </a:r>
            <a:endParaRPr lang="en-US" sz="950" dirty="0"/>
          </a:p>
        </p:txBody>
      </p:sp>
      <p:sp>
        <p:nvSpPr>
          <p:cNvPr id="43" name="Text 40"/>
          <p:cNvSpPr txBox="1"/>
          <p:nvPr/>
        </p:nvSpPr>
        <p:spPr>
          <a:xfrm>
            <a:off x="731520" y="5069434"/>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G8</a:t>
            </a:r>
            <a:endParaRPr lang="en-US" sz="1300" dirty="0"/>
          </a:p>
        </p:txBody>
      </p:sp>
      <p:sp>
        <p:nvSpPr>
          <p:cNvPr id="44" name="Text 41"/>
          <p:cNvSpPr txBox="1"/>
          <p:nvPr/>
        </p:nvSpPr>
        <p:spPr>
          <a:xfrm>
            <a:off x="1389888" y="5096866"/>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Operate</a:t>
            </a:r>
            <a:endParaRPr lang="en-US" sz="1100" dirty="0"/>
          </a:p>
        </p:txBody>
      </p:sp>
      <p:sp>
        <p:nvSpPr>
          <p:cNvPr id="45" name="Text 42"/>
          <p:cNvSpPr txBox="1"/>
          <p:nvPr/>
        </p:nvSpPr>
        <p:spPr>
          <a:xfrm>
            <a:off x="2688336" y="5060290"/>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An SLI-### per shipped capability, with an error budget and an alert that fires before it burns; telemetry confirmed arriving</a:t>
            </a:r>
            <a:endParaRPr lang="en-US" sz="950" dirty="0"/>
          </a:p>
        </p:txBody>
      </p:sp>
      <p:sp>
        <p:nvSpPr>
          <p:cNvPr id="46" name="Text 43"/>
          <p:cNvSpPr txBox="1"/>
          <p:nvPr/>
        </p:nvSpPr>
        <p:spPr>
          <a:xfrm>
            <a:off x="8671255" y="5087722"/>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ops/slo.md · runbooks · a live query</a:t>
            </a:r>
            <a:endParaRPr lang="en-US" sz="950" dirty="0"/>
          </a:p>
        </p:txBody>
      </p:sp>
      <p:sp>
        <p:nvSpPr>
          <p:cNvPr id="47" name="Shape 44"/>
          <p:cNvSpPr/>
          <p:nvPr/>
        </p:nvSpPr>
        <p:spPr>
          <a:xfrm>
            <a:off x="640080" y="5400446"/>
            <a:ext cx="10911535" cy="376733"/>
          </a:xfrm>
          <a:prstGeom prst="roundRect">
            <a:avLst>
              <a:gd name="adj" fmla="val 9709"/>
            </a:avLst>
          </a:prstGeom>
          <a:solidFill>
            <a:srgbClr val="FFFFFF"/>
          </a:solidFill>
          <a:ln w="12700">
            <a:solidFill>
              <a:srgbClr val="FFFFFF"/>
            </a:solidFill>
            <a:prstDash val="solid"/>
          </a:ln>
        </p:spPr>
      </p:sp>
      <p:sp>
        <p:nvSpPr>
          <p:cNvPr id="48" name="Text 45"/>
          <p:cNvSpPr txBox="1"/>
          <p:nvPr/>
        </p:nvSpPr>
        <p:spPr>
          <a:xfrm>
            <a:off x="731520" y="5482742"/>
            <a:ext cx="658368" cy="274320"/>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G9</a:t>
            </a:r>
            <a:endParaRPr lang="en-US" sz="1300" dirty="0"/>
          </a:p>
        </p:txBody>
      </p:sp>
      <p:sp>
        <p:nvSpPr>
          <p:cNvPr id="49" name="Text 46"/>
          <p:cNvSpPr txBox="1"/>
          <p:nvPr/>
        </p:nvSpPr>
        <p:spPr>
          <a:xfrm>
            <a:off x="1389888" y="5510174"/>
            <a:ext cx="1298448" cy="274320"/>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Learn</a:t>
            </a:r>
            <a:endParaRPr lang="en-US" sz="1100" dirty="0"/>
          </a:p>
        </p:txBody>
      </p:sp>
      <p:sp>
        <p:nvSpPr>
          <p:cNvPr id="50" name="Text 47"/>
          <p:cNvSpPr txBox="1"/>
          <p:nvPr/>
        </p:nvSpPr>
        <p:spPr>
          <a:xfrm>
            <a:off x="2688336" y="5473598"/>
            <a:ext cx="5800039" cy="347472"/>
          </a:xfrm>
          <a:prstGeom prst="rect">
            <a:avLst/>
          </a:prstGeom>
          <a:noFill/>
          <a:ln/>
        </p:spPr>
        <p:txBody>
          <a:bodyPr wrap="square" lIns="0" tIns="0" rIns="0" bIns="0" rtlCol="0" anchor="ctr"/>
          <a:lstStyle/>
          <a:p>
            <a:pPr indent="0" marL="0">
              <a:lnSpc>
                <a:spcPct val="105000"/>
              </a:lnSpc>
              <a:buNone/>
            </a:pPr>
            <a:r>
              <a:rPr lang="en-US" sz="950" dirty="0">
                <a:solidFill>
                  <a:srgbClr val="5F6476"/>
                </a:solidFill>
                <a:latin typeface="Calibri" pitchFamily="34" charset="0"/>
                <a:ea typeface="Calibri" pitchFamily="34" charset="-122"/>
                <a:cs typeface="Calibri" pitchFamily="34" charset="-120"/>
              </a:rPr>
              <a:t>Predicted outcome against measured, with the gap named; every INSIGHT-### routed to exactly one destination</a:t>
            </a:r>
            <a:endParaRPr lang="en-US" sz="950" dirty="0"/>
          </a:p>
        </p:txBody>
      </p:sp>
      <p:sp>
        <p:nvSpPr>
          <p:cNvPr id="51" name="Text 48"/>
          <p:cNvSpPr txBox="1"/>
          <p:nvPr/>
        </p:nvSpPr>
        <p:spPr>
          <a:xfrm>
            <a:off x="8671255" y="5501030"/>
            <a:ext cx="2788920" cy="310896"/>
          </a:xfrm>
          <a:prstGeom prst="rect">
            <a:avLst/>
          </a:prstGeom>
          <a:noFill/>
          <a:ln/>
        </p:spPr>
        <p:txBody>
          <a:bodyPr wrap="square" lIns="0" tIns="0" rIns="0" bIns="0" rtlCol="0" anchor="ctr"/>
          <a:lstStyle/>
          <a:p>
            <a:pPr indent="0" marL="0">
              <a:buNone/>
            </a:pPr>
            <a:r>
              <a:rPr lang="en-US" sz="950" i="1" dirty="0">
                <a:solidFill>
                  <a:srgbClr val="7A7263"/>
                </a:solidFill>
                <a:latin typeface="Calibri" pitchFamily="34" charset="0"/>
                <a:ea typeface="Calibri" pitchFamily="34" charset="-122"/>
                <a:cs typeface="Calibri" pitchFamily="34" charset="-120"/>
              </a:rPr>
              <a:t>ops/postmortems/&lt;name&gt;.md</a:t>
            </a:r>
            <a:endParaRPr lang="en-US" sz="950" dirty="0"/>
          </a:p>
        </p:txBody>
      </p:sp>
      <p:sp>
        <p:nvSpPr>
          <p:cNvPr id="52" name="Text 49"/>
          <p:cNvSpPr txBox="1"/>
          <p:nvPr/>
        </p:nvSpPr>
        <p:spPr>
          <a:xfrm>
            <a:off x="640080" y="5961888"/>
            <a:ext cx="10911535" cy="274320"/>
          </a:xfrm>
          <a:prstGeom prst="rect">
            <a:avLst/>
          </a:prstGeom>
          <a:noFill/>
          <a:ln/>
        </p:spPr>
        <p:txBody>
          <a:bodyPr wrap="square" lIns="0" tIns="0" rIns="0" bIns="0" rtlCol="0" anchor="ctr"/>
          <a:lstStyle/>
          <a:p>
            <a:pPr indent="0" marL="0">
              <a:buNone/>
            </a:pPr>
            <a:r>
              <a:rPr lang="en-US" sz="1050" dirty="0">
                <a:solidFill>
                  <a:srgbClr val="051D60"/>
                </a:solidFill>
                <a:latin typeface="Calibri" pitchFamily="34" charset="0"/>
                <a:ea typeface="Calibri" pitchFamily="34" charset="-122"/>
                <a:cs typeface="Calibri" pitchFamily="34" charset="-120"/>
              </a:rPr>
              <a:t>Skipped ≠ waived.  A gate outside the lane is refused outright and recorded nowhere. A gate inside it that cannot be met is waived — with a reason and a real future date.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DIAGRAM · PROPORTIONALITY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Four lanes — each one a subset of the nine gates</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Forcing nine gates onto a flag flip guarantees the next flag flip goes around the framework. express is a slice of full, not a different process.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9 / 19</a:t>
            </a:r>
            <a:endParaRPr lang="en-US" sz="850" dirty="0"/>
          </a:p>
        </p:txBody>
      </p:sp>
      <p:sp>
        <p:nvSpPr>
          <p:cNvPr id="7" name="Text 4"/>
          <p:cNvSpPr txBox="1"/>
          <p:nvPr/>
        </p:nvSpPr>
        <p:spPr>
          <a:xfrm>
            <a:off x="2468880"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G1</a:t>
            </a:r>
            <a:endParaRPr lang="en-US" sz="950" dirty="0"/>
          </a:p>
        </p:txBody>
      </p:sp>
      <p:sp>
        <p:nvSpPr>
          <p:cNvPr id="8" name="Text 5"/>
          <p:cNvSpPr txBox="1"/>
          <p:nvPr/>
        </p:nvSpPr>
        <p:spPr>
          <a:xfrm>
            <a:off x="3374136"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G2</a:t>
            </a:r>
            <a:endParaRPr lang="en-US" sz="950" dirty="0"/>
          </a:p>
        </p:txBody>
      </p:sp>
      <p:sp>
        <p:nvSpPr>
          <p:cNvPr id="9" name="Text 6"/>
          <p:cNvSpPr txBox="1"/>
          <p:nvPr/>
        </p:nvSpPr>
        <p:spPr>
          <a:xfrm>
            <a:off x="4279392"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G3</a:t>
            </a:r>
            <a:endParaRPr lang="en-US" sz="950" dirty="0"/>
          </a:p>
        </p:txBody>
      </p:sp>
      <p:sp>
        <p:nvSpPr>
          <p:cNvPr id="10" name="Text 7"/>
          <p:cNvSpPr txBox="1"/>
          <p:nvPr/>
        </p:nvSpPr>
        <p:spPr>
          <a:xfrm>
            <a:off x="5184648"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G4</a:t>
            </a:r>
            <a:endParaRPr lang="en-US" sz="950" dirty="0"/>
          </a:p>
        </p:txBody>
      </p:sp>
      <p:sp>
        <p:nvSpPr>
          <p:cNvPr id="11" name="Text 8"/>
          <p:cNvSpPr txBox="1"/>
          <p:nvPr/>
        </p:nvSpPr>
        <p:spPr>
          <a:xfrm>
            <a:off x="6089904"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G5</a:t>
            </a:r>
            <a:endParaRPr lang="en-US" sz="950" dirty="0"/>
          </a:p>
        </p:txBody>
      </p:sp>
      <p:sp>
        <p:nvSpPr>
          <p:cNvPr id="12" name="Text 9"/>
          <p:cNvSpPr txBox="1"/>
          <p:nvPr/>
        </p:nvSpPr>
        <p:spPr>
          <a:xfrm>
            <a:off x="6995160"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G6</a:t>
            </a:r>
            <a:endParaRPr lang="en-US" sz="950" dirty="0"/>
          </a:p>
        </p:txBody>
      </p:sp>
      <p:sp>
        <p:nvSpPr>
          <p:cNvPr id="13" name="Text 10"/>
          <p:cNvSpPr txBox="1"/>
          <p:nvPr/>
        </p:nvSpPr>
        <p:spPr>
          <a:xfrm>
            <a:off x="7900416"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G7</a:t>
            </a:r>
            <a:endParaRPr lang="en-US" sz="950" dirty="0"/>
          </a:p>
        </p:txBody>
      </p:sp>
      <p:sp>
        <p:nvSpPr>
          <p:cNvPr id="14" name="Text 11"/>
          <p:cNvSpPr txBox="1"/>
          <p:nvPr/>
        </p:nvSpPr>
        <p:spPr>
          <a:xfrm>
            <a:off x="8805672"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G8</a:t>
            </a:r>
            <a:endParaRPr lang="en-US" sz="950" dirty="0"/>
          </a:p>
        </p:txBody>
      </p:sp>
      <p:sp>
        <p:nvSpPr>
          <p:cNvPr id="15" name="Text 12"/>
          <p:cNvSpPr txBox="1"/>
          <p:nvPr/>
        </p:nvSpPr>
        <p:spPr>
          <a:xfrm>
            <a:off x="9710928" y="1920240"/>
            <a:ext cx="786384" cy="219456"/>
          </a:xfrm>
          <a:prstGeom prst="rect">
            <a:avLst/>
          </a:prstGeom>
          <a:noFill/>
          <a:ln/>
        </p:spPr>
        <p:txBody>
          <a:bodyPr wrap="square" lIns="0" tIns="0" rIns="0" bIns="0" rtlCol="0" anchor="ctr"/>
          <a:lstStyle/>
          <a:p>
            <a:pPr algn="ctr" indent="0" marL="0">
              <a:buNone/>
            </a:pPr>
            <a:r>
              <a:rPr lang="en-US" sz="950" b="1" dirty="0">
                <a:solidFill>
                  <a:srgbClr val="9A9184"/>
                </a:solidFill>
                <a:latin typeface="Calibri" pitchFamily="34" charset="0"/>
                <a:ea typeface="Calibri" pitchFamily="34" charset="-122"/>
                <a:cs typeface="Calibri" pitchFamily="34" charset="-120"/>
              </a:rPr>
              <a:t>G9</a:t>
            </a:r>
            <a:endParaRPr lang="en-US" sz="950" dirty="0"/>
          </a:p>
        </p:txBody>
      </p:sp>
      <p:sp>
        <p:nvSpPr>
          <p:cNvPr id="16" name="Text 13"/>
          <p:cNvSpPr txBox="1"/>
          <p:nvPr/>
        </p:nvSpPr>
        <p:spPr>
          <a:xfrm>
            <a:off x="640080" y="2249424"/>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express</a:t>
            </a:r>
            <a:endParaRPr lang="en-US" sz="1400" dirty="0"/>
          </a:p>
        </p:txBody>
      </p:sp>
      <p:sp>
        <p:nvSpPr>
          <p:cNvPr id="17" name="Text 14"/>
          <p:cNvSpPr txBox="1"/>
          <p:nvPr/>
        </p:nvSpPr>
        <p:spPr>
          <a:xfrm>
            <a:off x="640080" y="2487168"/>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copy · a config value · a flag flip</a:t>
            </a:r>
            <a:endParaRPr lang="en-US" sz="800" dirty="0"/>
          </a:p>
        </p:txBody>
      </p:sp>
      <p:sp>
        <p:nvSpPr>
          <p:cNvPr id="18" name="Shape 15"/>
          <p:cNvSpPr/>
          <p:nvPr/>
        </p:nvSpPr>
        <p:spPr>
          <a:xfrm>
            <a:off x="2468880" y="2212848"/>
            <a:ext cx="786384" cy="566928"/>
          </a:xfrm>
          <a:prstGeom prst="roundRect">
            <a:avLst>
              <a:gd name="adj" fmla="val 8065"/>
            </a:avLst>
          </a:prstGeom>
          <a:solidFill>
            <a:srgbClr val="FAF3E7"/>
          </a:solidFill>
          <a:ln w="12700">
            <a:solidFill>
              <a:srgbClr val="CFC7B8"/>
            </a:solidFill>
            <a:prstDash val="solid"/>
          </a:ln>
        </p:spPr>
      </p:sp>
      <p:sp>
        <p:nvSpPr>
          <p:cNvPr id="19" name="Text 16"/>
          <p:cNvSpPr txBox="1"/>
          <p:nvPr/>
        </p:nvSpPr>
        <p:spPr>
          <a:xfrm>
            <a:off x="2468880"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G1</a:t>
            </a:r>
            <a:endParaRPr lang="en-US" sz="1050" dirty="0"/>
          </a:p>
        </p:txBody>
      </p:sp>
      <p:sp>
        <p:nvSpPr>
          <p:cNvPr id="20" name="Shape 17"/>
          <p:cNvSpPr/>
          <p:nvPr/>
        </p:nvSpPr>
        <p:spPr>
          <a:xfrm>
            <a:off x="3374136" y="2212848"/>
            <a:ext cx="786384" cy="566928"/>
          </a:xfrm>
          <a:prstGeom prst="roundRect">
            <a:avLst>
              <a:gd name="adj" fmla="val 8065"/>
            </a:avLst>
          </a:prstGeom>
          <a:solidFill>
            <a:srgbClr val="051D60"/>
          </a:solidFill>
          <a:ln w="12700">
            <a:solidFill>
              <a:srgbClr val="051D60"/>
            </a:solidFill>
            <a:prstDash val="solid"/>
          </a:ln>
        </p:spPr>
      </p:sp>
      <p:sp>
        <p:nvSpPr>
          <p:cNvPr id="21" name="Text 18"/>
          <p:cNvSpPr txBox="1"/>
          <p:nvPr/>
        </p:nvSpPr>
        <p:spPr>
          <a:xfrm>
            <a:off x="3374136"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22" name="Shape 19"/>
          <p:cNvSpPr/>
          <p:nvPr/>
        </p:nvSpPr>
        <p:spPr>
          <a:xfrm>
            <a:off x="4279392" y="2212848"/>
            <a:ext cx="786384" cy="566928"/>
          </a:xfrm>
          <a:prstGeom prst="roundRect">
            <a:avLst>
              <a:gd name="adj" fmla="val 8065"/>
            </a:avLst>
          </a:prstGeom>
          <a:solidFill>
            <a:srgbClr val="FAF3E7"/>
          </a:solidFill>
          <a:ln w="12700">
            <a:solidFill>
              <a:srgbClr val="CFC7B8"/>
            </a:solidFill>
            <a:prstDash val="solid"/>
          </a:ln>
        </p:spPr>
      </p:sp>
      <p:sp>
        <p:nvSpPr>
          <p:cNvPr id="23" name="Text 20"/>
          <p:cNvSpPr txBox="1"/>
          <p:nvPr/>
        </p:nvSpPr>
        <p:spPr>
          <a:xfrm>
            <a:off x="4279392"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G3</a:t>
            </a:r>
            <a:endParaRPr lang="en-US" sz="1050" dirty="0"/>
          </a:p>
        </p:txBody>
      </p:sp>
      <p:sp>
        <p:nvSpPr>
          <p:cNvPr id="24" name="Shape 21"/>
          <p:cNvSpPr/>
          <p:nvPr/>
        </p:nvSpPr>
        <p:spPr>
          <a:xfrm>
            <a:off x="5184648" y="2212848"/>
            <a:ext cx="786384" cy="566928"/>
          </a:xfrm>
          <a:prstGeom prst="roundRect">
            <a:avLst>
              <a:gd name="adj" fmla="val 8065"/>
            </a:avLst>
          </a:prstGeom>
          <a:solidFill>
            <a:srgbClr val="FAF3E7"/>
          </a:solidFill>
          <a:ln w="12700">
            <a:solidFill>
              <a:srgbClr val="CFC7B8"/>
            </a:solidFill>
            <a:prstDash val="solid"/>
          </a:ln>
        </p:spPr>
      </p:sp>
      <p:sp>
        <p:nvSpPr>
          <p:cNvPr id="25" name="Text 22"/>
          <p:cNvSpPr txBox="1"/>
          <p:nvPr/>
        </p:nvSpPr>
        <p:spPr>
          <a:xfrm>
            <a:off x="5184648"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26" name="Shape 23"/>
          <p:cNvSpPr/>
          <p:nvPr/>
        </p:nvSpPr>
        <p:spPr>
          <a:xfrm>
            <a:off x="6089904" y="2212848"/>
            <a:ext cx="786384" cy="566928"/>
          </a:xfrm>
          <a:prstGeom prst="roundRect">
            <a:avLst>
              <a:gd name="adj" fmla="val 8065"/>
            </a:avLst>
          </a:prstGeom>
          <a:solidFill>
            <a:srgbClr val="FAF3E7"/>
          </a:solidFill>
          <a:ln w="12700">
            <a:solidFill>
              <a:srgbClr val="CFC7B8"/>
            </a:solidFill>
            <a:prstDash val="solid"/>
          </a:ln>
        </p:spPr>
      </p:sp>
      <p:sp>
        <p:nvSpPr>
          <p:cNvPr id="27" name="Text 24"/>
          <p:cNvSpPr txBox="1"/>
          <p:nvPr/>
        </p:nvSpPr>
        <p:spPr>
          <a:xfrm>
            <a:off x="6089904"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G5</a:t>
            </a:r>
            <a:endParaRPr lang="en-US" sz="1050" dirty="0"/>
          </a:p>
        </p:txBody>
      </p:sp>
      <p:sp>
        <p:nvSpPr>
          <p:cNvPr id="28" name="Shape 25"/>
          <p:cNvSpPr/>
          <p:nvPr/>
        </p:nvSpPr>
        <p:spPr>
          <a:xfrm>
            <a:off x="6995160" y="2212848"/>
            <a:ext cx="786384" cy="566928"/>
          </a:xfrm>
          <a:prstGeom prst="roundRect">
            <a:avLst>
              <a:gd name="adj" fmla="val 8065"/>
            </a:avLst>
          </a:prstGeom>
          <a:solidFill>
            <a:srgbClr val="051D60"/>
          </a:solidFill>
          <a:ln w="12700">
            <a:solidFill>
              <a:srgbClr val="051D60"/>
            </a:solidFill>
            <a:prstDash val="solid"/>
          </a:ln>
        </p:spPr>
      </p:sp>
      <p:sp>
        <p:nvSpPr>
          <p:cNvPr id="29" name="Text 26"/>
          <p:cNvSpPr txBox="1"/>
          <p:nvPr/>
        </p:nvSpPr>
        <p:spPr>
          <a:xfrm>
            <a:off x="6995160"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30" name="Shape 27"/>
          <p:cNvSpPr/>
          <p:nvPr/>
        </p:nvSpPr>
        <p:spPr>
          <a:xfrm>
            <a:off x="7900416" y="2212848"/>
            <a:ext cx="786384" cy="566928"/>
          </a:xfrm>
          <a:prstGeom prst="roundRect">
            <a:avLst>
              <a:gd name="adj" fmla="val 8065"/>
            </a:avLst>
          </a:prstGeom>
          <a:solidFill>
            <a:srgbClr val="051D60"/>
          </a:solidFill>
          <a:ln w="12700">
            <a:solidFill>
              <a:srgbClr val="051D60"/>
            </a:solidFill>
            <a:prstDash val="solid"/>
          </a:ln>
        </p:spPr>
      </p:sp>
      <p:sp>
        <p:nvSpPr>
          <p:cNvPr id="31" name="Text 28"/>
          <p:cNvSpPr txBox="1"/>
          <p:nvPr/>
        </p:nvSpPr>
        <p:spPr>
          <a:xfrm>
            <a:off x="7900416" y="2340864"/>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32" name="Shape 29"/>
          <p:cNvSpPr/>
          <p:nvPr/>
        </p:nvSpPr>
        <p:spPr>
          <a:xfrm>
            <a:off x="8805672" y="2212848"/>
            <a:ext cx="786384" cy="566928"/>
          </a:xfrm>
          <a:prstGeom prst="roundRect">
            <a:avLst>
              <a:gd name="adj" fmla="val 8065"/>
            </a:avLst>
          </a:prstGeom>
          <a:solidFill>
            <a:srgbClr val="FAF3E7"/>
          </a:solidFill>
          <a:ln w="12700">
            <a:solidFill>
              <a:srgbClr val="CFC7B8"/>
            </a:solidFill>
            <a:prstDash val="solid"/>
          </a:ln>
        </p:spPr>
      </p:sp>
      <p:sp>
        <p:nvSpPr>
          <p:cNvPr id="33" name="Text 30"/>
          <p:cNvSpPr txBox="1"/>
          <p:nvPr/>
        </p:nvSpPr>
        <p:spPr>
          <a:xfrm>
            <a:off x="8805672"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G8</a:t>
            </a:r>
            <a:endParaRPr lang="en-US" sz="1050" dirty="0"/>
          </a:p>
        </p:txBody>
      </p:sp>
      <p:sp>
        <p:nvSpPr>
          <p:cNvPr id="34" name="Shape 31"/>
          <p:cNvSpPr/>
          <p:nvPr/>
        </p:nvSpPr>
        <p:spPr>
          <a:xfrm>
            <a:off x="9710928" y="2212848"/>
            <a:ext cx="786384" cy="566928"/>
          </a:xfrm>
          <a:prstGeom prst="roundRect">
            <a:avLst>
              <a:gd name="adj" fmla="val 8065"/>
            </a:avLst>
          </a:prstGeom>
          <a:solidFill>
            <a:srgbClr val="FAF3E7"/>
          </a:solidFill>
          <a:ln w="12700">
            <a:solidFill>
              <a:srgbClr val="CFC7B8"/>
            </a:solidFill>
            <a:prstDash val="solid"/>
          </a:ln>
        </p:spPr>
      </p:sp>
      <p:sp>
        <p:nvSpPr>
          <p:cNvPr id="35" name="Text 32"/>
          <p:cNvSpPr txBox="1"/>
          <p:nvPr/>
        </p:nvSpPr>
        <p:spPr>
          <a:xfrm>
            <a:off x="9710928" y="2340864"/>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G9</a:t>
            </a:r>
            <a:endParaRPr lang="en-US" sz="1050" dirty="0"/>
          </a:p>
        </p:txBody>
      </p:sp>
      <p:sp>
        <p:nvSpPr>
          <p:cNvPr id="36" name="Text 33"/>
          <p:cNvSpPr txBox="1"/>
          <p:nvPr/>
        </p:nvSpPr>
        <p:spPr>
          <a:xfrm>
            <a:off x="10689336" y="2359152"/>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3 of 9</a:t>
            </a:r>
            <a:endParaRPr lang="en-US" sz="1050" dirty="0"/>
          </a:p>
        </p:txBody>
      </p:sp>
      <p:sp>
        <p:nvSpPr>
          <p:cNvPr id="37" name="Text 34"/>
          <p:cNvSpPr txBox="1"/>
          <p:nvPr/>
        </p:nvSpPr>
        <p:spPr>
          <a:xfrm>
            <a:off x="640080" y="2999232"/>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standard</a:t>
            </a:r>
            <a:endParaRPr lang="en-US" sz="1400" dirty="0"/>
          </a:p>
        </p:txBody>
      </p:sp>
      <p:sp>
        <p:nvSpPr>
          <p:cNvPr id="38" name="Text 35"/>
          <p:cNvSpPr txBox="1"/>
          <p:nvPr/>
        </p:nvSpPr>
        <p:spPr>
          <a:xfrm>
            <a:off x="640080" y="3236976"/>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most features and bug fixes</a:t>
            </a:r>
            <a:endParaRPr lang="en-US" sz="800" dirty="0"/>
          </a:p>
        </p:txBody>
      </p:sp>
      <p:sp>
        <p:nvSpPr>
          <p:cNvPr id="39" name="Shape 36"/>
          <p:cNvSpPr/>
          <p:nvPr/>
        </p:nvSpPr>
        <p:spPr>
          <a:xfrm>
            <a:off x="2468880" y="2962656"/>
            <a:ext cx="786384" cy="566928"/>
          </a:xfrm>
          <a:prstGeom prst="roundRect">
            <a:avLst>
              <a:gd name="adj" fmla="val 8065"/>
            </a:avLst>
          </a:prstGeom>
          <a:solidFill>
            <a:srgbClr val="051D60"/>
          </a:solidFill>
          <a:ln w="12700">
            <a:solidFill>
              <a:srgbClr val="051D60"/>
            </a:solidFill>
            <a:prstDash val="solid"/>
          </a:ln>
        </p:spPr>
      </p:sp>
      <p:sp>
        <p:nvSpPr>
          <p:cNvPr id="40" name="Text 37"/>
          <p:cNvSpPr txBox="1"/>
          <p:nvPr/>
        </p:nvSpPr>
        <p:spPr>
          <a:xfrm>
            <a:off x="2468880"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G1</a:t>
            </a:r>
            <a:endParaRPr lang="en-US" sz="1050" dirty="0"/>
          </a:p>
        </p:txBody>
      </p:sp>
      <p:sp>
        <p:nvSpPr>
          <p:cNvPr id="41" name="Shape 38"/>
          <p:cNvSpPr/>
          <p:nvPr/>
        </p:nvSpPr>
        <p:spPr>
          <a:xfrm>
            <a:off x="3374136" y="2962656"/>
            <a:ext cx="786384" cy="566928"/>
          </a:xfrm>
          <a:prstGeom prst="roundRect">
            <a:avLst>
              <a:gd name="adj" fmla="val 8065"/>
            </a:avLst>
          </a:prstGeom>
          <a:solidFill>
            <a:srgbClr val="051D60"/>
          </a:solidFill>
          <a:ln w="12700">
            <a:solidFill>
              <a:srgbClr val="051D60"/>
            </a:solidFill>
            <a:prstDash val="solid"/>
          </a:ln>
        </p:spPr>
      </p:sp>
      <p:sp>
        <p:nvSpPr>
          <p:cNvPr id="42" name="Text 39"/>
          <p:cNvSpPr txBox="1"/>
          <p:nvPr/>
        </p:nvSpPr>
        <p:spPr>
          <a:xfrm>
            <a:off x="3374136"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43" name="Shape 40"/>
          <p:cNvSpPr/>
          <p:nvPr/>
        </p:nvSpPr>
        <p:spPr>
          <a:xfrm>
            <a:off x="4279392" y="2962656"/>
            <a:ext cx="786384" cy="566928"/>
          </a:xfrm>
          <a:prstGeom prst="roundRect">
            <a:avLst>
              <a:gd name="adj" fmla="val 8065"/>
            </a:avLst>
          </a:prstGeom>
          <a:solidFill>
            <a:srgbClr val="051D60"/>
          </a:solidFill>
          <a:ln w="12700">
            <a:solidFill>
              <a:srgbClr val="051D60"/>
            </a:solidFill>
            <a:prstDash val="solid"/>
          </a:ln>
        </p:spPr>
      </p:sp>
      <p:sp>
        <p:nvSpPr>
          <p:cNvPr id="44" name="Text 41"/>
          <p:cNvSpPr txBox="1"/>
          <p:nvPr/>
        </p:nvSpPr>
        <p:spPr>
          <a:xfrm>
            <a:off x="4279392"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G3</a:t>
            </a:r>
            <a:endParaRPr lang="en-US" sz="1050" dirty="0"/>
          </a:p>
        </p:txBody>
      </p:sp>
      <p:sp>
        <p:nvSpPr>
          <p:cNvPr id="45" name="Shape 42"/>
          <p:cNvSpPr/>
          <p:nvPr/>
        </p:nvSpPr>
        <p:spPr>
          <a:xfrm>
            <a:off x="5184648" y="2962656"/>
            <a:ext cx="786384" cy="566928"/>
          </a:xfrm>
          <a:prstGeom prst="roundRect">
            <a:avLst>
              <a:gd name="adj" fmla="val 8065"/>
            </a:avLst>
          </a:prstGeom>
          <a:solidFill>
            <a:srgbClr val="FAF3E7"/>
          </a:solidFill>
          <a:ln w="12700">
            <a:solidFill>
              <a:srgbClr val="CFC7B8"/>
            </a:solidFill>
            <a:prstDash val="solid"/>
          </a:ln>
        </p:spPr>
      </p:sp>
      <p:sp>
        <p:nvSpPr>
          <p:cNvPr id="46" name="Text 43"/>
          <p:cNvSpPr txBox="1"/>
          <p:nvPr/>
        </p:nvSpPr>
        <p:spPr>
          <a:xfrm>
            <a:off x="5184648" y="3090672"/>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47" name="Shape 44"/>
          <p:cNvSpPr/>
          <p:nvPr/>
        </p:nvSpPr>
        <p:spPr>
          <a:xfrm>
            <a:off x="6089904" y="2962656"/>
            <a:ext cx="786384" cy="566928"/>
          </a:xfrm>
          <a:prstGeom prst="roundRect">
            <a:avLst>
              <a:gd name="adj" fmla="val 8065"/>
            </a:avLst>
          </a:prstGeom>
          <a:solidFill>
            <a:srgbClr val="051D60"/>
          </a:solidFill>
          <a:ln w="12700">
            <a:solidFill>
              <a:srgbClr val="051D60"/>
            </a:solidFill>
            <a:prstDash val="solid"/>
          </a:ln>
        </p:spPr>
      </p:sp>
      <p:sp>
        <p:nvSpPr>
          <p:cNvPr id="48" name="Text 45"/>
          <p:cNvSpPr txBox="1"/>
          <p:nvPr/>
        </p:nvSpPr>
        <p:spPr>
          <a:xfrm>
            <a:off x="6089904"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G5</a:t>
            </a:r>
            <a:endParaRPr lang="en-US" sz="1050" dirty="0"/>
          </a:p>
        </p:txBody>
      </p:sp>
      <p:sp>
        <p:nvSpPr>
          <p:cNvPr id="49" name="Shape 46"/>
          <p:cNvSpPr/>
          <p:nvPr/>
        </p:nvSpPr>
        <p:spPr>
          <a:xfrm>
            <a:off x="6995160" y="2962656"/>
            <a:ext cx="786384" cy="566928"/>
          </a:xfrm>
          <a:prstGeom prst="roundRect">
            <a:avLst>
              <a:gd name="adj" fmla="val 8065"/>
            </a:avLst>
          </a:prstGeom>
          <a:solidFill>
            <a:srgbClr val="051D60"/>
          </a:solidFill>
          <a:ln w="12700">
            <a:solidFill>
              <a:srgbClr val="051D60"/>
            </a:solidFill>
            <a:prstDash val="solid"/>
          </a:ln>
        </p:spPr>
      </p:sp>
      <p:sp>
        <p:nvSpPr>
          <p:cNvPr id="50" name="Text 47"/>
          <p:cNvSpPr txBox="1"/>
          <p:nvPr/>
        </p:nvSpPr>
        <p:spPr>
          <a:xfrm>
            <a:off x="6995160"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51" name="Shape 48"/>
          <p:cNvSpPr/>
          <p:nvPr/>
        </p:nvSpPr>
        <p:spPr>
          <a:xfrm>
            <a:off x="7900416" y="2962656"/>
            <a:ext cx="786384" cy="566928"/>
          </a:xfrm>
          <a:prstGeom prst="roundRect">
            <a:avLst>
              <a:gd name="adj" fmla="val 8065"/>
            </a:avLst>
          </a:prstGeom>
          <a:solidFill>
            <a:srgbClr val="051D60"/>
          </a:solidFill>
          <a:ln w="12700">
            <a:solidFill>
              <a:srgbClr val="051D60"/>
            </a:solidFill>
            <a:prstDash val="solid"/>
          </a:ln>
        </p:spPr>
      </p:sp>
      <p:sp>
        <p:nvSpPr>
          <p:cNvPr id="52" name="Text 49"/>
          <p:cNvSpPr txBox="1"/>
          <p:nvPr/>
        </p:nvSpPr>
        <p:spPr>
          <a:xfrm>
            <a:off x="7900416"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53" name="Shape 50"/>
          <p:cNvSpPr/>
          <p:nvPr/>
        </p:nvSpPr>
        <p:spPr>
          <a:xfrm>
            <a:off x="8805672" y="2962656"/>
            <a:ext cx="786384" cy="566928"/>
          </a:xfrm>
          <a:prstGeom prst="roundRect">
            <a:avLst>
              <a:gd name="adj" fmla="val 8065"/>
            </a:avLst>
          </a:prstGeom>
          <a:solidFill>
            <a:srgbClr val="051D60"/>
          </a:solidFill>
          <a:ln w="12700">
            <a:solidFill>
              <a:srgbClr val="051D60"/>
            </a:solidFill>
            <a:prstDash val="solid"/>
          </a:ln>
        </p:spPr>
      </p:sp>
      <p:sp>
        <p:nvSpPr>
          <p:cNvPr id="54" name="Text 51"/>
          <p:cNvSpPr txBox="1"/>
          <p:nvPr/>
        </p:nvSpPr>
        <p:spPr>
          <a:xfrm>
            <a:off x="8805672" y="3090672"/>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G8</a:t>
            </a:r>
            <a:endParaRPr lang="en-US" sz="1050" dirty="0"/>
          </a:p>
        </p:txBody>
      </p:sp>
      <p:sp>
        <p:nvSpPr>
          <p:cNvPr id="55" name="Shape 52"/>
          <p:cNvSpPr/>
          <p:nvPr/>
        </p:nvSpPr>
        <p:spPr>
          <a:xfrm>
            <a:off x="9710928" y="2962656"/>
            <a:ext cx="786384" cy="566928"/>
          </a:xfrm>
          <a:prstGeom prst="roundRect">
            <a:avLst>
              <a:gd name="adj" fmla="val 8065"/>
            </a:avLst>
          </a:prstGeom>
          <a:solidFill>
            <a:srgbClr val="FAF3E7"/>
          </a:solidFill>
          <a:ln w="12700">
            <a:solidFill>
              <a:srgbClr val="CFC7B8"/>
            </a:solidFill>
            <a:prstDash val="solid"/>
          </a:ln>
        </p:spPr>
      </p:sp>
      <p:sp>
        <p:nvSpPr>
          <p:cNvPr id="56" name="Text 53"/>
          <p:cNvSpPr txBox="1"/>
          <p:nvPr/>
        </p:nvSpPr>
        <p:spPr>
          <a:xfrm>
            <a:off x="9710928" y="3090672"/>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G9</a:t>
            </a:r>
            <a:endParaRPr lang="en-US" sz="1050" dirty="0"/>
          </a:p>
        </p:txBody>
      </p:sp>
      <p:sp>
        <p:nvSpPr>
          <p:cNvPr id="57" name="Text 54"/>
          <p:cNvSpPr txBox="1"/>
          <p:nvPr/>
        </p:nvSpPr>
        <p:spPr>
          <a:xfrm>
            <a:off x="10689336" y="3108960"/>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7 of 9</a:t>
            </a:r>
            <a:endParaRPr lang="en-US" sz="1050" dirty="0"/>
          </a:p>
        </p:txBody>
      </p:sp>
      <p:sp>
        <p:nvSpPr>
          <p:cNvPr id="58" name="Text 55"/>
          <p:cNvSpPr txBox="1"/>
          <p:nvPr/>
        </p:nvSpPr>
        <p:spPr>
          <a:xfrm>
            <a:off x="640080" y="3749040"/>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full</a:t>
            </a:r>
            <a:endParaRPr lang="en-US" sz="1400" dirty="0"/>
          </a:p>
        </p:txBody>
      </p:sp>
      <p:sp>
        <p:nvSpPr>
          <p:cNvPr id="59" name="Text 56"/>
          <p:cNvSpPr txBox="1"/>
          <p:nvPr/>
        </p:nvSpPr>
        <p:spPr>
          <a:xfrm>
            <a:off x="640080" y="3986784"/>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new capability · regulated · data or model</a:t>
            </a:r>
            <a:endParaRPr lang="en-US" sz="800" dirty="0"/>
          </a:p>
        </p:txBody>
      </p:sp>
      <p:sp>
        <p:nvSpPr>
          <p:cNvPr id="60" name="Shape 57"/>
          <p:cNvSpPr/>
          <p:nvPr/>
        </p:nvSpPr>
        <p:spPr>
          <a:xfrm>
            <a:off x="2468880" y="3712464"/>
            <a:ext cx="786384" cy="566928"/>
          </a:xfrm>
          <a:prstGeom prst="roundRect">
            <a:avLst>
              <a:gd name="adj" fmla="val 8065"/>
            </a:avLst>
          </a:prstGeom>
          <a:solidFill>
            <a:srgbClr val="051D60"/>
          </a:solidFill>
          <a:ln w="12700">
            <a:solidFill>
              <a:srgbClr val="051D60"/>
            </a:solidFill>
            <a:prstDash val="solid"/>
          </a:ln>
        </p:spPr>
      </p:sp>
      <p:sp>
        <p:nvSpPr>
          <p:cNvPr id="61" name="Text 58"/>
          <p:cNvSpPr txBox="1"/>
          <p:nvPr/>
        </p:nvSpPr>
        <p:spPr>
          <a:xfrm>
            <a:off x="2468880"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G1</a:t>
            </a:r>
            <a:endParaRPr lang="en-US" sz="1050" dirty="0"/>
          </a:p>
        </p:txBody>
      </p:sp>
      <p:sp>
        <p:nvSpPr>
          <p:cNvPr id="62" name="Shape 59"/>
          <p:cNvSpPr/>
          <p:nvPr/>
        </p:nvSpPr>
        <p:spPr>
          <a:xfrm>
            <a:off x="3374136" y="3712464"/>
            <a:ext cx="786384" cy="566928"/>
          </a:xfrm>
          <a:prstGeom prst="roundRect">
            <a:avLst>
              <a:gd name="adj" fmla="val 8065"/>
            </a:avLst>
          </a:prstGeom>
          <a:solidFill>
            <a:srgbClr val="051D60"/>
          </a:solidFill>
          <a:ln w="12700">
            <a:solidFill>
              <a:srgbClr val="051D60"/>
            </a:solidFill>
            <a:prstDash val="solid"/>
          </a:ln>
        </p:spPr>
      </p:sp>
      <p:sp>
        <p:nvSpPr>
          <p:cNvPr id="63" name="Text 60"/>
          <p:cNvSpPr txBox="1"/>
          <p:nvPr/>
        </p:nvSpPr>
        <p:spPr>
          <a:xfrm>
            <a:off x="3374136"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64" name="Shape 61"/>
          <p:cNvSpPr/>
          <p:nvPr/>
        </p:nvSpPr>
        <p:spPr>
          <a:xfrm>
            <a:off x="4279392" y="3712464"/>
            <a:ext cx="786384" cy="566928"/>
          </a:xfrm>
          <a:prstGeom prst="roundRect">
            <a:avLst>
              <a:gd name="adj" fmla="val 8065"/>
            </a:avLst>
          </a:prstGeom>
          <a:solidFill>
            <a:srgbClr val="051D60"/>
          </a:solidFill>
          <a:ln w="12700">
            <a:solidFill>
              <a:srgbClr val="051D60"/>
            </a:solidFill>
            <a:prstDash val="solid"/>
          </a:ln>
        </p:spPr>
      </p:sp>
      <p:sp>
        <p:nvSpPr>
          <p:cNvPr id="65" name="Text 62"/>
          <p:cNvSpPr txBox="1"/>
          <p:nvPr/>
        </p:nvSpPr>
        <p:spPr>
          <a:xfrm>
            <a:off x="4279392"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G3</a:t>
            </a:r>
            <a:endParaRPr lang="en-US" sz="1050" dirty="0"/>
          </a:p>
        </p:txBody>
      </p:sp>
      <p:sp>
        <p:nvSpPr>
          <p:cNvPr id="66" name="Shape 63"/>
          <p:cNvSpPr/>
          <p:nvPr/>
        </p:nvSpPr>
        <p:spPr>
          <a:xfrm>
            <a:off x="5184648" y="3712464"/>
            <a:ext cx="786384" cy="566928"/>
          </a:xfrm>
          <a:prstGeom prst="roundRect">
            <a:avLst>
              <a:gd name="adj" fmla="val 8065"/>
            </a:avLst>
          </a:prstGeom>
          <a:solidFill>
            <a:srgbClr val="051D60"/>
          </a:solidFill>
          <a:ln w="12700">
            <a:solidFill>
              <a:srgbClr val="051D60"/>
            </a:solidFill>
            <a:prstDash val="solid"/>
          </a:ln>
        </p:spPr>
      </p:sp>
      <p:sp>
        <p:nvSpPr>
          <p:cNvPr id="67" name="Text 64"/>
          <p:cNvSpPr txBox="1"/>
          <p:nvPr/>
        </p:nvSpPr>
        <p:spPr>
          <a:xfrm>
            <a:off x="5184648"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G4</a:t>
            </a:r>
            <a:endParaRPr lang="en-US" sz="1050" dirty="0"/>
          </a:p>
        </p:txBody>
      </p:sp>
      <p:sp>
        <p:nvSpPr>
          <p:cNvPr id="68" name="Shape 65"/>
          <p:cNvSpPr/>
          <p:nvPr/>
        </p:nvSpPr>
        <p:spPr>
          <a:xfrm>
            <a:off x="6089904" y="3712464"/>
            <a:ext cx="786384" cy="566928"/>
          </a:xfrm>
          <a:prstGeom prst="roundRect">
            <a:avLst>
              <a:gd name="adj" fmla="val 8065"/>
            </a:avLst>
          </a:prstGeom>
          <a:solidFill>
            <a:srgbClr val="051D60"/>
          </a:solidFill>
          <a:ln w="12700">
            <a:solidFill>
              <a:srgbClr val="051D60"/>
            </a:solidFill>
            <a:prstDash val="solid"/>
          </a:ln>
        </p:spPr>
      </p:sp>
      <p:sp>
        <p:nvSpPr>
          <p:cNvPr id="69" name="Text 66"/>
          <p:cNvSpPr txBox="1"/>
          <p:nvPr/>
        </p:nvSpPr>
        <p:spPr>
          <a:xfrm>
            <a:off x="6089904"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G5</a:t>
            </a:r>
            <a:endParaRPr lang="en-US" sz="1050" dirty="0"/>
          </a:p>
        </p:txBody>
      </p:sp>
      <p:sp>
        <p:nvSpPr>
          <p:cNvPr id="70" name="Shape 67"/>
          <p:cNvSpPr/>
          <p:nvPr/>
        </p:nvSpPr>
        <p:spPr>
          <a:xfrm>
            <a:off x="6995160" y="3712464"/>
            <a:ext cx="786384" cy="566928"/>
          </a:xfrm>
          <a:prstGeom prst="roundRect">
            <a:avLst>
              <a:gd name="adj" fmla="val 8065"/>
            </a:avLst>
          </a:prstGeom>
          <a:solidFill>
            <a:srgbClr val="051D60"/>
          </a:solidFill>
          <a:ln w="12700">
            <a:solidFill>
              <a:srgbClr val="051D60"/>
            </a:solidFill>
            <a:prstDash val="solid"/>
          </a:ln>
        </p:spPr>
      </p:sp>
      <p:sp>
        <p:nvSpPr>
          <p:cNvPr id="71" name="Text 68"/>
          <p:cNvSpPr txBox="1"/>
          <p:nvPr/>
        </p:nvSpPr>
        <p:spPr>
          <a:xfrm>
            <a:off x="6995160"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72" name="Shape 69"/>
          <p:cNvSpPr/>
          <p:nvPr/>
        </p:nvSpPr>
        <p:spPr>
          <a:xfrm>
            <a:off x="7900416" y="3712464"/>
            <a:ext cx="786384" cy="566928"/>
          </a:xfrm>
          <a:prstGeom prst="roundRect">
            <a:avLst>
              <a:gd name="adj" fmla="val 8065"/>
            </a:avLst>
          </a:prstGeom>
          <a:solidFill>
            <a:srgbClr val="051D60"/>
          </a:solidFill>
          <a:ln w="12700">
            <a:solidFill>
              <a:srgbClr val="051D60"/>
            </a:solidFill>
            <a:prstDash val="solid"/>
          </a:ln>
        </p:spPr>
      </p:sp>
      <p:sp>
        <p:nvSpPr>
          <p:cNvPr id="73" name="Text 70"/>
          <p:cNvSpPr txBox="1"/>
          <p:nvPr/>
        </p:nvSpPr>
        <p:spPr>
          <a:xfrm>
            <a:off x="7900416"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74" name="Shape 71"/>
          <p:cNvSpPr/>
          <p:nvPr/>
        </p:nvSpPr>
        <p:spPr>
          <a:xfrm>
            <a:off x="8805672" y="3712464"/>
            <a:ext cx="786384" cy="566928"/>
          </a:xfrm>
          <a:prstGeom prst="roundRect">
            <a:avLst>
              <a:gd name="adj" fmla="val 8065"/>
            </a:avLst>
          </a:prstGeom>
          <a:solidFill>
            <a:srgbClr val="051D60"/>
          </a:solidFill>
          <a:ln w="12700">
            <a:solidFill>
              <a:srgbClr val="051D60"/>
            </a:solidFill>
            <a:prstDash val="solid"/>
          </a:ln>
        </p:spPr>
      </p:sp>
      <p:sp>
        <p:nvSpPr>
          <p:cNvPr id="75" name="Text 72"/>
          <p:cNvSpPr txBox="1"/>
          <p:nvPr/>
        </p:nvSpPr>
        <p:spPr>
          <a:xfrm>
            <a:off x="8805672"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G8</a:t>
            </a:r>
            <a:endParaRPr lang="en-US" sz="1050" dirty="0"/>
          </a:p>
        </p:txBody>
      </p:sp>
      <p:sp>
        <p:nvSpPr>
          <p:cNvPr id="76" name="Shape 73"/>
          <p:cNvSpPr/>
          <p:nvPr/>
        </p:nvSpPr>
        <p:spPr>
          <a:xfrm>
            <a:off x="9710928" y="3712464"/>
            <a:ext cx="786384" cy="566928"/>
          </a:xfrm>
          <a:prstGeom prst="roundRect">
            <a:avLst>
              <a:gd name="adj" fmla="val 8065"/>
            </a:avLst>
          </a:prstGeom>
          <a:solidFill>
            <a:srgbClr val="051D60"/>
          </a:solidFill>
          <a:ln w="12700">
            <a:solidFill>
              <a:srgbClr val="051D60"/>
            </a:solidFill>
            <a:prstDash val="solid"/>
          </a:ln>
        </p:spPr>
      </p:sp>
      <p:sp>
        <p:nvSpPr>
          <p:cNvPr id="77" name="Text 74"/>
          <p:cNvSpPr txBox="1"/>
          <p:nvPr/>
        </p:nvSpPr>
        <p:spPr>
          <a:xfrm>
            <a:off x="9710928" y="3840480"/>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G9</a:t>
            </a:r>
            <a:endParaRPr lang="en-US" sz="1050" dirty="0"/>
          </a:p>
        </p:txBody>
      </p:sp>
      <p:sp>
        <p:nvSpPr>
          <p:cNvPr id="78" name="Text 75"/>
          <p:cNvSpPr txBox="1"/>
          <p:nvPr/>
        </p:nvSpPr>
        <p:spPr>
          <a:xfrm>
            <a:off x="10689336" y="3858768"/>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9 of 9</a:t>
            </a:r>
            <a:endParaRPr lang="en-US" sz="1050" dirty="0"/>
          </a:p>
        </p:txBody>
      </p:sp>
      <p:sp>
        <p:nvSpPr>
          <p:cNvPr id="79" name="Text 76"/>
          <p:cNvSpPr txBox="1"/>
          <p:nvPr/>
        </p:nvSpPr>
        <p:spPr>
          <a:xfrm>
            <a:off x="640080" y="4498848"/>
            <a:ext cx="1600200" cy="237744"/>
          </a:xfrm>
          <a:prstGeom prst="rect">
            <a:avLst/>
          </a:prstGeom>
          <a:noFill/>
          <a:ln/>
        </p:spPr>
        <p:txBody>
          <a:bodyPr wrap="square" lIns="0" tIns="0" rIns="0" bIns="0" rtlCol="0" anchor="ctr"/>
          <a:lstStyle/>
          <a:p>
            <a:pPr indent="0" marL="0">
              <a:buNone/>
            </a:pPr>
            <a:r>
              <a:rPr lang="en-US" sz="1400" b="1" dirty="0">
                <a:solidFill>
                  <a:srgbClr val="051D60"/>
                </a:solidFill>
                <a:latin typeface="Mulish" pitchFamily="34" charset="0"/>
                <a:ea typeface="Mulish" pitchFamily="34" charset="-122"/>
                <a:cs typeface="Mulish" pitchFamily="34" charset="-120"/>
              </a:rPr>
              <a:t>hotfix</a:t>
            </a:r>
            <a:endParaRPr lang="en-US" sz="1400" dirty="0"/>
          </a:p>
        </p:txBody>
      </p:sp>
      <p:sp>
        <p:nvSpPr>
          <p:cNvPr id="80" name="Text 77"/>
          <p:cNvSpPr txBox="1"/>
          <p:nvPr/>
        </p:nvSpPr>
        <p:spPr>
          <a:xfrm>
            <a:off x="640080" y="4736592"/>
            <a:ext cx="1801368" cy="365760"/>
          </a:xfrm>
          <a:prstGeom prst="rect">
            <a:avLst/>
          </a:prstGeom>
          <a:noFill/>
          <a:ln/>
        </p:spPr>
        <p:txBody>
          <a:bodyPr wrap="square" lIns="0" tIns="0" rIns="0" bIns="0" rtlCol="0" anchor="t"/>
          <a:lstStyle/>
          <a:p>
            <a:pPr indent="0" marL="0">
              <a:buNone/>
            </a:pPr>
            <a:r>
              <a:rPr lang="en-US" sz="800" dirty="0">
                <a:solidFill>
                  <a:srgbClr val="5F6476"/>
                </a:solidFill>
                <a:latin typeface="Calibri" pitchFamily="34" charset="0"/>
                <a:ea typeface="Calibri" pitchFamily="34" charset="-122"/>
                <a:cs typeface="Calibri" pitchFamily="34" charset="-120"/>
              </a:rPr>
              <a:t>production is degraded right now</a:t>
            </a:r>
            <a:endParaRPr lang="en-US" sz="800" dirty="0"/>
          </a:p>
        </p:txBody>
      </p:sp>
      <p:sp>
        <p:nvSpPr>
          <p:cNvPr id="81" name="Shape 78"/>
          <p:cNvSpPr/>
          <p:nvPr/>
        </p:nvSpPr>
        <p:spPr>
          <a:xfrm>
            <a:off x="2468880" y="4462272"/>
            <a:ext cx="786384" cy="566928"/>
          </a:xfrm>
          <a:prstGeom prst="roundRect">
            <a:avLst>
              <a:gd name="adj" fmla="val 8065"/>
            </a:avLst>
          </a:prstGeom>
          <a:solidFill>
            <a:srgbClr val="FAF3E7"/>
          </a:solidFill>
          <a:ln w="12700">
            <a:solidFill>
              <a:srgbClr val="CFC7B8"/>
            </a:solidFill>
            <a:prstDash val="solid"/>
          </a:ln>
        </p:spPr>
      </p:sp>
      <p:sp>
        <p:nvSpPr>
          <p:cNvPr id="82" name="Text 79"/>
          <p:cNvSpPr txBox="1"/>
          <p:nvPr/>
        </p:nvSpPr>
        <p:spPr>
          <a:xfrm>
            <a:off x="2468880"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G1</a:t>
            </a:r>
            <a:endParaRPr lang="en-US" sz="1050" dirty="0"/>
          </a:p>
        </p:txBody>
      </p:sp>
      <p:sp>
        <p:nvSpPr>
          <p:cNvPr id="83" name="Shape 80"/>
          <p:cNvSpPr/>
          <p:nvPr/>
        </p:nvSpPr>
        <p:spPr>
          <a:xfrm>
            <a:off x="3374136" y="4462272"/>
            <a:ext cx="786384" cy="566928"/>
          </a:xfrm>
          <a:prstGeom prst="roundRect">
            <a:avLst>
              <a:gd name="adj" fmla="val 8065"/>
            </a:avLst>
          </a:prstGeom>
          <a:solidFill>
            <a:srgbClr val="051D60"/>
          </a:solidFill>
          <a:ln w="12700">
            <a:solidFill>
              <a:srgbClr val="051D60"/>
            </a:solidFill>
            <a:prstDash val="solid"/>
          </a:ln>
        </p:spPr>
      </p:sp>
      <p:sp>
        <p:nvSpPr>
          <p:cNvPr id="84" name="Text 81"/>
          <p:cNvSpPr txBox="1"/>
          <p:nvPr/>
        </p:nvSpPr>
        <p:spPr>
          <a:xfrm>
            <a:off x="3374136"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G2</a:t>
            </a:r>
            <a:endParaRPr lang="en-US" sz="1050" dirty="0"/>
          </a:p>
        </p:txBody>
      </p:sp>
      <p:sp>
        <p:nvSpPr>
          <p:cNvPr id="85" name="Shape 82"/>
          <p:cNvSpPr/>
          <p:nvPr/>
        </p:nvSpPr>
        <p:spPr>
          <a:xfrm>
            <a:off x="4279392" y="4462272"/>
            <a:ext cx="786384" cy="566928"/>
          </a:xfrm>
          <a:prstGeom prst="roundRect">
            <a:avLst>
              <a:gd name="adj" fmla="val 8065"/>
            </a:avLst>
          </a:prstGeom>
          <a:solidFill>
            <a:srgbClr val="FAF3E7"/>
          </a:solidFill>
          <a:ln w="12700">
            <a:solidFill>
              <a:srgbClr val="CFC7B8"/>
            </a:solidFill>
            <a:prstDash val="solid"/>
          </a:ln>
        </p:spPr>
      </p:sp>
      <p:sp>
        <p:nvSpPr>
          <p:cNvPr id="86" name="Text 83"/>
          <p:cNvSpPr txBox="1"/>
          <p:nvPr/>
        </p:nvSpPr>
        <p:spPr>
          <a:xfrm>
            <a:off x="4279392"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G3</a:t>
            </a:r>
            <a:endParaRPr lang="en-US" sz="1050" dirty="0"/>
          </a:p>
        </p:txBody>
      </p:sp>
      <p:sp>
        <p:nvSpPr>
          <p:cNvPr id="87" name="Shape 84"/>
          <p:cNvSpPr/>
          <p:nvPr/>
        </p:nvSpPr>
        <p:spPr>
          <a:xfrm>
            <a:off x="5184648" y="4462272"/>
            <a:ext cx="786384" cy="566928"/>
          </a:xfrm>
          <a:prstGeom prst="roundRect">
            <a:avLst>
              <a:gd name="adj" fmla="val 8065"/>
            </a:avLst>
          </a:prstGeom>
          <a:solidFill>
            <a:srgbClr val="FAF3E7"/>
          </a:solidFill>
          <a:ln w="12700">
            <a:solidFill>
              <a:srgbClr val="CFC7B8"/>
            </a:solidFill>
            <a:prstDash val="solid"/>
          </a:ln>
        </p:spPr>
      </p:sp>
      <p:sp>
        <p:nvSpPr>
          <p:cNvPr id="88" name="Text 85"/>
          <p:cNvSpPr txBox="1"/>
          <p:nvPr/>
        </p:nvSpPr>
        <p:spPr>
          <a:xfrm>
            <a:off x="5184648"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G4</a:t>
            </a:r>
            <a:endParaRPr lang="en-US" sz="1050" dirty="0"/>
          </a:p>
        </p:txBody>
      </p:sp>
      <p:sp>
        <p:nvSpPr>
          <p:cNvPr id="89" name="Shape 86"/>
          <p:cNvSpPr/>
          <p:nvPr/>
        </p:nvSpPr>
        <p:spPr>
          <a:xfrm>
            <a:off x="6089904" y="4462272"/>
            <a:ext cx="786384" cy="566928"/>
          </a:xfrm>
          <a:prstGeom prst="roundRect">
            <a:avLst>
              <a:gd name="adj" fmla="val 8065"/>
            </a:avLst>
          </a:prstGeom>
          <a:solidFill>
            <a:srgbClr val="FAF3E7"/>
          </a:solidFill>
          <a:ln w="12700">
            <a:solidFill>
              <a:srgbClr val="CFC7B8"/>
            </a:solidFill>
            <a:prstDash val="solid"/>
          </a:ln>
        </p:spPr>
      </p:sp>
      <p:sp>
        <p:nvSpPr>
          <p:cNvPr id="90" name="Text 87"/>
          <p:cNvSpPr txBox="1"/>
          <p:nvPr/>
        </p:nvSpPr>
        <p:spPr>
          <a:xfrm>
            <a:off x="6089904"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G5</a:t>
            </a:r>
            <a:endParaRPr lang="en-US" sz="1050" dirty="0"/>
          </a:p>
        </p:txBody>
      </p:sp>
      <p:sp>
        <p:nvSpPr>
          <p:cNvPr id="91" name="Shape 88"/>
          <p:cNvSpPr/>
          <p:nvPr/>
        </p:nvSpPr>
        <p:spPr>
          <a:xfrm>
            <a:off x="6995160" y="4462272"/>
            <a:ext cx="786384" cy="566928"/>
          </a:xfrm>
          <a:prstGeom prst="roundRect">
            <a:avLst>
              <a:gd name="adj" fmla="val 8065"/>
            </a:avLst>
          </a:prstGeom>
          <a:solidFill>
            <a:srgbClr val="051D60"/>
          </a:solidFill>
          <a:ln w="12700">
            <a:solidFill>
              <a:srgbClr val="051D60"/>
            </a:solidFill>
            <a:prstDash val="solid"/>
          </a:ln>
        </p:spPr>
      </p:sp>
      <p:sp>
        <p:nvSpPr>
          <p:cNvPr id="92" name="Text 89"/>
          <p:cNvSpPr txBox="1"/>
          <p:nvPr/>
        </p:nvSpPr>
        <p:spPr>
          <a:xfrm>
            <a:off x="6995160"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G6</a:t>
            </a:r>
            <a:endParaRPr lang="en-US" sz="1050" dirty="0"/>
          </a:p>
        </p:txBody>
      </p:sp>
      <p:sp>
        <p:nvSpPr>
          <p:cNvPr id="93" name="Shape 90"/>
          <p:cNvSpPr/>
          <p:nvPr/>
        </p:nvSpPr>
        <p:spPr>
          <a:xfrm>
            <a:off x="7900416" y="4462272"/>
            <a:ext cx="786384" cy="566928"/>
          </a:xfrm>
          <a:prstGeom prst="roundRect">
            <a:avLst>
              <a:gd name="adj" fmla="val 8065"/>
            </a:avLst>
          </a:prstGeom>
          <a:solidFill>
            <a:srgbClr val="051D60"/>
          </a:solidFill>
          <a:ln w="12700">
            <a:solidFill>
              <a:srgbClr val="051D60"/>
            </a:solidFill>
            <a:prstDash val="solid"/>
          </a:ln>
        </p:spPr>
      </p:sp>
      <p:sp>
        <p:nvSpPr>
          <p:cNvPr id="94" name="Text 91"/>
          <p:cNvSpPr txBox="1"/>
          <p:nvPr/>
        </p:nvSpPr>
        <p:spPr>
          <a:xfrm>
            <a:off x="7900416"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G7</a:t>
            </a:r>
            <a:endParaRPr lang="en-US" sz="1050" dirty="0"/>
          </a:p>
        </p:txBody>
      </p:sp>
      <p:sp>
        <p:nvSpPr>
          <p:cNvPr id="95" name="Shape 92"/>
          <p:cNvSpPr/>
          <p:nvPr/>
        </p:nvSpPr>
        <p:spPr>
          <a:xfrm>
            <a:off x="8805672" y="4462272"/>
            <a:ext cx="786384" cy="566928"/>
          </a:xfrm>
          <a:prstGeom prst="roundRect">
            <a:avLst>
              <a:gd name="adj" fmla="val 8065"/>
            </a:avLst>
          </a:prstGeom>
          <a:solidFill>
            <a:srgbClr val="FAF3E7"/>
          </a:solidFill>
          <a:ln w="12700">
            <a:solidFill>
              <a:srgbClr val="CFC7B8"/>
            </a:solidFill>
            <a:prstDash val="solid"/>
          </a:ln>
        </p:spPr>
      </p:sp>
      <p:sp>
        <p:nvSpPr>
          <p:cNvPr id="96" name="Text 93"/>
          <p:cNvSpPr txBox="1"/>
          <p:nvPr/>
        </p:nvSpPr>
        <p:spPr>
          <a:xfrm>
            <a:off x="8805672" y="4590288"/>
            <a:ext cx="786384" cy="274320"/>
          </a:xfrm>
          <a:prstGeom prst="rect">
            <a:avLst/>
          </a:prstGeom>
          <a:noFill/>
          <a:ln/>
        </p:spPr>
        <p:txBody>
          <a:bodyPr wrap="square" lIns="0" tIns="0" rIns="0" bIns="0" rtlCol="0" anchor="ctr"/>
          <a:lstStyle/>
          <a:p>
            <a:pPr algn="ctr" indent="0" marL="0">
              <a:buNone/>
            </a:pPr>
            <a:r>
              <a:rPr lang="en-US" sz="1050" dirty="0">
                <a:solidFill>
                  <a:srgbClr val="B3AB9C"/>
                </a:solidFill>
                <a:latin typeface="Calibri" pitchFamily="34" charset="0"/>
                <a:ea typeface="Calibri" pitchFamily="34" charset="-122"/>
                <a:cs typeface="Calibri" pitchFamily="34" charset="-120"/>
              </a:rPr>
              <a:t>G8</a:t>
            </a:r>
            <a:endParaRPr lang="en-US" sz="1050" dirty="0"/>
          </a:p>
        </p:txBody>
      </p:sp>
      <p:sp>
        <p:nvSpPr>
          <p:cNvPr id="97" name="Shape 94"/>
          <p:cNvSpPr/>
          <p:nvPr/>
        </p:nvSpPr>
        <p:spPr>
          <a:xfrm>
            <a:off x="9710928" y="4462272"/>
            <a:ext cx="786384" cy="566928"/>
          </a:xfrm>
          <a:prstGeom prst="roundRect">
            <a:avLst>
              <a:gd name="adj" fmla="val 8065"/>
            </a:avLst>
          </a:prstGeom>
          <a:solidFill>
            <a:srgbClr val="051D60"/>
          </a:solidFill>
          <a:ln w="12700">
            <a:solidFill>
              <a:srgbClr val="051D60"/>
            </a:solidFill>
            <a:prstDash val="solid"/>
          </a:ln>
        </p:spPr>
      </p:sp>
      <p:sp>
        <p:nvSpPr>
          <p:cNvPr id="98" name="Text 95"/>
          <p:cNvSpPr txBox="1"/>
          <p:nvPr/>
        </p:nvSpPr>
        <p:spPr>
          <a:xfrm>
            <a:off x="9710928" y="4590288"/>
            <a:ext cx="786384" cy="274320"/>
          </a:xfrm>
          <a:prstGeom prst="rect">
            <a:avLst/>
          </a:prstGeom>
          <a:noFill/>
          <a:ln/>
        </p:spPr>
        <p:txBody>
          <a:bodyPr wrap="square" lIns="0" tIns="0" rIns="0" bIns="0" rtlCol="0" anchor="ctr"/>
          <a:lstStyle/>
          <a:p>
            <a:pPr algn="ctr" indent="0" marL="0">
              <a:buNone/>
            </a:pPr>
            <a:r>
              <a:rPr lang="en-US" sz="1050" b="1" dirty="0">
                <a:solidFill>
                  <a:srgbClr val="FAF3E7"/>
                </a:solidFill>
                <a:latin typeface="Calibri" pitchFamily="34" charset="0"/>
                <a:ea typeface="Calibri" pitchFamily="34" charset="-122"/>
                <a:cs typeface="Calibri" pitchFamily="34" charset="-120"/>
              </a:rPr>
              <a:t>G9</a:t>
            </a:r>
            <a:endParaRPr lang="en-US" sz="1050" dirty="0"/>
          </a:p>
        </p:txBody>
      </p:sp>
      <p:sp>
        <p:nvSpPr>
          <p:cNvPr id="99" name="Text 96"/>
          <p:cNvSpPr txBox="1"/>
          <p:nvPr/>
        </p:nvSpPr>
        <p:spPr>
          <a:xfrm>
            <a:off x="10689336" y="4608576"/>
            <a:ext cx="914400"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4 of 9</a:t>
            </a:r>
            <a:endParaRPr lang="en-US" sz="1050" dirty="0"/>
          </a:p>
        </p:txBody>
      </p:sp>
      <p:sp>
        <p:nvSpPr>
          <p:cNvPr id="100" name="Shape 97"/>
          <p:cNvSpPr/>
          <p:nvPr/>
        </p:nvSpPr>
        <p:spPr>
          <a:xfrm>
            <a:off x="640080" y="5431536"/>
            <a:ext cx="3454298" cy="822960"/>
          </a:xfrm>
          <a:prstGeom prst="roundRect">
            <a:avLst>
              <a:gd name="adj" fmla="val 6667"/>
            </a:avLst>
          </a:prstGeom>
          <a:solidFill>
            <a:srgbClr val="FFFFFF"/>
          </a:solidFill>
          <a:ln w="12700">
            <a:solidFill>
              <a:srgbClr val="CFC7B8"/>
            </a:solidFill>
            <a:prstDash val="solid"/>
          </a:ln>
        </p:spPr>
      </p:sp>
      <p:sp>
        <p:nvSpPr>
          <p:cNvPr id="101" name="Text 98"/>
          <p:cNvSpPr txBox="1"/>
          <p:nvPr/>
        </p:nvSpPr>
        <p:spPr>
          <a:xfrm>
            <a:off x="841248"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Choose by the highest-severity characteristic present</a:t>
            </a:r>
            <a:endParaRPr lang="en-US" sz="1050" dirty="0"/>
          </a:p>
        </p:txBody>
      </p:sp>
      <p:sp>
        <p:nvSpPr>
          <p:cNvPr id="102" name="Text 99"/>
          <p:cNvSpPr txBox="1"/>
          <p:nvPr/>
        </p:nvSpPr>
        <p:spPr>
          <a:xfrm>
            <a:off x="841248"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Never the average. One regulated field in an otherwise trivial change makes the whole change full.</a:t>
            </a:r>
            <a:endParaRPr lang="en-US" sz="900" dirty="0"/>
          </a:p>
        </p:txBody>
      </p:sp>
      <p:sp>
        <p:nvSpPr>
          <p:cNvPr id="103" name="Shape 100"/>
          <p:cNvSpPr/>
          <p:nvPr/>
        </p:nvSpPr>
        <p:spPr>
          <a:xfrm>
            <a:off x="4368698" y="5431536"/>
            <a:ext cx="3454298" cy="822960"/>
          </a:xfrm>
          <a:prstGeom prst="roundRect">
            <a:avLst>
              <a:gd name="adj" fmla="val 6667"/>
            </a:avLst>
          </a:prstGeom>
          <a:solidFill>
            <a:srgbClr val="FFFFFF"/>
          </a:solidFill>
          <a:ln w="12700">
            <a:solidFill>
              <a:srgbClr val="CFC7B8"/>
            </a:solidFill>
            <a:prstDash val="solid"/>
          </a:ln>
        </p:spPr>
      </p:sp>
      <p:sp>
        <p:nvSpPr>
          <p:cNvPr id="104" name="Text 101"/>
          <p:cNvSpPr txBox="1"/>
          <p:nvPr/>
        </p:nvSpPr>
        <p:spPr>
          <a:xfrm>
            <a:off x="4569866"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Where two lanes both fit, take the wider one</a:t>
            </a:r>
            <a:endParaRPr lang="en-US" sz="1050" dirty="0"/>
          </a:p>
        </p:txBody>
      </p:sp>
      <p:sp>
        <p:nvSpPr>
          <p:cNvPr id="105" name="Text 102"/>
          <p:cNvSpPr txBox="1"/>
          <p:nvPr/>
        </p:nvSpPr>
        <p:spPr>
          <a:xfrm>
            <a:off x="4569866"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An unnecessary gate costs hours. A missing gate costs an incident.</a:t>
            </a:r>
            <a:endParaRPr lang="en-US" sz="900" dirty="0"/>
          </a:p>
        </p:txBody>
      </p:sp>
      <p:sp>
        <p:nvSpPr>
          <p:cNvPr id="106" name="Shape 103"/>
          <p:cNvSpPr/>
          <p:nvPr/>
        </p:nvSpPr>
        <p:spPr>
          <a:xfrm>
            <a:off x="8097317" y="5431536"/>
            <a:ext cx="3454298" cy="822960"/>
          </a:xfrm>
          <a:prstGeom prst="roundRect">
            <a:avLst>
              <a:gd name="adj" fmla="val 6667"/>
            </a:avLst>
          </a:prstGeom>
          <a:solidFill>
            <a:srgbClr val="FFFFFF"/>
          </a:solidFill>
          <a:ln w="12700">
            <a:solidFill>
              <a:srgbClr val="CFC7B8"/>
            </a:solidFill>
            <a:prstDash val="solid"/>
          </a:ln>
        </p:spPr>
      </p:sp>
      <p:sp>
        <p:nvSpPr>
          <p:cNvPr id="107" name="Text 104"/>
          <p:cNvSpPr txBox="1"/>
          <p:nvPr/>
        </p:nvSpPr>
        <p:spPr>
          <a:xfrm>
            <a:off x="8298485" y="5541264"/>
            <a:ext cx="3051962" cy="256032"/>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Lanes are never widened in place</a:t>
            </a:r>
            <a:endParaRPr lang="en-US" sz="1050" dirty="0"/>
          </a:p>
        </p:txBody>
      </p:sp>
      <p:sp>
        <p:nvSpPr>
          <p:cNvPr id="108" name="Text 105"/>
          <p:cNvSpPr txBox="1"/>
          <p:nvPr/>
        </p:nvSpPr>
        <p:spPr>
          <a:xfrm>
            <a:off x="8298485" y="5797296"/>
            <a:ext cx="3051962" cy="420624"/>
          </a:xfrm>
          <a:prstGeom prst="rect">
            <a:avLst/>
          </a:prstGeom>
          <a:noFill/>
          <a:ln/>
        </p:spPr>
        <p:txBody>
          <a:bodyPr wrap="square" lIns="0" tIns="0" rIns="0" bIns="0" rtlCol="0" anchor="ctr"/>
          <a:lstStyle/>
          <a:p>
            <a:pPr indent="0" marL="0">
              <a:lnSpc>
                <a:spcPct val="110000"/>
              </a:lnSpc>
              <a:buNone/>
            </a:pPr>
            <a:r>
              <a:rPr lang="en-US" sz="900" dirty="0">
                <a:solidFill>
                  <a:srgbClr val="5F6476"/>
                </a:solidFill>
                <a:latin typeface="Calibri" pitchFamily="34" charset="0"/>
                <a:ea typeface="Calibri" pitchFamily="34" charset="-122"/>
                <a:cs typeface="Calibri" pitchFamily="34" charset="-120"/>
              </a:rPr>
              <a:t>state.lane is not hand-edited. A change that outgrows its lane is waived out, archived, and re-proposed.</a:t>
            </a:r>
            <a:endParaRPr lang="en-US" sz="900" dirty="0"/>
          </a:p>
        </p:txBody>
      </p:sp>
      <p:sp>
        <p:nvSpPr>
          <p:cNvPr id="109" name="Text 106"/>
          <p:cNvSpPr txBox="1"/>
          <p:nvPr/>
        </p:nvSpPr>
        <p:spPr>
          <a:xfrm>
            <a:off x="640080" y="5138928"/>
            <a:ext cx="10911535" cy="256032"/>
          </a:xfrm>
          <a:prstGeom prst="rect">
            <a:avLst/>
          </a:prstGeom>
          <a:noFill/>
          <a:ln/>
        </p:spPr>
        <p:txBody>
          <a:bodyPr wrap="square" lIns="0" tIns="0" rIns="0" bIns="0" rtlCol="0" anchor="ctr"/>
          <a:lstStyle/>
          <a:p>
            <a:pPr indent="0" marL="0">
              <a:buNone/>
            </a:pPr>
            <a:r>
              <a:rPr lang="en-US" sz="1000" i="1" dirty="0">
                <a:solidFill>
                  <a:srgbClr val="5F6476"/>
                </a:solidFill>
                <a:latin typeface="Calibri" pitchFamily="34" charset="0"/>
                <a:ea typeface="Calibri" pitchFamily="34" charset="-122"/>
                <a:cs typeface="Calibri" pitchFamily="34" charset="-120"/>
              </a:rPr>
              <a:t>hotfix defers G2 (retroactive within 48 hours) and makes G9 mandatory.   standard cannot record G4 at all — see slide 15.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DIAGRAM · ONE CHANGE, END TO END — AND WHERE IT REFUSES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propose  →  gates  →  validate  →  archive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Every refusal below writes nothing at all — not the state, not the waivers row, not the event. A half-recorded change is worse than a blocked one.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10 / 19</a:t>
            </a:r>
            <a:endParaRPr lang="en-US" sz="850" dirty="0"/>
          </a:p>
        </p:txBody>
      </p:sp>
      <p:sp>
        <p:nvSpPr>
          <p:cNvPr id="7" name="Shape 4"/>
          <p:cNvSpPr/>
          <p:nvPr/>
        </p:nvSpPr>
        <p:spPr>
          <a:xfrm>
            <a:off x="640080" y="2048256"/>
            <a:ext cx="2377440" cy="1371600"/>
          </a:xfrm>
          <a:prstGeom prst="roundRect">
            <a:avLst>
              <a:gd name="adj" fmla="val 4000"/>
            </a:avLst>
          </a:prstGeom>
          <a:solidFill>
            <a:srgbClr val="0E2470"/>
          </a:solidFill>
          <a:ln w="12700">
            <a:solidFill>
              <a:srgbClr val="0E2470"/>
            </a:solidFill>
            <a:prstDash val="solid"/>
          </a:ln>
        </p:spPr>
      </p:sp>
      <p:sp>
        <p:nvSpPr>
          <p:cNvPr id="8" name="Text 5"/>
          <p:cNvSpPr txBox="1"/>
          <p:nvPr/>
        </p:nvSpPr>
        <p:spPr>
          <a:xfrm>
            <a:off x="841248"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propose</a:t>
            </a:r>
            <a:endParaRPr lang="en-US" sz="1500" dirty="0"/>
          </a:p>
        </p:txBody>
      </p:sp>
      <p:sp>
        <p:nvSpPr>
          <p:cNvPr id="9" name="Text 6"/>
          <p:cNvSpPr txBox="1"/>
          <p:nvPr/>
        </p:nvSpPr>
        <p:spPr>
          <a:xfrm>
            <a:off x="841248"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--lane &lt;lane&gt;</a:t>
            </a:r>
            <a:endParaRPr lang="en-US" sz="950" dirty="0"/>
          </a:p>
        </p:txBody>
      </p:sp>
      <p:sp>
        <p:nvSpPr>
          <p:cNvPr id="10" name="Text 7"/>
          <p:cNvSpPr txBox="1"/>
          <p:nvPr/>
        </p:nvSpPr>
        <p:spPr>
          <a:xfrm>
            <a:off x="841248"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Opens the change from templates. The lane is fixed here, for the life of the change.</a:t>
            </a:r>
            <a:endParaRPr lang="en-US" sz="950" dirty="0"/>
          </a:p>
        </p:txBody>
      </p:sp>
      <p:sp>
        <p:nvSpPr>
          <p:cNvPr id="11" name="Shape 8"/>
          <p:cNvSpPr/>
          <p:nvPr/>
        </p:nvSpPr>
        <p:spPr>
          <a:xfrm>
            <a:off x="3108960" y="2734056"/>
            <a:ext cx="284378" cy="0"/>
          </a:xfrm>
          <a:prstGeom prst="line">
            <a:avLst/>
          </a:prstGeom>
          <a:noFill/>
          <a:ln w="22860">
            <a:solidFill>
              <a:srgbClr val="FAF3E7"/>
            </a:solidFill>
            <a:prstDash val="solid"/>
            <a:headEnd type="none"/>
            <a:tailEnd type="triangle"/>
          </a:ln>
        </p:spPr>
      </p:sp>
      <p:sp>
        <p:nvSpPr>
          <p:cNvPr id="12" name="Shape 9"/>
          <p:cNvSpPr/>
          <p:nvPr/>
        </p:nvSpPr>
        <p:spPr>
          <a:xfrm>
            <a:off x="640080" y="3767328"/>
            <a:ext cx="2377440" cy="1444752"/>
          </a:xfrm>
          <a:prstGeom prst="roundRect">
            <a:avLst>
              <a:gd name="adj" fmla="val 3797"/>
            </a:avLst>
          </a:prstGeom>
          <a:solidFill>
            <a:srgbClr val="0D131F"/>
          </a:solidFill>
          <a:ln w="12700">
            <a:solidFill>
              <a:srgbClr val="2A2F45"/>
            </a:solidFill>
            <a:prstDash val="solid"/>
          </a:ln>
        </p:spPr>
      </p:sp>
      <p:sp>
        <p:nvSpPr>
          <p:cNvPr id="13" name="Text 10"/>
          <p:cNvSpPr txBox="1"/>
          <p:nvPr/>
        </p:nvSpPr>
        <p:spPr>
          <a:xfrm>
            <a:off x="841248"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14" name="Text 11"/>
          <p:cNvSpPr txBox="1"/>
          <p:nvPr/>
        </p:nvSpPr>
        <p:spPr>
          <a:xfrm>
            <a:off x="841248"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unknown lane '&lt;x&gt;' — valid lanes: ...</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--lane requires a value</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change '&lt;name&gt;' already exists</a:t>
            </a:r>
            <a:endParaRPr lang="en-US" sz="900" dirty="0"/>
          </a:p>
        </p:txBody>
      </p:sp>
      <p:sp>
        <p:nvSpPr>
          <p:cNvPr id="15" name="Shape 12"/>
          <p:cNvSpPr/>
          <p:nvPr/>
        </p:nvSpPr>
        <p:spPr>
          <a:xfrm>
            <a:off x="1828800" y="3474720"/>
            <a:ext cx="0" cy="237744"/>
          </a:xfrm>
          <a:prstGeom prst="line">
            <a:avLst/>
          </a:prstGeom>
          <a:noFill/>
          <a:ln w="16510">
            <a:solidFill>
              <a:srgbClr val="E08A72"/>
            </a:solidFill>
            <a:prstDash val="dash"/>
            <a:headEnd type="none"/>
            <a:tailEnd type="triangle"/>
          </a:ln>
        </p:spPr>
      </p:sp>
      <p:sp>
        <p:nvSpPr>
          <p:cNvPr id="16" name="Shape 13"/>
          <p:cNvSpPr/>
          <p:nvPr/>
        </p:nvSpPr>
        <p:spPr>
          <a:xfrm>
            <a:off x="3484778" y="2048256"/>
            <a:ext cx="2377440" cy="1371600"/>
          </a:xfrm>
          <a:prstGeom prst="roundRect">
            <a:avLst>
              <a:gd name="adj" fmla="val 4000"/>
            </a:avLst>
          </a:prstGeom>
          <a:solidFill>
            <a:srgbClr val="0E2470"/>
          </a:solidFill>
          <a:ln w="12700">
            <a:solidFill>
              <a:srgbClr val="0E2470"/>
            </a:solidFill>
            <a:prstDash val="solid"/>
          </a:ln>
        </p:spPr>
      </p:sp>
      <p:sp>
        <p:nvSpPr>
          <p:cNvPr id="17" name="Text 14"/>
          <p:cNvSpPr txBox="1"/>
          <p:nvPr/>
        </p:nvSpPr>
        <p:spPr>
          <a:xfrm>
            <a:off x="3685946"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gate G#</a:t>
            </a:r>
            <a:endParaRPr lang="en-US" sz="1500" dirty="0"/>
          </a:p>
        </p:txBody>
      </p:sp>
      <p:sp>
        <p:nvSpPr>
          <p:cNvPr id="18" name="Text 15"/>
          <p:cNvSpPr txBox="1"/>
          <p:nvPr/>
        </p:nvSpPr>
        <p:spPr>
          <a:xfrm>
            <a:off x="3685946"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--pass | --fail | --waive</a:t>
            </a:r>
            <a:endParaRPr lang="en-US" sz="950" dirty="0"/>
          </a:p>
        </p:txBody>
      </p:sp>
      <p:sp>
        <p:nvSpPr>
          <p:cNvPr id="19" name="Text 16"/>
          <p:cNvSpPr txBox="1"/>
          <p:nvPr/>
        </p:nvSpPr>
        <p:spPr>
          <a:xfrm>
            <a:off x="3685946"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Records a verdict plus an evidence path into state.json, and appends an event.</a:t>
            </a:r>
            <a:endParaRPr lang="en-US" sz="950" dirty="0"/>
          </a:p>
        </p:txBody>
      </p:sp>
      <p:sp>
        <p:nvSpPr>
          <p:cNvPr id="20" name="Shape 17"/>
          <p:cNvSpPr/>
          <p:nvPr/>
        </p:nvSpPr>
        <p:spPr>
          <a:xfrm>
            <a:off x="5953658" y="2734056"/>
            <a:ext cx="284378" cy="0"/>
          </a:xfrm>
          <a:prstGeom prst="line">
            <a:avLst/>
          </a:prstGeom>
          <a:noFill/>
          <a:ln w="22860">
            <a:solidFill>
              <a:srgbClr val="FAF3E7"/>
            </a:solidFill>
            <a:prstDash val="solid"/>
            <a:headEnd type="none"/>
            <a:tailEnd type="triangle"/>
          </a:ln>
        </p:spPr>
      </p:sp>
      <p:sp>
        <p:nvSpPr>
          <p:cNvPr id="21" name="Shape 18"/>
          <p:cNvSpPr/>
          <p:nvPr/>
        </p:nvSpPr>
        <p:spPr>
          <a:xfrm>
            <a:off x="3484778" y="3767328"/>
            <a:ext cx="2377440" cy="1444752"/>
          </a:xfrm>
          <a:prstGeom prst="roundRect">
            <a:avLst>
              <a:gd name="adj" fmla="val 3797"/>
            </a:avLst>
          </a:prstGeom>
          <a:solidFill>
            <a:srgbClr val="0D131F"/>
          </a:solidFill>
          <a:ln w="12700">
            <a:solidFill>
              <a:srgbClr val="2A2F45"/>
            </a:solidFill>
            <a:prstDash val="solid"/>
          </a:ln>
        </p:spPr>
      </p:sp>
      <p:sp>
        <p:nvSpPr>
          <p:cNvPr id="22" name="Text 19"/>
          <p:cNvSpPr txBox="1"/>
          <p:nvPr/>
        </p:nvSpPr>
        <p:spPr>
          <a:xfrm>
            <a:off x="3685946"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23" name="Text 20"/>
          <p:cNvSpPr txBox="1"/>
          <p:nvPr/>
        </p:nvSpPr>
        <p:spPr>
          <a:xfrm>
            <a:off x="3685946"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G4 is not in lane 'standard'</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evidence path does not exist / not a regular file / is empty (0 bytes)</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--expires must be strictly in the future</a:t>
            </a:r>
            <a:endParaRPr lang="en-US" sz="900" dirty="0"/>
          </a:p>
        </p:txBody>
      </p:sp>
      <p:sp>
        <p:nvSpPr>
          <p:cNvPr id="24" name="Shape 21"/>
          <p:cNvSpPr/>
          <p:nvPr/>
        </p:nvSpPr>
        <p:spPr>
          <a:xfrm>
            <a:off x="4673498" y="3474720"/>
            <a:ext cx="0" cy="237744"/>
          </a:xfrm>
          <a:prstGeom prst="line">
            <a:avLst/>
          </a:prstGeom>
          <a:noFill/>
          <a:ln w="16510">
            <a:solidFill>
              <a:srgbClr val="E08A72"/>
            </a:solidFill>
            <a:prstDash val="dash"/>
            <a:headEnd type="none"/>
            <a:tailEnd type="triangle"/>
          </a:ln>
        </p:spPr>
      </p:sp>
      <p:sp>
        <p:nvSpPr>
          <p:cNvPr id="25" name="Shape 22"/>
          <p:cNvSpPr/>
          <p:nvPr/>
        </p:nvSpPr>
        <p:spPr>
          <a:xfrm>
            <a:off x="6329477" y="2048256"/>
            <a:ext cx="2377440" cy="1371600"/>
          </a:xfrm>
          <a:prstGeom prst="roundRect">
            <a:avLst>
              <a:gd name="adj" fmla="val 4000"/>
            </a:avLst>
          </a:prstGeom>
          <a:solidFill>
            <a:srgbClr val="0E2470"/>
          </a:solidFill>
          <a:ln w="12700">
            <a:solidFill>
              <a:srgbClr val="0E2470"/>
            </a:solidFill>
            <a:prstDash val="solid"/>
          </a:ln>
        </p:spPr>
      </p:sp>
      <p:sp>
        <p:nvSpPr>
          <p:cNvPr id="26" name="Text 23"/>
          <p:cNvSpPr txBox="1"/>
          <p:nvPr/>
        </p:nvSpPr>
        <p:spPr>
          <a:xfrm>
            <a:off x="6530645"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validate</a:t>
            </a:r>
            <a:endParaRPr lang="en-US" sz="1500" dirty="0"/>
          </a:p>
        </p:txBody>
      </p:sp>
      <p:sp>
        <p:nvSpPr>
          <p:cNvPr id="27" name="Text 24"/>
          <p:cNvSpPr txBox="1"/>
          <p:nvPr/>
        </p:nvSpPr>
        <p:spPr>
          <a:xfrm>
            <a:off x="6530645"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[--strict]</a:t>
            </a:r>
            <a:endParaRPr lang="en-US" sz="950" dirty="0"/>
          </a:p>
        </p:txBody>
      </p:sp>
      <p:sp>
        <p:nvSpPr>
          <p:cNvPr id="28" name="Text 25"/>
          <p:cNvSpPr txBox="1"/>
          <p:nvPr/>
        </p:nvSpPr>
        <p:spPr>
          <a:xfrm>
            <a:off x="6530645"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Frontmatter and naming, the separation law, the ID chain. --strict adds the orphan check.</a:t>
            </a:r>
            <a:endParaRPr lang="en-US" sz="950" dirty="0"/>
          </a:p>
        </p:txBody>
      </p:sp>
      <p:sp>
        <p:nvSpPr>
          <p:cNvPr id="29" name="Shape 26"/>
          <p:cNvSpPr/>
          <p:nvPr/>
        </p:nvSpPr>
        <p:spPr>
          <a:xfrm>
            <a:off x="8798357" y="2734056"/>
            <a:ext cx="284378" cy="0"/>
          </a:xfrm>
          <a:prstGeom prst="line">
            <a:avLst/>
          </a:prstGeom>
          <a:noFill/>
          <a:ln w="22860">
            <a:solidFill>
              <a:srgbClr val="FAF3E7"/>
            </a:solidFill>
            <a:prstDash val="solid"/>
            <a:headEnd type="none"/>
            <a:tailEnd type="triangle"/>
          </a:ln>
        </p:spPr>
      </p:sp>
      <p:sp>
        <p:nvSpPr>
          <p:cNvPr id="30" name="Shape 27"/>
          <p:cNvSpPr/>
          <p:nvPr/>
        </p:nvSpPr>
        <p:spPr>
          <a:xfrm>
            <a:off x="6329477" y="3767328"/>
            <a:ext cx="2377440" cy="1444752"/>
          </a:xfrm>
          <a:prstGeom prst="roundRect">
            <a:avLst>
              <a:gd name="adj" fmla="val 3797"/>
            </a:avLst>
          </a:prstGeom>
          <a:solidFill>
            <a:srgbClr val="0D131F"/>
          </a:solidFill>
          <a:ln w="12700">
            <a:solidFill>
              <a:srgbClr val="2A2F45"/>
            </a:solidFill>
            <a:prstDash val="solid"/>
          </a:ln>
        </p:spPr>
      </p:sp>
      <p:sp>
        <p:nvSpPr>
          <p:cNvPr id="31" name="Text 28"/>
          <p:cNvSpPr txBox="1"/>
          <p:nvPr/>
        </p:nvSpPr>
        <p:spPr>
          <a:xfrm>
            <a:off x="6530645"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32" name="Text 29"/>
          <p:cNvSpPr txBox="1"/>
          <p:nvPr/>
        </p:nvSpPr>
        <p:spPr>
          <a:xfrm>
            <a:off x="6530645"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3 stale artifact(s) — resolve rework first</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T1 · T2 · T3 findings  (T4 under --strict)</a:t>
            </a:r>
            <a:endParaRPr lang="en-US" sz="900" dirty="0"/>
          </a:p>
        </p:txBody>
      </p:sp>
      <p:sp>
        <p:nvSpPr>
          <p:cNvPr id="33" name="Shape 30"/>
          <p:cNvSpPr/>
          <p:nvPr/>
        </p:nvSpPr>
        <p:spPr>
          <a:xfrm>
            <a:off x="7518197" y="3474720"/>
            <a:ext cx="0" cy="237744"/>
          </a:xfrm>
          <a:prstGeom prst="line">
            <a:avLst/>
          </a:prstGeom>
          <a:noFill/>
          <a:ln w="16510">
            <a:solidFill>
              <a:srgbClr val="E08A72"/>
            </a:solidFill>
            <a:prstDash val="dash"/>
            <a:headEnd type="none"/>
            <a:tailEnd type="triangle"/>
          </a:ln>
        </p:spPr>
      </p:sp>
      <p:sp>
        <p:nvSpPr>
          <p:cNvPr id="34" name="Shape 31"/>
          <p:cNvSpPr/>
          <p:nvPr/>
        </p:nvSpPr>
        <p:spPr>
          <a:xfrm>
            <a:off x="9174175" y="2048256"/>
            <a:ext cx="2377440" cy="1371600"/>
          </a:xfrm>
          <a:prstGeom prst="roundRect">
            <a:avLst>
              <a:gd name="adj" fmla="val 4000"/>
            </a:avLst>
          </a:prstGeom>
          <a:solidFill>
            <a:srgbClr val="0E2470"/>
          </a:solidFill>
          <a:ln w="12700">
            <a:solidFill>
              <a:srgbClr val="0E2470"/>
            </a:solidFill>
            <a:prstDash val="solid"/>
          </a:ln>
        </p:spPr>
      </p:sp>
      <p:sp>
        <p:nvSpPr>
          <p:cNvPr id="35" name="Text 32"/>
          <p:cNvSpPr txBox="1"/>
          <p:nvPr/>
        </p:nvSpPr>
        <p:spPr>
          <a:xfrm>
            <a:off x="9375343" y="2176272"/>
            <a:ext cx="1975104" cy="274320"/>
          </a:xfrm>
          <a:prstGeom prst="rect">
            <a:avLst/>
          </a:prstGeom>
          <a:noFill/>
          <a:ln/>
        </p:spPr>
        <p:txBody>
          <a:bodyPr wrap="square" lIns="0" tIns="0" rIns="0" bIns="0" rtlCol="0" anchor="ctr"/>
          <a:lstStyle/>
          <a:p>
            <a:pPr indent="0" marL="0">
              <a:buNone/>
            </a:pPr>
            <a:r>
              <a:rPr lang="en-US" sz="1500" b="1" dirty="0">
                <a:solidFill>
                  <a:srgbClr val="FAF3E7"/>
                </a:solidFill>
                <a:latin typeface="Mulish" pitchFamily="34" charset="0"/>
                <a:ea typeface="Mulish" pitchFamily="34" charset="-122"/>
                <a:cs typeface="Mulish" pitchFamily="34" charset="-120"/>
              </a:rPr>
              <a:t>archive</a:t>
            </a:r>
            <a:endParaRPr lang="en-US" sz="1500" dirty="0"/>
          </a:p>
        </p:txBody>
      </p:sp>
      <p:sp>
        <p:nvSpPr>
          <p:cNvPr id="36" name="Text 33"/>
          <p:cNvSpPr txBox="1"/>
          <p:nvPr/>
        </p:nvSpPr>
        <p:spPr>
          <a:xfrm>
            <a:off x="9375343" y="2450592"/>
            <a:ext cx="1975104"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&lt;name&gt;</a:t>
            </a:r>
            <a:endParaRPr lang="en-US" sz="950" dirty="0"/>
          </a:p>
        </p:txBody>
      </p:sp>
      <p:sp>
        <p:nvSpPr>
          <p:cNvPr id="37" name="Text 34"/>
          <p:cNvSpPr txBox="1"/>
          <p:nvPr/>
        </p:nvSpPr>
        <p:spPr>
          <a:xfrm>
            <a:off x="9375343" y="2706624"/>
            <a:ext cx="1975104" cy="621792"/>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Folds the delta spec into specs/, moves the change, writes the insight stub.</a:t>
            </a:r>
            <a:endParaRPr lang="en-US" sz="950" dirty="0"/>
          </a:p>
        </p:txBody>
      </p:sp>
      <p:sp>
        <p:nvSpPr>
          <p:cNvPr id="38" name="Shape 35"/>
          <p:cNvSpPr/>
          <p:nvPr/>
        </p:nvSpPr>
        <p:spPr>
          <a:xfrm>
            <a:off x="9174175" y="3767328"/>
            <a:ext cx="2377440" cy="1444752"/>
          </a:xfrm>
          <a:prstGeom prst="roundRect">
            <a:avLst>
              <a:gd name="adj" fmla="val 3797"/>
            </a:avLst>
          </a:prstGeom>
          <a:solidFill>
            <a:srgbClr val="0D131F"/>
          </a:solidFill>
          <a:ln w="12700">
            <a:solidFill>
              <a:srgbClr val="2A2F45"/>
            </a:solidFill>
            <a:prstDash val="solid"/>
          </a:ln>
        </p:spPr>
      </p:sp>
      <p:sp>
        <p:nvSpPr>
          <p:cNvPr id="39" name="Text 36"/>
          <p:cNvSpPr txBox="1"/>
          <p:nvPr/>
        </p:nvSpPr>
        <p:spPr>
          <a:xfrm>
            <a:off x="9375343" y="3895344"/>
            <a:ext cx="1975104" cy="182880"/>
          </a:xfrm>
          <a:prstGeom prst="rect">
            <a:avLst/>
          </a:prstGeom>
          <a:noFill/>
          <a:ln/>
        </p:spPr>
        <p:txBody>
          <a:bodyPr wrap="square" lIns="0" tIns="0" rIns="0" bIns="0" rtlCol="0" anchor="ctr"/>
          <a:lstStyle/>
          <a:p>
            <a:pPr indent="0" marL="0">
              <a:buNone/>
            </a:pPr>
            <a:r>
              <a:rPr lang="en-US" sz="800" b="1" spc="100" kern="0" dirty="0">
                <a:solidFill>
                  <a:srgbClr val="E08A72"/>
                </a:solidFill>
                <a:latin typeface="Calibri" pitchFamily="34" charset="0"/>
                <a:ea typeface="Calibri" pitchFamily="34" charset="-122"/>
                <a:cs typeface="Calibri" pitchFamily="34" charset="-120"/>
              </a:rPr>
              <a:t>REFUSES WHEN</a:t>
            </a:r>
            <a:endParaRPr lang="en-US" sz="800" dirty="0"/>
          </a:p>
        </p:txBody>
      </p:sp>
      <p:sp>
        <p:nvSpPr>
          <p:cNvPr id="40" name="Text 37"/>
          <p:cNvSpPr txBox="1"/>
          <p:nvPr/>
        </p:nvSpPr>
        <p:spPr>
          <a:xfrm>
            <a:off x="9375343" y="4133088"/>
            <a:ext cx="1975104" cy="960120"/>
          </a:xfrm>
          <a:prstGeom prst="rect">
            <a:avLst/>
          </a:prstGeom>
          <a:noFill/>
          <a:ln/>
        </p:spPr>
        <p:txBody>
          <a:bodyPr wrap="square" lIns="0" tIns="0" rIns="0" bIns="0" rtlCol="0" anchor="ctr"/>
          <a:lstStyle/>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gates and/or artifacts are not settled</a:t>
            </a:r>
            <a:endParaRPr lang="en-US" sz="900" dirty="0"/>
          </a:p>
          <a:p>
            <a:pPr marL="342900" indent="-342900">
              <a:spcAft>
                <a:spcPts val="500"/>
              </a:spcAft>
              <a:buSzPct val="100000"/>
              <a:buChar char="•"/>
            </a:pPr>
            <a:r>
              <a:rPr lang="en-US" sz="900" dirty="0">
                <a:solidFill>
                  <a:srgbClr val="E4DED3"/>
                </a:solidFill>
                <a:latin typeface="Calibri" pitchFamily="34" charset="0"/>
                <a:ea typeface="Calibri" pitchFamily="34" charset="-122"/>
                <a:cs typeface="Calibri" pitchFamily="34" charset="-120"/>
              </a:rPr>
              <a:t>refuses to overwrite an existing archive</a:t>
            </a:r>
            <a:endParaRPr lang="en-US" sz="900" dirty="0"/>
          </a:p>
        </p:txBody>
      </p:sp>
      <p:sp>
        <p:nvSpPr>
          <p:cNvPr id="41" name="Shape 38"/>
          <p:cNvSpPr/>
          <p:nvPr/>
        </p:nvSpPr>
        <p:spPr>
          <a:xfrm>
            <a:off x="10362895" y="3474720"/>
            <a:ext cx="0" cy="237744"/>
          </a:xfrm>
          <a:prstGeom prst="line">
            <a:avLst/>
          </a:prstGeom>
          <a:noFill/>
          <a:ln w="16510">
            <a:solidFill>
              <a:srgbClr val="E08A72"/>
            </a:solidFill>
            <a:prstDash val="dash"/>
            <a:headEnd type="none"/>
            <a:tailEnd type="triangle"/>
          </a:ln>
        </p:spPr>
      </p:sp>
      <p:sp>
        <p:nvSpPr>
          <p:cNvPr id="42" name="Shape 39"/>
          <p:cNvSpPr/>
          <p:nvPr/>
        </p:nvSpPr>
        <p:spPr>
          <a:xfrm>
            <a:off x="640080" y="5449824"/>
            <a:ext cx="10911535" cy="749808"/>
          </a:xfrm>
          <a:prstGeom prst="roundRect">
            <a:avLst>
              <a:gd name="adj" fmla="val 7317"/>
            </a:avLst>
          </a:prstGeom>
          <a:solidFill>
            <a:srgbClr val="192954"/>
          </a:solidFill>
          <a:ln w="12700">
            <a:solidFill>
              <a:srgbClr val="192954"/>
            </a:solidFill>
            <a:prstDash val="solid"/>
          </a:ln>
        </p:spPr>
      </p:sp>
      <p:sp>
        <p:nvSpPr>
          <p:cNvPr id="43" name="Text 40"/>
          <p:cNvSpPr txBox="1"/>
          <p:nvPr/>
        </p:nvSpPr>
        <p:spPr>
          <a:xfrm>
            <a:off x="914400" y="5614416"/>
            <a:ext cx="1463040" cy="274320"/>
          </a:xfrm>
          <a:prstGeom prst="rect">
            <a:avLst/>
          </a:prstGeom>
          <a:noFill/>
          <a:ln/>
        </p:spPr>
        <p:txBody>
          <a:bodyPr wrap="square" lIns="0" tIns="0" rIns="0" bIns="0" rtlCol="0" anchor="ctr"/>
          <a:lstStyle/>
          <a:p>
            <a:pPr indent="0" marL="0">
              <a:buNone/>
            </a:pPr>
            <a:r>
              <a:rPr lang="en-US" sz="1200" b="1" dirty="0">
                <a:solidFill>
                  <a:srgbClr val="E08A72"/>
                </a:solidFill>
                <a:latin typeface="Calibri" pitchFamily="34" charset="0"/>
                <a:ea typeface="Calibri" pitchFamily="34" charset="-122"/>
                <a:cs typeface="Calibri" pitchFamily="34" charset="-120"/>
              </a:rPr>
              <a:t>gate G6 --fail</a:t>
            </a:r>
            <a:endParaRPr lang="en-US" sz="1200" dirty="0"/>
          </a:p>
        </p:txBody>
      </p:sp>
      <p:sp>
        <p:nvSpPr>
          <p:cNvPr id="44" name="Shape 41"/>
          <p:cNvSpPr/>
          <p:nvPr/>
        </p:nvSpPr>
        <p:spPr>
          <a:xfrm>
            <a:off x="2468880" y="5751576"/>
            <a:ext cx="457200" cy="0"/>
          </a:xfrm>
          <a:prstGeom prst="line">
            <a:avLst/>
          </a:prstGeom>
          <a:noFill/>
          <a:ln w="19050">
            <a:solidFill>
              <a:srgbClr val="E4DED3"/>
            </a:solidFill>
            <a:prstDash val="solid"/>
            <a:headEnd type="none"/>
            <a:tailEnd type="triangle"/>
          </a:ln>
        </p:spPr>
      </p:sp>
      <p:sp>
        <p:nvSpPr>
          <p:cNvPr id="45" name="Text 42"/>
          <p:cNvSpPr txBox="1"/>
          <p:nvPr/>
        </p:nvSpPr>
        <p:spPr>
          <a:xfrm>
            <a:off x="3035808" y="5596128"/>
            <a:ext cx="8168335" cy="457200"/>
          </a:xfrm>
          <a:prstGeom prst="rect">
            <a:avLst/>
          </a:prstGeom>
          <a:noFill/>
          <a:ln/>
        </p:spPr>
        <p:txBody>
          <a:bodyPr wrap="square" lIns="0" tIns="0" rIns="0" bIns="0" rtlCol="0" anchor="ctr"/>
          <a:lstStyle/>
          <a:p>
            <a:pPr indent="0" marL="0">
              <a:lnSpc>
                <a:spcPct val="112000"/>
              </a:lnSpc>
              <a:buNone/>
            </a:pPr>
            <a:r>
              <a:rPr lang="en-US" sz="1000" dirty="0">
                <a:solidFill>
                  <a:srgbClr val="E4DED3"/>
                </a:solidFill>
                <a:latin typeface="Calibri" pitchFamily="34" charset="0"/>
                <a:ea typeface="Calibri" pitchFamily="34" charset="-122"/>
                <a:cs typeface="Calibri" pitchFamily="34" charset="-120"/>
              </a:rPr>
              <a:t>G6 and every later gate in the same lane are marked stale  →  validate fails while any stale entry remains  →  a rework record names the phase to re-enter  →  each stale gate is cleared by re-recording it individually.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DIAGRAM · SPEC-DRIVEN</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Everything traces back to a requirement</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The spec is the source of truth and code is its consequence. A code change that outruns its spec is a defect, not a shortcut.</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11 / 19</a:t>
            </a:r>
            <a:endParaRPr lang="en-US" sz="850" dirty="0"/>
          </a:p>
        </p:txBody>
      </p:sp>
      <p:sp>
        <p:nvSpPr>
          <p:cNvPr id="7" name="Shape 4"/>
          <p:cNvSpPr/>
          <p:nvPr/>
        </p:nvSpPr>
        <p:spPr>
          <a:xfrm>
            <a:off x="640080" y="1965960"/>
            <a:ext cx="1316736" cy="1207008"/>
          </a:xfrm>
          <a:prstGeom prst="roundRect">
            <a:avLst>
              <a:gd name="adj" fmla="val 4545"/>
            </a:avLst>
          </a:prstGeom>
          <a:solidFill>
            <a:srgbClr val="051D60"/>
          </a:solidFill>
          <a:ln w="12700">
            <a:solidFill>
              <a:srgbClr val="051D60"/>
            </a:solidFill>
            <a:prstDash val="solid"/>
          </a:ln>
        </p:spPr>
      </p:sp>
      <p:sp>
        <p:nvSpPr>
          <p:cNvPr id="8" name="Text 5"/>
          <p:cNvSpPr txBox="1"/>
          <p:nvPr/>
        </p:nvSpPr>
        <p:spPr>
          <a:xfrm>
            <a:off x="694944" y="2139696"/>
            <a:ext cx="1207008" cy="310896"/>
          </a:xfrm>
          <a:prstGeom prst="rect">
            <a:avLst/>
          </a:prstGeom>
          <a:noFill/>
          <a:ln/>
        </p:spPr>
        <p:txBody>
          <a:bodyPr wrap="square" lIns="0" tIns="0" rIns="0" bIns="0" rtlCol="0" anchor="ctr"/>
          <a:lstStyle/>
          <a:p>
            <a:pPr algn="ctr" indent="0" marL="0">
              <a:buNone/>
            </a:pPr>
            <a:r>
              <a:rPr lang="en-US" sz="1700" b="1" dirty="0">
                <a:solidFill>
                  <a:srgbClr val="FAF3E7"/>
                </a:solidFill>
                <a:latin typeface="Mulish" pitchFamily="34" charset="0"/>
                <a:ea typeface="Mulish" pitchFamily="34" charset="-122"/>
                <a:cs typeface="Mulish" pitchFamily="34" charset="-120"/>
              </a:rPr>
              <a:t>REQ</a:t>
            </a:r>
            <a:endParaRPr lang="en-US" sz="1700" dirty="0"/>
          </a:p>
        </p:txBody>
      </p:sp>
      <p:sp>
        <p:nvSpPr>
          <p:cNvPr id="9" name="Text 6"/>
          <p:cNvSpPr txBox="1"/>
          <p:nvPr/>
        </p:nvSpPr>
        <p:spPr>
          <a:xfrm>
            <a:off x="694944" y="2487168"/>
            <a:ext cx="1207008" cy="219456"/>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requirement</a:t>
            </a:r>
            <a:endParaRPr lang="en-US" sz="950" dirty="0"/>
          </a:p>
        </p:txBody>
      </p:sp>
      <p:sp>
        <p:nvSpPr>
          <p:cNvPr id="10" name="Text 7"/>
          <p:cNvSpPr txBox="1"/>
          <p:nvPr/>
        </p:nvSpPr>
        <p:spPr>
          <a:xfrm>
            <a:off x="694944" y="2743200"/>
            <a:ext cx="1207008" cy="329184"/>
          </a:xfrm>
          <a:prstGeom prst="rect">
            <a:avLst/>
          </a:prstGeom>
          <a:noFill/>
          <a:ln/>
        </p:spPr>
        <p:txBody>
          <a:bodyPr wrap="square" lIns="0" tIns="0" rIns="0" bIns="0" rtlCol="0" anchor="ctr"/>
          <a:lstStyle/>
          <a:p>
            <a:pPr algn="ctr" indent="0" marL="0">
              <a:buNone/>
            </a:pPr>
            <a:r>
              <a:rPr lang="en-US" sz="800" i="1" dirty="0">
                <a:solidFill>
                  <a:srgbClr val="E4DED3"/>
                </a:solidFill>
                <a:latin typeface="Calibri" pitchFamily="34" charset="0"/>
                <a:ea typeface="Calibri" pitchFamily="34" charset="-122"/>
                <a:cs typeface="Calibri" pitchFamily="34" charset="-120"/>
              </a:rPr>
              <a:t>specs/&lt;cap&gt;/spec.md</a:t>
            </a:r>
            <a:endParaRPr lang="en-US" sz="800" dirty="0"/>
          </a:p>
        </p:txBody>
      </p:sp>
      <p:sp>
        <p:nvSpPr>
          <p:cNvPr id="11" name="Shape 8"/>
          <p:cNvSpPr/>
          <p:nvPr/>
        </p:nvSpPr>
        <p:spPr>
          <a:xfrm>
            <a:off x="1993392" y="2569464"/>
            <a:ext cx="209245" cy="0"/>
          </a:xfrm>
          <a:prstGeom prst="line">
            <a:avLst/>
          </a:prstGeom>
          <a:noFill/>
          <a:ln w="19050">
            <a:solidFill>
              <a:srgbClr val="051D60"/>
            </a:solidFill>
            <a:prstDash val="solid"/>
            <a:headEnd type="none"/>
            <a:tailEnd type="triangle"/>
          </a:ln>
        </p:spPr>
      </p:sp>
      <p:sp>
        <p:nvSpPr>
          <p:cNvPr id="12" name="Shape 9"/>
          <p:cNvSpPr/>
          <p:nvPr/>
        </p:nvSpPr>
        <p:spPr>
          <a:xfrm>
            <a:off x="2239213" y="1965960"/>
            <a:ext cx="1316736" cy="1207008"/>
          </a:xfrm>
          <a:prstGeom prst="roundRect">
            <a:avLst>
              <a:gd name="adj" fmla="val 4545"/>
            </a:avLst>
          </a:prstGeom>
          <a:solidFill>
            <a:srgbClr val="FFFFFF"/>
          </a:solidFill>
          <a:ln w="12700">
            <a:solidFill>
              <a:srgbClr val="CFC7B8"/>
            </a:solidFill>
            <a:prstDash val="solid"/>
          </a:ln>
        </p:spPr>
      </p:sp>
      <p:sp>
        <p:nvSpPr>
          <p:cNvPr id="13" name="Text 10"/>
          <p:cNvSpPr txBox="1"/>
          <p:nvPr/>
        </p:nvSpPr>
        <p:spPr>
          <a:xfrm>
            <a:off x="2294077"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AC</a:t>
            </a:r>
            <a:endParaRPr lang="en-US" sz="1700" dirty="0"/>
          </a:p>
        </p:txBody>
      </p:sp>
      <p:sp>
        <p:nvSpPr>
          <p:cNvPr id="14" name="Text 11"/>
          <p:cNvSpPr txBox="1"/>
          <p:nvPr/>
        </p:nvSpPr>
        <p:spPr>
          <a:xfrm>
            <a:off x="2294077"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acceptance</a:t>
            </a:r>
            <a:endParaRPr lang="en-US" sz="950" dirty="0"/>
          </a:p>
        </p:txBody>
      </p:sp>
      <p:sp>
        <p:nvSpPr>
          <p:cNvPr id="15" name="Text 12"/>
          <p:cNvSpPr txBox="1"/>
          <p:nvPr/>
        </p:nvSpPr>
        <p:spPr>
          <a:xfrm>
            <a:off x="2294077"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under its REQ heading</a:t>
            </a:r>
            <a:endParaRPr lang="en-US" sz="800" dirty="0"/>
          </a:p>
        </p:txBody>
      </p:sp>
      <p:sp>
        <p:nvSpPr>
          <p:cNvPr id="16" name="Shape 13"/>
          <p:cNvSpPr/>
          <p:nvPr/>
        </p:nvSpPr>
        <p:spPr>
          <a:xfrm>
            <a:off x="3592525" y="2569464"/>
            <a:ext cx="209245" cy="0"/>
          </a:xfrm>
          <a:prstGeom prst="line">
            <a:avLst/>
          </a:prstGeom>
          <a:noFill/>
          <a:ln w="19050">
            <a:solidFill>
              <a:srgbClr val="051D60"/>
            </a:solidFill>
            <a:prstDash val="solid"/>
            <a:headEnd type="none"/>
            <a:tailEnd type="triangle"/>
          </a:ln>
        </p:spPr>
      </p:sp>
      <p:sp>
        <p:nvSpPr>
          <p:cNvPr id="17" name="Shape 14"/>
          <p:cNvSpPr/>
          <p:nvPr/>
        </p:nvSpPr>
        <p:spPr>
          <a:xfrm>
            <a:off x="3838346" y="1965960"/>
            <a:ext cx="1316736" cy="1207008"/>
          </a:xfrm>
          <a:prstGeom prst="roundRect">
            <a:avLst>
              <a:gd name="adj" fmla="val 4545"/>
            </a:avLst>
          </a:prstGeom>
          <a:solidFill>
            <a:srgbClr val="FFFFFF"/>
          </a:solidFill>
          <a:ln w="12700">
            <a:solidFill>
              <a:srgbClr val="CFC7B8"/>
            </a:solidFill>
            <a:prstDash val="solid"/>
          </a:ln>
        </p:spPr>
      </p:sp>
      <p:sp>
        <p:nvSpPr>
          <p:cNvPr id="18" name="Text 15"/>
          <p:cNvSpPr txBox="1"/>
          <p:nvPr/>
        </p:nvSpPr>
        <p:spPr>
          <a:xfrm>
            <a:off x="3893210"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ADR</a:t>
            </a:r>
            <a:endParaRPr lang="en-US" sz="1700" dirty="0"/>
          </a:p>
        </p:txBody>
      </p:sp>
      <p:sp>
        <p:nvSpPr>
          <p:cNvPr id="19" name="Text 16"/>
          <p:cNvSpPr txBox="1"/>
          <p:nvPr/>
        </p:nvSpPr>
        <p:spPr>
          <a:xfrm>
            <a:off x="3893210"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decision</a:t>
            </a:r>
            <a:endParaRPr lang="en-US" sz="950" dirty="0"/>
          </a:p>
        </p:txBody>
      </p:sp>
      <p:sp>
        <p:nvSpPr>
          <p:cNvPr id="20" name="Text 17"/>
          <p:cNvSpPr txBox="1"/>
          <p:nvPr/>
        </p:nvSpPr>
        <p:spPr>
          <a:xfrm>
            <a:off x="3893210"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decisions/ADR-###.md</a:t>
            </a:r>
            <a:endParaRPr lang="en-US" sz="800" dirty="0"/>
          </a:p>
        </p:txBody>
      </p:sp>
      <p:sp>
        <p:nvSpPr>
          <p:cNvPr id="21" name="Shape 18"/>
          <p:cNvSpPr/>
          <p:nvPr/>
        </p:nvSpPr>
        <p:spPr>
          <a:xfrm>
            <a:off x="5191658" y="2569464"/>
            <a:ext cx="209245" cy="0"/>
          </a:xfrm>
          <a:prstGeom prst="line">
            <a:avLst/>
          </a:prstGeom>
          <a:noFill/>
          <a:ln w="19050">
            <a:solidFill>
              <a:srgbClr val="051D60"/>
            </a:solidFill>
            <a:prstDash val="solid"/>
            <a:headEnd type="none"/>
            <a:tailEnd type="triangle"/>
          </a:ln>
        </p:spPr>
      </p:sp>
      <p:sp>
        <p:nvSpPr>
          <p:cNvPr id="22" name="Shape 19"/>
          <p:cNvSpPr/>
          <p:nvPr/>
        </p:nvSpPr>
        <p:spPr>
          <a:xfrm>
            <a:off x="5437480" y="1965960"/>
            <a:ext cx="1316736" cy="1207008"/>
          </a:xfrm>
          <a:prstGeom prst="roundRect">
            <a:avLst>
              <a:gd name="adj" fmla="val 4545"/>
            </a:avLst>
          </a:prstGeom>
          <a:solidFill>
            <a:srgbClr val="FFFFFF"/>
          </a:solidFill>
          <a:ln w="12700">
            <a:solidFill>
              <a:srgbClr val="CFC7B8"/>
            </a:solidFill>
            <a:prstDash val="solid"/>
          </a:ln>
        </p:spPr>
      </p:sp>
      <p:sp>
        <p:nvSpPr>
          <p:cNvPr id="23" name="Text 20"/>
          <p:cNvSpPr txBox="1"/>
          <p:nvPr/>
        </p:nvSpPr>
        <p:spPr>
          <a:xfrm>
            <a:off x="5492344"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TASK</a:t>
            </a:r>
            <a:endParaRPr lang="en-US" sz="1700" dirty="0"/>
          </a:p>
        </p:txBody>
      </p:sp>
      <p:sp>
        <p:nvSpPr>
          <p:cNvPr id="24" name="Text 21"/>
          <p:cNvSpPr txBox="1"/>
          <p:nvPr/>
        </p:nvSpPr>
        <p:spPr>
          <a:xfrm>
            <a:off x="5492344"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work item</a:t>
            </a:r>
            <a:endParaRPr lang="en-US" sz="950" dirty="0"/>
          </a:p>
        </p:txBody>
      </p:sp>
      <p:sp>
        <p:nvSpPr>
          <p:cNvPr id="25" name="Text 22"/>
          <p:cNvSpPr txBox="1"/>
          <p:nvPr/>
        </p:nvSpPr>
        <p:spPr>
          <a:xfrm>
            <a:off x="5492344"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changes/&lt;name&gt;/tasks.md</a:t>
            </a:r>
            <a:endParaRPr lang="en-US" sz="800" dirty="0"/>
          </a:p>
        </p:txBody>
      </p:sp>
      <p:sp>
        <p:nvSpPr>
          <p:cNvPr id="26" name="Shape 23"/>
          <p:cNvSpPr/>
          <p:nvPr/>
        </p:nvSpPr>
        <p:spPr>
          <a:xfrm>
            <a:off x="6790792" y="2569464"/>
            <a:ext cx="209245" cy="0"/>
          </a:xfrm>
          <a:prstGeom prst="line">
            <a:avLst/>
          </a:prstGeom>
          <a:noFill/>
          <a:ln w="19050">
            <a:solidFill>
              <a:srgbClr val="051D60"/>
            </a:solidFill>
            <a:prstDash val="solid"/>
            <a:headEnd type="none"/>
            <a:tailEnd type="triangle"/>
          </a:ln>
        </p:spPr>
      </p:sp>
      <p:sp>
        <p:nvSpPr>
          <p:cNvPr id="27" name="Shape 24"/>
          <p:cNvSpPr/>
          <p:nvPr/>
        </p:nvSpPr>
        <p:spPr>
          <a:xfrm>
            <a:off x="7036613" y="1965960"/>
            <a:ext cx="1316736" cy="1207008"/>
          </a:xfrm>
          <a:prstGeom prst="roundRect">
            <a:avLst>
              <a:gd name="adj" fmla="val 4545"/>
            </a:avLst>
          </a:prstGeom>
          <a:solidFill>
            <a:srgbClr val="FFFFFF"/>
          </a:solidFill>
          <a:ln w="12700">
            <a:solidFill>
              <a:srgbClr val="CFC7B8"/>
            </a:solidFill>
            <a:prstDash val="solid"/>
          </a:ln>
        </p:spPr>
      </p:sp>
      <p:sp>
        <p:nvSpPr>
          <p:cNvPr id="28" name="Text 25"/>
          <p:cNvSpPr txBox="1"/>
          <p:nvPr/>
        </p:nvSpPr>
        <p:spPr>
          <a:xfrm>
            <a:off x="7091477"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TEST</a:t>
            </a:r>
            <a:endParaRPr lang="en-US" sz="1700" dirty="0"/>
          </a:p>
        </p:txBody>
      </p:sp>
      <p:sp>
        <p:nvSpPr>
          <p:cNvPr id="29" name="Text 26"/>
          <p:cNvSpPr txBox="1"/>
          <p:nvPr/>
        </p:nvSpPr>
        <p:spPr>
          <a:xfrm>
            <a:off x="7091477"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proof</a:t>
            </a:r>
            <a:endParaRPr lang="en-US" sz="950" dirty="0"/>
          </a:p>
        </p:txBody>
      </p:sp>
      <p:sp>
        <p:nvSpPr>
          <p:cNvPr id="30" name="Text 27"/>
          <p:cNvSpPr txBox="1"/>
          <p:nvPr/>
        </p:nvSpPr>
        <p:spPr>
          <a:xfrm>
            <a:off x="7091477"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your own test suite</a:t>
            </a:r>
            <a:endParaRPr lang="en-US" sz="800" dirty="0"/>
          </a:p>
        </p:txBody>
      </p:sp>
      <p:sp>
        <p:nvSpPr>
          <p:cNvPr id="31" name="Shape 28"/>
          <p:cNvSpPr/>
          <p:nvPr/>
        </p:nvSpPr>
        <p:spPr>
          <a:xfrm>
            <a:off x="8389925" y="2569464"/>
            <a:ext cx="209245" cy="0"/>
          </a:xfrm>
          <a:prstGeom prst="line">
            <a:avLst/>
          </a:prstGeom>
          <a:noFill/>
          <a:ln w="19050">
            <a:solidFill>
              <a:srgbClr val="051D60"/>
            </a:solidFill>
            <a:prstDash val="solid"/>
            <a:headEnd type="none"/>
            <a:tailEnd type="triangle"/>
          </a:ln>
        </p:spPr>
      </p:sp>
      <p:sp>
        <p:nvSpPr>
          <p:cNvPr id="32" name="Shape 29"/>
          <p:cNvSpPr/>
          <p:nvPr/>
        </p:nvSpPr>
        <p:spPr>
          <a:xfrm>
            <a:off x="8635746" y="1965960"/>
            <a:ext cx="1316736" cy="1207008"/>
          </a:xfrm>
          <a:prstGeom prst="roundRect">
            <a:avLst>
              <a:gd name="adj" fmla="val 4545"/>
            </a:avLst>
          </a:prstGeom>
          <a:solidFill>
            <a:srgbClr val="FFFFFF"/>
          </a:solidFill>
          <a:ln w="12700">
            <a:solidFill>
              <a:srgbClr val="CFC7B8"/>
            </a:solidFill>
            <a:prstDash val="solid"/>
          </a:ln>
        </p:spPr>
      </p:sp>
      <p:sp>
        <p:nvSpPr>
          <p:cNvPr id="33" name="Text 30"/>
          <p:cNvSpPr txBox="1"/>
          <p:nvPr/>
        </p:nvSpPr>
        <p:spPr>
          <a:xfrm>
            <a:off x="8690610" y="2139696"/>
            <a:ext cx="1207008" cy="310896"/>
          </a:xfrm>
          <a:prstGeom prst="rect">
            <a:avLst/>
          </a:prstGeom>
          <a:noFill/>
          <a:ln/>
        </p:spPr>
        <p:txBody>
          <a:bodyPr wrap="square" lIns="0" tIns="0" rIns="0" bIns="0" rtlCol="0" anchor="ctr"/>
          <a:lstStyle/>
          <a:p>
            <a:pPr algn="ctr" indent="0" marL="0">
              <a:buNone/>
            </a:pPr>
            <a:r>
              <a:rPr lang="en-US" sz="1700" b="1" dirty="0">
                <a:solidFill>
                  <a:srgbClr val="051D60"/>
                </a:solidFill>
                <a:latin typeface="Mulish" pitchFamily="34" charset="0"/>
                <a:ea typeface="Mulish" pitchFamily="34" charset="-122"/>
                <a:cs typeface="Mulish" pitchFamily="34" charset="-120"/>
              </a:rPr>
              <a:t>SLI</a:t>
            </a:r>
            <a:endParaRPr lang="en-US" sz="1700" dirty="0"/>
          </a:p>
        </p:txBody>
      </p:sp>
      <p:sp>
        <p:nvSpPr>
          <p:cNvPr id="34" name="Text 31"/>
          <p:cNvSpPr txBox="1"/>
          <p:nvPr/>
        </p:nvSpPr>
        <p:spPr>
          <a:xfrm>
            <a:off x="8690610" y="2487168"/>
            <a:ext cx="1207008" cy="219456"/>
          </a:xfrm>
          <a:prstGeom prst="rect">
            <a:avLst/>
          </a:prstGeom>
          <a:noFill/>
          <a:ln/>
        </p:spPr>
        <p:txBody>
          <a:bodyPr wrap="square" lIns="0" tIns="0" rIns="0" bIns="0" rtlCol="0" anchor="ctr"/>
          <a:lstStyle/>
          <a:p>
            <a:pPr algn="ctr" indent="0" marL="0">
              <a:buNone/>
            </a:pPr>
            <a:r>
              <a:rPr lang="en-US" sz="950" dirty="0">
                <a:solidFill>
                  <a:srgbClr val="5F6476"/>
                </a:solidFill>
                <a:latin typeface="Calibri" pitchFamily="34" charset="0"/>
                <a:ea typeface="Calibri" pitchFamily="34" charset="-122"/>
                <a:cs typeface="Calibri" pitchFamily="34" charset="-120"/>
              </a:rPr>
              <a:t>telemetry</a:t>
            </a:r>
            <a:endParaRPr lang="en-US" sz="950" dirty="0"/>
          </a:p>
        </p:txBody>
      </p:sp>
      <p:sp>
        <p:nvSpPr>
          <p:cNvPr id="35" name="Text 32"/>
          <p:cNvSpPr txBox="1"/>
          <p:nvPr/>
        </p:nvSpPr>
        <p:spPr>
          <a:xfrm>
            <a:off x="8690610" y="2743200"/>
            <a:ext cx="1207008" cy="329184"/>
          </a:xfrm>
          <a:prstGeom prst="rect">
            <a:avLst/>
          </a:prstGeom>
          <a:noFill/>
          <a:ln/>
        </p:spPr>
        <p:txBody>
          <a:bodyPr wrap="square" lIns="0" tIns="0" rIns="0" bIns="0" rtlCol="0" anchor="ctr"/>
          <a:lstStyle/>
          <a:p>
            <a:pPr algn="ctr" indent="0" marL="0">
              <a:buNone/>
            </a:pPr>
            <a:r>
              <a:rPr lang="en-US" sz="800" i="1" dirty="0">
                <a:solidFill>
                  <a:srgbClr val="5F6476"/>
                </a:solidFill>
                <a:latin typeface="Calibri" pitchFamily="34" charset="0"/>
                <a:ea typeface="Calibri" pitchFamily="34" charset="-122"/>
                <a:cs typeface="Calibri" pitchFamily="34" charset="-120"/>
              </a:rPr>
              <a:t>ops/slo.md</a:t>
            </a:r>
            <a:endParaRPr lang="en-US" sz="800" dirty="0"/>
          </a:p>
        </p:txBody>
      </p:sp>
      <p:sp>
        <p:nvSpPr>
          <p:cNvPr id="36" name="Shape 33"/>
          <p:cNvSpPr/>
          <p:nvPr/>
        </p:nvSpPr>
        <p:spPr>
          <a:xfrm>
            <a:off x="9989058" y="2569464"/>
            <a:ext cx="209245" cy="0"/>
          </a:xfrm>
          <a:prstGeom prst="line">
            <a:avLst/>
          </a:prstGeom>
          <a:noFill/>
          <a:ln w="19050">
            <a:solidFill>
              <a:srgbClr val="051D60"/>
            </a:solidFill>
            <a:prstDash val="solid"/>
            <a:headEnd type="none"/>
            <a:tailEnd type="triangle"/>
          </a:ln>
        </p:spPr>
      </p:sp>
      <p:sp>
        <p:nvSpPr>
          <p:cNvPr id="37" name="Shape 34"/>
          <p:cNvSpPr/>
          <p:nvPr/>
        </p:nvSpPr>
        <p:spPr>
          <a:xfrm>
            <a:off x="10234879" y="1965960"/>
            <a:ext cx="1316736" cy="1207008"/>
          </a:xfrm>
          <a:prstGeom prst="roundRect">
            <a:avLst>
              <a:gd name="adj" fmla="val 4545"/>
            </a:avLst>
          </a:prstGeom>
          <a:solidFill>
            <a:srgbClr val="051D60"/>
          </a:solidFill>
          <a:ln w="12700">
            <a:solidFill>
              <a:srgbClr val="051D60"/>
            </a:solidFill>
            <a:prstDash val="solid"/>
          </a:ln>
        </p:spPr>
      </p:sp>
      <p:sp>
        <p:nvSpPr>
          <p:cNvPr id="38" name="Text 35"/>
          <p:cNvSpPr txBox="1"/>
          <p:nvPr/>
        </p:nvSpPr>
        <p:spPr>
          <a:xfrm>
            <a:off x="10289743" y="2139696"/>
            <a:ext cx="1207008" cy="310896"/>
          </a:xfrm>
          <a:prstGeom prst="rect">
            <a:avLst/>
          </a:prstGeom>
          <a:noFill/>
          <a:ln/>
        </p:spPr>
        <p:txBody>
          <a:bodyPr wrap="square" lIns="0" tIns="0" rIns="0" bIns="0" rtlCol="0" anchor="ctr"/>
          <a:lstStyle/>
          <a:p>
            <a:pPr algn="ctr" indent="0" marL="0">
              <a:buNone/>
            </a:pPr>
            <a:r>
              <a:rPr lang="en-US" sz="1400" b="1" dirty="0">
                <a:solidFill>
                  <a:srgbClr val="FAF3E7"/>
                </a:solidFill>
                <a:latin typeface="Mulish" pitchFamily="34" charset="0"/>
                <a:ea typeface="Mulish" pitchFamily="34" charset="-122"/>
                <a:cs typeface="Mulish" pitchFamily="34" charset="-120"/>
              </a:rPr>
              <a:t>INSIGHT</a:t>
            </a:r>
            <a:endParaRPr lang="en-US" sz="1400" dirty="0"/>
          </a:p>
        </p:txBody>
      </p:sp>
      <p:sp>
        <p:nvSpPr>
          <p:cNvPr id="39" name="Text 36"/>
          <p:cNvSpPr txBox="1"/>
          <p:nvPr/>
        </p:nvSpPr>
        <p:spPr>
          <a:xfrm>
            <a:off x="10289743" y="2487168"/>
            <a:ext cx="1207008" cy="219456"/>
          </a:xfrm>
          <a:prstGeom prst="rect">
            <a:avLst/>
          </a:prstGeom>
          <a:noFill/>
          <a:ln/>
        </p:spPr>
        <p:txBody>
          <a:bodyPr wrap="square" lIns="0" tIns="0" rIns="0" bIns="0" rtlCol="0" anchor="ctr"/>
          <a:lstStyle/>
          <a:p>
            <a:pPr algn="ctr" indent="0" marL="0">
              <a:buNone/>
            </a:pPr>
            <a:r>
              <a:rPr lang="en-US" sz="950" dirty="0">
                <a:solidFill>
                  <a:srgbClr val="E4DED3"/>
                </a:solidFill>
                <a:latin typeface="Calibri" pitchFamily="34" charset="0"/>
                <a:ea typeface="Calibri" pitchFamily="34" charset="-122"/>
                <a:cs typeface="Calibri" pitchFamily="34" charset="-120"/>
              </a:rPr>
              <a:t>learning</a:t>
            </a:r>
            <a:endParaRPr lang="en-US" sz="950" dirty="0"/>
          </a:p>
        </p:txBody>
      </p:sp>
      <p:sp>
        <p:nvSpPr>
          <p:cNvPr id="40" name="Text 37"/>
          <p:cNvSpPr txBox="1"/>
          <p:nvPr/>
        </p:nvSpPr>
        <p:spPr>
          <a:xfrm>
            <a:off x="10289743" y="2743200"/>
            <a:ext cx="1207008" cy="329184"/>
          </a:xfrm>
          <a:prstGeom prst="rect">
            <a:avLst/>
          </a:prstGeom>
          <a:noFill/>
          <a:ln/>
        </p:spPr>
        <p:txBody>
          <a:bodyPr wrap="square" lIns="0" tIns="0" rIns="0" bIns="0" rtlCol="0" anchor="ctr"/>
          <a:lstStyle/>
          <a:p>
            <a:pPr algn="ctr" indent="0" marL="0">
              <a:buNone/>
            </a:pPr>
            <a:r>
              <a:rPr lang="en-US" sz="800" i="1" dirty="0">
                <a:solidFill>
                  <a:srgbClr val="E4DED3"/>
                </a:solidFill>
                <a:latin typeface="Calibri" pitchFamily="34" charset="0"/>
                <a:ea typeface="Calibri" pitchFamily="34" charset="-122"/>
                <a:cs typeface="Calibri" pitchFamily="34" charset="-120"/>
              </a:rPr>
              <a:t>ops/postmortems/</a:t>
            </a:r>
            <a:endParaRPr lang="en-US" sz="800" dirty="0"/>
          </a:p>
        </p:txBody>
      </p:sp>
      <p:sp>
        <p:nvSpPr>
          <p:cNvPr id="41" name="Shape 38"/>
          <p:cNvSpPr/>
          <p:nvPr/>
        </p:nvSpPr>
        <p:spPr>
          <a:xfrm>
            <a:off x="640080" y="3456432"/>
            <a:ext cx="5318608" cy="1883664"/>
          </a:xfrm>
          <a:prstGeom prst="roundRect">
            <a:avLst>
              <a:gd name="adj" fmla="val 2913"/>
            </a:avLst>
          </a:prstGeom>
          <a:solidFill>
            <a:srgbClr val="FFFFFF"/>
          </a:solidFill>
          <a:ln w="12700">
            <a:solidFill>
              <a:srgbClr val="CFC7B8"/>
            </a:solidFill>
            <a:prstDash val="solid"/>
          </a:ln>
        </p:spPr>
      </p:sp>
      <p:sp>
        <p:nvSpPr>
          <p:cNvPr id="42" name="Text 39"/>
          <p:cNvSpPr txBox="1"/>
          <p:nvPr/>
        </p:nvSpPr>
        <p:spPr>
          <a:xfrm>
            <a:off x="896112" y="3621024"/>
            <a:ext cx="4806544"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What the validator actually sees</a:t>
            </a:r>
            <a:endParaRPr lang="en-US" sz="1300" dirty="0"/>
          </a:p>
        </p:txBody>
      </p:sp>
      <p:sp>
        <p:nvSpPr>
          <p:cNvPr id="43" name="Text 40"/>
          <p:cNvSpPr txBox="1"/>
          <p:nvPr/>
        </p:nvSpPr>
        <p:spPr>
          <a:xfrm>
            <a:off x="896112" y="3931920"/>
            <a:ext cx="4806544" cy="128016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requirement only on a line starting with #  — not in a paragraph, a table cell or a bullet</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criterion anywhere between its REQ heading and the next one</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A task only when the id is bold: **TASK-###**</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Implements: REQ-### only within three lines of the task</a:t>
            </a:r>
            <a:endParaRPr lang="en-US" sz="950" dirty="0"/>
          </a:p>
          <a:p>
            <a:pPr marL="342900" indent="-342900">
              <a:spcAft>
                <a:spcPts val="500"/>
              </a:spcAft>
              <a:buSzPct val="100000"/>
              <a:buChar char="•"/>
            </a:pPr>
            <a:r>
              <a:rPr lang="en-US" sz="950" dirty="0">
                <a:solidFill>
                  <a:srgbClr val="5F6476"/>
                </a:solidFill>
                <a:latin typeface="Calibri" pitchFamily="34" charset="0"/>
                <a:ea typeface="Calibri" pitchFamily="34" charset="-122"/>
                <a:cs typeface="Calibri" pitchFamily="34" charset="-120"/>
              </a:rPr>
              <a:t>Three digits minimum — REQ-4 is silently not a requirement</a:t>
            </a:r>
            <a:endParaRPr lang="en-US" sz="950" dirty="0"/>
          </a:p>
        </p:txBody>
      </p:sp>
      <p:sp>
        <p:nvSpPr>
          <p:cNvPr id="44" name="Shape 41"/>
          <p:cNvSpPr/>
          <p:nvPr/>
        </p:nvSpPr>
        <p:spPr>
          <a:xfrm>
            <a:off x="6233008" y="3456432"/>
            <a:ext cx="5318608" cy="1883664"/>
          </a:xfrm>
          <a:prstGeom prst="roundRect">
            <a:avLst>
              <a:gd name="adj" fmla="val 2913"/>
            </a:avLst>
          </a:prstGeom>
          <a:solidFill>
            <a:srgbClr val="F1E9DA"/>
          </a:solidFill>
          <a:ln w="12700">
            <a:solidFill>
              <a:srgbClr val="F1E9DA"/>
            </a:solidFill>
            <a:prstDash val="solid"/>
          </a:ln>
        </p:spPr>
      </p:sp>
      <p:sp>
        <p:nvSpPr>
          <p:cNvPr id="45" name="Text 42"/>
          <p:cNvSpPr txBox="1"/>
          <p:nvPr/>
        </p:nvSpPr>
        <p:spPr>
          <a:xfrm>
            <a:off x="6489040" y="3621024"/>
            <a:ext cx="4806544"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The five findings</a:t>
            </a:r>
            <a:endParaRPr lang="en-US" sz="1300" dirty="0"/>
          </a:p>
        </p:txBody>
      </p:sp>
      <p:sp>
        <p:nvSpPr>
          <p:cNvPr id="46" name="Text 43"/>
          <p:cNvSpPr txBox="1"/>
          <p:nvPr/>
        </p:nvSpPr>
        <p:spPr>
          <a:xfrm>
            <a:off x="6489040" y="3950208"/>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T0</a:t>
            </a:r>
            <a:endParaRPr lang="en-US" sz="1050" dirty="0"/>
          </a:p>
        </p:txBody>
      </p:sp>
      <p:sp>
        <p:nvSpPr>
          <p:cNvPr id="47" name="Text 44"/>
          <p:cNvSpPr txBox="1"/>
          <p:nvPr/>
        </p:nvSpPr>
        <p:spPr>
          <a:xfrm>
            <a:off x="6927952" y="3950208"/>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the file is not readable — so it was not checked</a:t>
            </a:r>
            <a:endParaRPr lang="en-US" sz="950" dirty="0"/>
          </a:p>
        </p:txBody>
      </p:sp>
      <p:sp>
        <p:nvSpPr>
          <p:cNvPr id="48" name="Text 45"/>
          <p:cNvSpPr txBox="1"/>
          <p:nvPr/>
        </p:nvSpPr>
        <p:spPr>
          <a:xfrm>
            <a:off x="6489040" y="4215384"/>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T1</a:t>
            </a:r>
            <a:endParaRPr lang="en-US" sz="1050" dirty="0"/>
          </a:p>
        </p:txBody>
      </p:sp>
      <p:sp>
        <p:nvSpPr>
          <p:cNvPr id="49" name="Text 46"/>
          <p:cNvSpPr txBox="1"/>
          <p:nvPr/>
        </p:nvSpPr>
        <p:spPr>
          <a:xfrm>
            <a:off x="6927952" y="4215384"/>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TASK-### with no Implements: line</a:t>
            </a:r>
            <a:endParaRPr lang="en-US" sz="950" dirty="0"/>
          </a:p>
        </p:txBody>
      </p:sp>
      <p:sp>
        <p:nvSpPr>
          <p:cNvPr id="50" name="Text 47"/>
          <p:cNvSpPr txBox="1"/>
          <p:nvPr/>
        </p:nvSpPr>
        <p:spPr>
          <a:xfrm>
            <a:off x="6489040" y="4480560"/>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T2</a:t>
            </a:r>
            <a:endParaRPr lang="en-US" sz="1050" dirty="0"/>
          </a:p>
        </p:txBody>
      </p:sp>
      <p:sp>
        <p:nvSpPr>
          <p:cNvPr id="51" name="Text 48"/>
          <p:cNvSpPr txBox="1"/>
          <p:nvPr/>
        </p:nvSpPr>
        <p:spPr>
          <a:xfrm>
            <a:off x="6927952" y="4480560"/>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REQ-### with no acceptance criteria</a:t>
            </a:r>
            <a:endParaRPr lang="en-US" sz="950" dirty="0"/>
          </a:p>
        </p:txBody>
      </p:sp>
      <p:sp>
        <p:nvSpPr>
          <p:cNvPr id="52" name="Text 49"/>
          <p:cNvSpPr txBox="1"/>
          <p:nvPr/>
        </p:nvSpPr>
        <p:spPr>
          <a:xfrm>
            <a:off x="6489040" y="4745736"/>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T3</a:t>
            </a:r>
            <a:endParaRPr lang="en-US" sz="1050" dirty="0"/>
          </a:p>
        </p:txBody>
      </p:sp>
      <p:sp>
        <p:nvSpPr>
          <p:cNvPr id="53" name="Text 50"/>
          <p:cNvSpPr txBox="1"/>
          <p:nvPr/>
        </p:nvSpPr>
        <p:spPr>
          <a:xfrm>
            <a:off x="6927952" y="4745736"/>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TASK-### implementing an unknown REQ-###</a:t>
            </a:r>
            <a:endParaRPr lang="en-US" sz="950" dirty="0"/>
          </a:p>
        </p:txBody>
      </p:sp>
      <p:sp>
        <p:nvSpPr>
          <p:cNvPr id="54" name="Text 51"/>
          <p:cNvSpPr txBox="1"/>
          <p:nvPr/>
        </p:nvSpPr>
        <p:spPr>
          <a:xfrm>
            <a:off x="6489040" y="5010912"/>
            <a:ext cx="384048"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T4</a:t>
            </a:r>
            <a:endParaRPr lang="en-US" sz="1050" dirty="0"/>
          </a:p>
        </p:txBody>
      </p:sp>
      <p:sp>
        <p:nvSpPr>
          <p:cNvPr id="55" name="Text 52"/>
          <p:cNvSpPr txBox="1"/>
          <p:nvPr/>
        </p:nvSpPr>
        <p:spPr>
          <a:xfrm>
            <a:off x="6927952" y="5010912"/>
            <a:ext cx="4367632"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a REQ-### no task implements — --strict only</a:t>
            </a:r>
            <a:endParaRPr lang="en-US" sz="950" dirty="0"/>
          </a:p>
        </p:txBody>
      </p:sp>
      <p:sp>
        <p:nvSpPr>
          <p:cNvPr id="56" name="Text 53"/>
          <p:cNvSpPr txBox="1"/>
          <p:nvPr/>
        </p:nvSpPr>
        <p:spPr>
          <a:xfrm>
            <a:off x="640080" y="5504688"/>
            <a:ext cx="10911535" cy="274320"/>
          </a:xfrm>
          <a:prstGeom prst="rect">
            <a:avLst/>
          </a:prstGeom>
          <a:noFill/>
          <a:ln/>
        </p:spPr>
        <p:txBody>
          <a:bodyPr wrap="square" lIns="0" tIns="0" rIns="0" bIns="0" rtlCol="0" anchor="ctr"/>
          <a:lstStyle/>
          <a:p>
            <a:pPr indent="0" marL="0">
              <a:buNone/>
            </a:pPr>
            <a:r>
              <a:rPr lang="en-US" sz="1100" i="1" dirty="0">
                <a:solidFill>
                  <a:srgbClr val="051D60"/>
                </a:solidFill>
                <a:latin typeface="Calibri" pitchFamily="34" charset="0"/>
                <a:ea typeface="Calibri" pitchFamily="34" charset="-122"/>
                <a:cs typeface="Calibri" pitchFamily="34" charset="-120"/>
              </a:rPr>
              <a:t>Never silence a finding by renaming an ID to one that happens to exist. Fix the missing link, or delete the orphan.</a:t>
            </a:r>
            <a:endParaRPr lang="en-US" sz="1100" dirty="0"/>
          </a:p>
        </p:txBody>
      </p:sp>
      <p:sp>
        <p:nvSpPr>
          <p:cNvPr id="57" name="Text 54"/>
          <p:cNvSpPr txBox="1"/>
          <p:nvPr/>
        </p:nvSpPr>
        <p:spPr>
          <a:xfrm>
            <a:off x="640080" y="5797296"/>
            <a:ext cx="10911535" cy="274320"/>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The chain runs one way. An insight can propose a new requirement — but only by becoming a candidate REQ-### in a new change, never by editing backwards into a closed 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THE CLI</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Eight verbs, and nothing to install but Node and Python</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Every command runs against the current working directory. The framework itself has zero runtime dependencies.</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12 / 19</a:t>
            </a:r>
            <a:endParaRPr lang="en-US" sz="850" dirty="0"/>
          </a:p>
        </p:txBody>
      </p:sp>
      <p:sp>
        <p:nvSpPr>
          <p:cNvPr id="7" name="Shape 4"/>
          <p:cNvSpPr/>
          <p:nvPr/>
        </p:nvSpPr>
        <p:spPr>
          <a:xfrm>
            <a:off x="640080" y="1956816"/>
            <a:ext cx="6858000" cy="429768"/>
          </a:xfrm>
          <a:prstGeom prst="roundRect">
            <a:avLst>
              <a:gd name="adj" fmla="val 12766"/>
            </a:avLst>
          </a:prstGeom>
          <a:solidFill>
            <a:srgbClr val="192954"/>
          </a:solidFill>
          <a:ln w="12700">
            <a:solidFill>
              <a:srgbClr val="192954"/>
            </a:solidFill>
            <a:prstDash val="solid"/>
          </a:ln>
        </p:spPr>
      </p:sp>
      <p:sp>
        <p:nvSpPr>
          <p:cNvPr id="8" name="Text 5"/>
          <p:cNvSpPr txBox="1"/>
          <p:nvPr/>
        </p:nvSpPr>
        <p:spPr>
          <a:xfrm>
            <a:off x="877824" y="2048256"/>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init</a:t>
            </a:r>
            <a:endParaRPr lang="en-US" sz="1250" dirty="0"/>
          </a:p>
        </p:txBody>
      </p:sp>
      <p:sp>
        <p:nvSpPr>
          <p:cNvPr id="9" name="Text 6"/>
          <p:cNvSpPr txBox="1"/>
          <p:nvPr/>
        </p:nvSpPr>
        <p:spPr>
          <a:xfrm>
            <a:off x="2212848" y="2066544"/>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scaffold delivery/, generate AGENTS.md, detect the harness</a:t>
            </a:r>
            <a:endParaRPr lang="en-US" sz="1000" dirty="0"/>
          </a:p>
        </p:txBody>
      </p:sp>
      <p:sp>
        <p:nvSpPr>
          <p:cNvPr id="10" name="Shape 7"/>
          <p:cNvSpPr/>
          <p:nvPr/>
        </p:nvSpPr>
        <p:spPr>
          <a:xfrm>
            <a:off x="640080" y="2441448"/>
            <a:ext cx="6858000" cy="429768"/>
          </a:xfrm>
          <a:prstGeom prst="roundRect">
            <a:avLst>
              <a:gd name="adj" fmla="val 12766"/>
            </a:avLst>
          </a:prstGeom>
          <a:solidFill>
            <a:srgbClr val="0E2470"/>
          </a:solidFill>
          <a:ln w="12700">
            <a:solidFill>
              <a:srgbClr val="0E2470"/>
            </a:solidFill>
            <a:prstDash val="solid"/>
          </a:ln>
        </p:spPr>
      </p:sp>
      <p:sp>
        <p:nvSpPr>
          <p:cNvPr id="11" name="Text 8"/>
          <p:cNvSpPr txBox="1"/>
          <p:nvPr/>
        </p:nvSpPr>
        <p:spPr>
          <a:xfrm>
            <a:off x="877824" y="2532888"/>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propose</a:t>
            </a:r>
            <a:endParaRPr lang="en-US" sz="1250" dirty="0"/>
          </a:p>
        </p:txBody>
      </p:sp>
      <p:sp>
        <p:nvSpPr>
          <p:cNvPr id="12" name="Text 9"/>
          <p:cNvSpPr txBox="1"/>
          <p:nvPr/>
        </p:nvSpPr>
        <p:spPr>
          <a:xfrm>
            <a:off x="2212848" y="2551176"/>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open a change from templates; fix its lane</a:t>
            </a:r>
            <a:endParaRPr lang="en-US" sz="1000" dirty="0"/>
          </a:p>
        </p:txBody>
      </p:sp>
      <p:sp>
        <p:nvSpPr>
          <p:cNvPr id="13" name="Shape 10"/>
          <p:cNvSpPr/>
          <p:nvPr/>
        </p:nvSpPr>
        <p:spPr>
          <a:xfrm>
            <a:off x="640080" y="2926080"/>
            <a:ext cx="6858000" cy="429768"/>
          </a:xfrm>
          <a:prstGeom prst="roundRect">
            <a:avLst>
              <a:gd name="adj" fmla="val 12766"/>
            </a:avLst>
          </a:prstGeom>
          <a:solidFill>
            <a:srgbClr val="192954"/>
          </a:solidFill>
          <a:ln w="12700">
            <a:solidFill>
              <a:srgbClr val="192954"/>
            </a:solidFill>
            <a:prstDash val="solid"/>
          </a:ln>
        </p:spPr>
      </p:sp>
      <p:sp>
        <p:nvSpPr>
          <p:cNvPr id="14" name="Text 11"/>
          <p:cNvSpPr txBox="1"/>
          <p:nvPr/>
        </p:nvSpPr>
        <p:spPr>
          <a:xfrm>
            <a:off x="877824" y="3017520"/>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status</a:t>
            </a:r>
            <a:endParaRPr lang="en-US" sz="1250" dirty="0"/>
          </a:p>
        </p:txBody>
      </p:sp>
      <p:sp>
        <p:nvSpPr>
          <p:cNvPr id="15" name="Text 12"/>
          <p:cNvSpPr txBox="1"/>
          <p:nvPr/>
        </p:nvSpPr>
        <p:spPr>
          <a:xfrm>
            <a:off x="2212848" y="3035808"/>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change, lane, phase, gate verdicts, stale artifacts</a:t>
            </a:r>
            <a:endParaRPr lang="en-US" sz="1000" dirty="0"/>
          </a:p>
        </p:txBody>
      </p:sp>
      <p:sp>
        <p:nvSpPr>
          <p:cNvPr id="16" name="Shape 13"/>
          <p:cNvSpPr/>
          <p:nvPr/>
        </p:nvSpPr>
        <p:spPr>
          <a:xfrm>
            <a:off x="640080" y="3410712"/>
            <a:ext cx="6858000" cy="429768"/>
          </a:xfrm>
          <a:prstGeom prst="roundRect">
            <a:avLst>
              <a:gd name="adj" fmla="val 12766"/>
            </a:avLst>
          </a:prstGeom>
          <a:solidFill>
            <a:srgbClr val="0E2470"/>
          </a:solidFill>
          <a:ln w="12700">
            <a:solidFill>
              <a:srgbClr val="0E2470"/>
            </a:solidFill>
            <a:prstDash val="solid"/>
          </a:ln>
        </p:spPr>
      </p:sp>
      <p:sp>
        <p:nvSpPr>
          <p:cNvPr id="17" name="Text 14"/>
          <p:cNvSpPr txBox="1"/>
          <p:nvPr/>
        </p:nvSpPr>
        <p:spPr>
          <a:xfrm>
            <a:off x="877824" y="3502152"/>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gate</a:t>
            </a:r>
            <a:endParaRPr lang="en-US" sz="1250" dirty="0"/>
          </a:p>
        </p:txBody>
      </p:sp>
      <p:sp>
        <p:nvSpPr>
          <p:cNvPr id="18" name="Text 15"/>
          <p:cNvSpPr txBox="1"/>
          <p:nvPr/>
        </p:nvSpPr>
        <p:spPr>
          <a:xfrm>
            <a:off x="2212848" y="3520440"/>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record a verdict with an evidence path, or a waiver</a:t>
            </a:r>
            <a:endParaRPr lang="en-US" sz="1000" dirty="0"/>
          </a:p>
        </p:txBody>
      </p:sp>
      <p:sp>
        <p:nvSpPr>
          <p:cNvPr id="19" name="Shape 16"/>
          <p:cNvSpPr/>
          <p:nvPr/>
        </p:nvSpPr>
        <p:spPr>
          <a:xfrm>
            <a:off x="640080" y="3895344"/>
            <a:ext cx="6858000" cy="429768"/>
          </a:xfrm>
          <a:prstGeom prst="roundRect">
            <a:avLst>
              <a:gd name="adj" fmla="val 12766"/>
            </a:avLst>
          </a:prstGeom>
          <a:solidFill>
            <a:srgbClr val="192954"/>
          </a:solidFill>
          <a:ln w="12700">
            <a:solidFill>
              <a:srgbClr val="192954"/>
            </a:solidFill>
            <a:prstDash val="solid"/>
          </a:ln>
        </p:spPr>
      </p:sp>
      <p:sp>
        <p:nvSpPr>
          <p:cNvPr id="20" name="Text 17"/>
          <p:cNvSpPr txBox="1"/>
          <p:nvPr/>
        </p:nvSpPr>
        <p:spPr>
          <a:xfrm>
            <a:off x="877824" y="3986784"/>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validate</a:t>
            </a:r>
            <a:endParaRPr lang="en-US" sz="1250" dirty="0"/>
          </a:p>
        </p:txBody>
      </p:sp>
      <p:sp>
        <p:nvSpPr>
          <p:cNvPr id="21" name="Text 18"/>
          <p:cNvSpPr txBox="1"/>
          <p:nvPr/>
        </p:nvSpPr>
        <p:spPr>
          <a:xfrm>
            <a:off x="2212848" y="4005072"/>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frontmatter, the separation law, the ID chain</a:t>
            </a:r>
            <a:endParaRPr lang="en-US" sz="1000" dirty="0"/>
          </a:p>
        </p:txBody>
      </p:sp>
      <p:sp>
        <p:nvSpPr>
          <p:cNvPr id="22" name="Shape 19"/>
          <p:cNvSpPr/>
          <p:nvPr/>
        </p:nvSpPr>
        <p:spPr>
          <a:xfrm>
            <a:off x="640080" y="4379976"/>
            <a:ext cx="6858000" cy="429768"/>
          </a:xfrm>
          <a:prstGeom prst="roundRect">
            <a:avLst>
              <a:gd name="adj" fmla="val 12766"/>
            </a:avLst>
          </a:prstGeom>
          <a:solidFill>
            <a:srgbClr val="0E2470"/>
          </a:solidFill>
          <a:ln w="12700">
            <a:solidFill>
              <a:srgbClr val="0E2470"/>
            </a:solidFill>
            <a:prstDash val="solid"/>
          </a:ln>
        </p:spPr>
      </p:sp>
      <p:sp>
        <p:nvSpPr>
          <p:cNvPr id="23" name="Text 20"/>
          <p:cNvSpPr txBox="1"/>
          <p:nvPr/>
        </p:nvSpPr>
        <p:spPr>
          <a:xfrm>
            <a:off x="877824" y="4471416"/>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archive</a:t>
            </a:r>
            <a:endParaRPr lang="en-US" sz="1250" dirty="0"/>
          </a:p>
        </p:txBody>
      </p:sp>
      <p:sp>
        <p:nvSpPr>
          <p:cNvPr id="24" name="Text 21"/>
          <p:cNvSpPr txBox="1"/>
          <p:nvPr/>
        </p:nvSpPr>
        <p:spPr>
          <a:xfrm>
            <a:off x="2212848" y="4489704"/>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fold the delta into specs/, emit the insight stub</a:t>
            </a:r>
            <a:endParaRPr lang="en-US" sz="1000" dirty="0"/>
          </a:p>
        </p:txBody>
      </p:sp>
      <p:sp>
        <p:nvSpPr>
          <p:cNvPr id="25" name="Shape 22"/>
          <p:cNvSpPr/>
          <p:nvPr/>
        </p:nvSpPr>
        <p:spPr>
          <a:xfrm>
            <a:off x="640080" y="4864608"/>
            <a:ext cx="6858000" cy="429768"/>
          </a:xfrm>
          <a:prstGeom prst="roundRect">
            <a:avLst>
              <a:gd name="adj" fmla="val 12766"/>
            </a:avLst>
          </a:prstGeom>
          <a:solidFill>
            <a:srgbClr val="192954"/>
          </a:solidFill>
          <a:ln w="12700">
            <a:solidFill>
              <a:srgbClr val="192954"/>
            </a:solidFill>
            <a:prstDash val="solid"/>
          </a:ln>
        </p:spPr>
      </p:sp>
      <p:sp>
        <p:nvSpPr>
          <p:cNvPr id="26" name="Text 23"/>
          <p:cNvSpPr txBox="1"/>
          <p:nvPr/>
        </p:nvSpPr>
        <p:spPr>
          <a:xfrm>
            <a:off x="877824" y="4956048"/>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doctor</a:t>
            </a:r>
            <a:endParaRPr lang="en-US" sz="1250" dirty="0"/>
          </a:p>
        </p:txBody>
      </p:sp>
      <p:sp>
        <p:nvSpPr>
          <p:cNvPr id="27" name="Text 24"/>
          <p:cNvSpPr txBox="1"/>
          <p:nvPr/>
        </p:nvSpPr>
        <p:spPr>
          <a:xfrm>
            <a:off x="2212848" y="4974336"/>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harness detection; native vs fallback capabilities</a:t>
            </a:r>
            <a:endParaRPr lang="en-US" sz="1000" dirty="0"/>
          </a:p>
        </p:txBody>
      </p:sp>
      <p:sp>
        <p:nvSpPr>
          <p:cNvPr id="28" name="Shape 25"/>
          <p:cNvSpPr/>
          <p:nvPr/>
        </p:nvSpPr>
        <p:spPr>
          <a:xfrm>
            <a:off x="640080" y="5349240"/>
            <a:ext cx="6858000" cy="429768"/>
          </a:xfrm>
          <a:prstGeom prst="roundRect">
            <a:avLst>
              <a:gd name="adj" fmla="val 12766"/>
            </a:avLst>
          </a:prstGeom>
          <a:solidFill>
            <a:srgbClr val="0E2470"/>
          </a:solidFill>
          <a:ln w="12700">
            <a:solidFill>
              <a:srgbClr val="0E2470"/>
            </a:solidFill>
            <a:prstDash val="solid"/>
          </a:ln>
        </p:spPr>
      </p:sp>
      <p:sp>
        <p:nvSpPr>
          <p:cNvPr id="29" name="Text 26"/>
          <p:cNvSpPr txBox="1"/>
          <p:nvPr/>
        </p:nvSpPr>
        <p:spPr>
          <a:xfrm>
            <a:off x="877824" y="5440680"/>
            <a:ext cx="1234440" cy="256032"/>
          </a:xfrm>
          <a:prstGeom prst="rect">
            <a:avLst/>
          </a:prstGeom>
          <a:noFill/>
          <a:ln/>
        </p:spPr>
        <p:txBody>
          <a:bodyPr wrap="square" lIns="0" tIns="0" rIns="0" bIns="0" rtlCol="0" anchor="ctr"/>
          <a:lstStyle/>
          <a:p>
            <a:pPr indent="0" marL="0">
              <a:buNone/>
            </a:pPr>
            <a:r>
              <a:rPr lang="en-US" sz="1250" b="1" dirty="0">
                <a:solidFill>
                  <a:srgbClr val="FAF3E7"/>
                </a:solidFill>
                <a:latin typeface="Consolas" pitchFamily="34" charset="0"/>
                <a:ea typeface="Consolas" pitchFamily="34" charset="-122"/>
                <a:cs typeface="Consolas" pitchFamily="34" charset="-120"/>
              </a:rPr>
              <a:t>telemetry</a:t>
            </a:r>
            <a:endParaRPr lang="en-US" sz="1250" dirty="0"/>
          </a:p>
        </p:txBody>
      </p:sp>
      <p:sp>
        <p:nvSpPr>
          <p:cNvPr id="30" name="Text 27"/>
          <p:cNvSpPr txBox="1"/>
          <p:nvPr/>
        </p:nvSpPr>
        <p:spPr>
          <a:xfrm>
            <a:off x="2212848" y="5458968"/>
            <a:ext cx="5029200" cy="237744"/>
          </a:xfrm>
          <a:prstGeom prst="rect">
            <a:avLst/>
          </a:prstGeom>
          <a:noFill/>
          <a:ln/>
        </p:spPr>
        <p:txBody>
          <a:bodyPr wrap="square" lIns="0" tIns="0" rIns="0" bIns="0" rtlCol="0" anchor="ctr"/>
          <a:lstStyle/>
          <a:p>
            <a:pPr indent="0" marL="0">
              <a:buNone/>
            </a:pPr>
            <a:r>
              <a:rPr lang="en-US" sz="1000" dirty="0">
                <a:solidFill>
                  <a:srgbClr val="E4DED3"/>
                </a:solidFill>
                <a:latin typeface="Calibri" pitchFamily="34" charset="0"/>
                <a:ea typeface="Calibri" pitchFamily="34" charset="-122"/>
                <a:cs typeface="Calibri" pitchFamily="34" charset="-120"/>
              </a:rPr>
              <a:t>export the gate ledger as OTLP traces; off until you run it</a:t>
            </a:r>
            <a:endParaRPr lang="en-US" sz="1000" dirty="0"/>
          </a:p>
        </p:txBody>
      </p:sp>
      <p:sp>
        <p:nvSpPr>
          <p:cNvPr id="31" name="Shape 28"/>
          <p:cNvSpPr/>
          <p:nvPr/>
        </p:nvSpPr>
        <p:spPr>
          <a:xfrm>
            <a:off x="7909560" y="1993392"/>
            <a:ext cx="3642055" cy="2670048"/>
          </a:xfrm>
          <a:prstGeom prst="roundRect">
            <a:avLst>
              <a:gd name="adj" fmla="val 2055"/>
            </a:avLst>
          </a:prstGeom>
          <a:solidFill>
            <a:srgbClr val="132C79"/>
          </a:solidFill>
          <a:ln w="12700">
            <a:solidFill>
              <a:srgbClr val="132C79"/>
            </a:solidFill>
            <a:prstDash val="solid"/>
          </a:ln>
        </p:spPr>
      </p:sp>
      <p:sp>
        <p:nvSpPr>
          <p:cNvPr id="32" name="Text 29"/>
          <p:cNvSpPr txBox="1"/>
          <p:nvPr/>
        </p:nvSpPr>
        <p:spPr>
          <a:xfrm>
            <a:off x="8165592" y="2139696"/>
            <a:ext cx="3129991" cy="256032"/>
          </a:xfrm>
          <a:prstGeom prst="rect">
            <a:avLst/>
          </a:prstGeom>
          <a:noFill/>
          <a:ln/>
        </p:spPr>
        <p:txBody>
          <a:bodyPr wrap="square" lIns="0" tIns="0" rIns="0" bIns="0" rtlCol="0" anchor="ctr"/>
          <a:lstStyle/>
          <a:p>
            <a:pPr indent="0" marL="0">
              <a:buNone/>
            </a:pPr>
            <a:r>
              <a:rPr lang="en-US" sz="1300" b="1" dirty="0">
                <a:solidFill>
                  <a:srgbClr val="FAF3E7"/>
                </a:solidFill>
                <a:latin typeface="Mulish" pitchFamily="34" charset="0"/>
                <a:ea typeface="Mulish" pitchFamily="34" charset="-122"/>
                <a:cs typeface="Mulish" pitchFamily="34" charset="-120"/>
              </a:rPr>
              <a:t>What it puts in your repo</a:t>
            </a:r>
            <a:endParaRPr lang="en-US" sz="1300" dirty="0"/>
          </a:p>
        </p:txBody>
      </p:sp>
      <p:sp>
        <p:nvSpPr>
          <p:cNvPr id="33" name="Text 30"/>
          <p:cNvSpPr txBox="1"/>
          <p:nvPr/>
        </p:nvSpPr>
        <p:spPr>
          <a:xfrm>
            <a:off x="8165592" y="2395728"/>
            <a:ext cx="3129991" cy="2057400"/>
          </a:xfrm>
          <a:prstGeom prst="rect">
            <a:avLst/>
          </a:prstGeom>
          <a:noFill/>
          <a:ln/>
        </p:spPr>
        <p:txBody>
          <a:bodyPr wrap="square" lIns="0" tIns="0" rIns="0" bIns="0" rtlCol="0" anchor="t"/>
          <a:lstStyle/>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delivery/</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project.md      your stack &amp; conventions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AGENTS.md       harness entry point</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specs/          current truth</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changes/        in flight, and archive/</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decisions/      ADRs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ops/            slo · runbooks · postmortems</a:t>
            </a:r>
            <a:endParaRPr lang="en-US" sz="1000" dirty="0"/>
          </a:p>
          <a:p>
            <a:pPr indent="0" marL="0">
              <a:lnSpc>
                <a:spcPct val="162000"/>
              </a:lnSpc>
              <a:buNone/>
            </a:pPr>
            <a:r>
              <a:rPr lang="en-US" sz="1000" dirty="0">
                <a:solidFill>
                  <a:srgbClr val="E4DED3"/>
                </a:solidFill>
                <a:latin typeface="Consolas" pitchFamily="34" charset="0"/>
                <a:ea typeface="Consolas" pitchFamily="34" charset="-122"/>
                <a:cs typeface="Consolas" pitchFamily="34" charset="-120"/>
              </a:rPr>
              <a:t>  .adlc/          state · events · waivers</a:t>
            </a:r>
            <a:endParaRPr lang="en-US" sz="1000" dirty="0"/>
          </a:p>
        </p:txBody>
      </p:sp>
      <p:sp>
        <p:nvSpPr>
          <p:cNvPr id="34" name="Shape 31"/>
          <p:cNvSpPr/>
          <p:nvPr/>
        </p:nvSpPr>
        <p:spPr>
          <a:xfrm>
            <a:off x="7909560" y="4809744"/>
            <a:ext cx="3642055" cy="1170432"/>
          </a:xfrm>
          <a:prstGeom prst="roundRect">
            <a:avLst>
              <a:gd name="adj" fmla="val 4688"/>
            </a:avLst>
          </a:prstGeom>
          <a:solidFill>
            <a:srgbClr val="192954"/>
          </a:solidFill>
          <a:ln w="12700">
            <a:solidFill>
              <a:srgbClr val="192954"/>
            </a:solidFill>
            <a:prstDash val="solid"/>
          </a:ln>
        </p:spPr>
      </p:sp>
      <p:sp>
        <p:nvSpPr>
          <p:cNvPr id="35" name="Text 32"/>
          <p:cNvSpPr txBox="1"/>
          <p:nvPr/>
        </p:nvSpPr>
        <p:spPr>
          <a:xfrm>
            <a:off x="8165592" y="4937760"/>
            <a:ext cx="3129991"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ops/ is the deliberate extension</a:t>
            </a:r>
            <a:endParaRPr lang="en-US" sz="1150" dirty="0"/>
          </a:p>
        </p:txBody>
      </p:sp>
      <p:sp>
        <p:nvSpPr>
          <p:cNvPr id="36" name="Text 33"/>
          <p:cNvSpPr txBox="1"/>
          <p:nvPr/>
        </p:nvSpPr>
        <p:spPr>
          <a:xfrm>
            <a:off x="8165592" y="5212080"/>
            <a:ext cx="3129991" cy="658368"/>
          </a:xfrm>
          <a:prstGeom prst="rect">
            <a:avLst/>
          </a:prstGeom>
          <a:noFill/>
          <a:ln/>
        </p:spPr>
        <p:txBody>
          <a:bodyPr wrap="square" lIns="0" tIns="0" rIns="0" bIns="0" rtlCol="0" anchor="ctr"/>
          <a:lstStyle/>
          <a:p>
            <a:pPr indent="0" marL="0">
              <a:lnSpc>
                <a:spcPct val="112000"/>
              </a:lnSpc>
              <a:buNone/>
            </a:pPr>
            <a:r>
              <a:rPr lang="en-US" sz="950" dirty="0">
                <a:solidFill>
                  <a:srgbClr val="9BA2BA"/>
                </a:solidFill>
                <a:latin typeface="Calibri" pitchFamily="34" charset="0"/>
                <a:ea typeface="Calibri" pitchFamily="34" charset="-122"/>
                <a:cs typeface="Calibri" pitchFamily="34" charset="-120"/>
              </a:rPr>
              <a:t>It is past where change-proposal tooling usually stops. Phases 8 and 9 need a home in the repo, or the loop from an incident back to a changed standard cannot close.</a:t>
            </a:r>
            <a:endParaRPr lang="en-US" sz="950" dirty="0"/>
          </a:p>
        </p:txBody>
      </p:sp>
      <p:sp>
        <p:nvSpPr>
          <p:cNvPr id="37" name="Shape 34"/>
          <p:cNvSpPr/>
          <p:nvPr/>
        </p:nvSpPr>
        <p:spPr>
          <a:xfrm>
            <a:off x="640080" y="5897880"/>
            <a:ext cx="6858000" cy="411480"/>
          </a:xfrm>
          <a:prstGeom prst="roundRect">
            <a:avLst>
              <a:gd name="adj" fmla="val 13333"/>
            </a:avLst>
          </a:prstGeom>
          <a:solidFill>
            <a:srgbClr val="192954"/>
          </a:solidFill>
          <a:ln w="12700">
            <a:solidFill>
              <a:srgbClr val="192954"/>
            </a:solidFill>
            <a:prstDash val="solid"/>
          </a:ln>
        </p:spPr>
      </p:sp>
      <p:sp>
        <p:nvSpPr>
          <p:cNvPr id="38" name="Text 35"/>
          <p:cNvSpPr txBox="1"/>
          <p:nvPr/>
        </p:nvSpPr>
        <p:spPr>
          <a:xfrm>
            <a:off x="877824" y="6007608"/>
            <a:ext cx="6400800" cy="219456"/>
          </a:xfrm>
          <a:prstGeom prst="rect">
            <a:avLst/>
          </a:prstGeom>
          <a:noFill/>
          <a:ln/>
        </p:spPr>
        <p:txBody>
          <a:bodyPr wrap="square" lIns="0" tIns="0" rIns="0" bIns="0" rtlCol="0" anchor="ctr"/>
          <a:lstStyle/>
          <a:p>
            <a:pPr indent="0" marL="0">
              <a:buNone/>
            </a:pPr>
            <a:r>
              <a:rPr lang="en-US" sz="950" dirty="0">
                <a:solidFill>
                  <a:srgbClr val="E4DED3"/>
                </a:solidFill>
                <a:latin typeface="Calibri" pitchFamily="34" charset="0"/>
                <a:ea typeface="Calibri" pitchFamily="34" charset="-122"/>
                <a:cs typeface="Calibri" pitchFamily="34" charset="-120"/>
              </a:rPr>
              <a:t>status, validate and archive read only .adlc/state.json and .adlc/events.jsonl. A verdict asserted in prose does not exist.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PORTABILITY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Neutral capabilities, and a mandatory fallback for each</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An agent that names Read and Bash works in exactly one harness. The fallback column is what makes 'runs anywhere' true rather than aspirational.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13 / 19</a:t>
            </a:r>
            <a:endParaRPr lang="en-US" sz="850" dirty="0"/>
          </a:p>
        </p:txBody>
      </p:sp>
      <p:sp>
        <p:nvSpPr>
          <p:cNvPr id="7" name="Text 4"/>
          <p:cNvSpPr txBox="1"/>
          <p:nvPr/>
        </p:nvSpPr>
        <p:spPr>
          <a:xfrm>
            <a:off x="859536" y="1883664"/>
            <a:ext cx="19659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CAPABILITY</a:t>
            </a:r>
            <a:endParaRPr lang="en-US" sz="850" dirty="0"/>
          </a:p>
        </p:txBody>
      </p:sp>
      <p:sp>
        <p:nvSpPr>
          <p:cNvPr id="8" name="Text 5"/>
          <p:cNvSpPr txBox="1"/>
          <p:nvPr/>
        </p:nvSpPr>
        <p:spPr>
          <a:xfrm>
            <a:off x="3008376" y="1883664"/>
            <a:ext cx="17373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CLAUDE CODE</a:t>
            </a:r>
            <a:endParaRPr lang="en-US" sz="850" dirty="0"/>
          </a:p>
        </p:txBody>
      </p:sp>
      <p:sp>
        <p:nvSpPr>
          <p:cNvPr id="9" name="Text 6"/>
          <p:cNvSpPr txBox="1"/>
          <p:nvPr/>
        </p:nvSpPr>
        <p:spPr>
          <a:xfrm>
            <a:off x="4928616" y="1883664"/>
            <a:ext cx="1965960"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CODEX / CURSOR</a:t>
            </a:r>
            <a:endParaRPr lang="en-US" sz="850" dirty="0"/>
          </a:p>
        </p:txBody>
      </p:sp>
      <p:sp>
        <p:nvSpPr>
          <p:cNvPr id="10" name="Text 7"/>
          <p:cNvSpPr txBox="1"/>
          <p:nvPr/>
        </p:nvSpPr>
        <p:spPr>
          <a:xfrm>
            <a:off x="7077456" y="1883664"/>
            <a:ext cx="4510735" cy="201168"/>
          </a:xfrm>
          <a:prstGeom prst="rect">
            <a:avLst/>
          </a:prstGeom>
          <a:noFill/>
          <a:ln/>
        </p:spPr>
        <p:txBody>
          <a:bodyPr wrap="square" lIns="0" tIns="0" rIns="0" bIns="0" rtlCol="0" anchor="ctr"/>
          <a:lstStyle/>
          <a:p>
            <a:pPr indent="0" marL="0">
              <a:buNone/>
            </a:pPr>
            <a:r>
              <a:rPr lang="en-US" sz="850" b="1" spc="100" kern="0" dirty="0">
                <a:solidFill>
                  <a:srgbClr val="9A9184"/>
                </a:solidFill>
                <a:latin typeface="Calibri" pitchFamily="34" charset="0"/>
                <a:ea typeface="Calibri" pitchFamily="34" charset="-122"/>
                <a:cs typeface="Calibri" pitchFamily="34" charset="-120"/>
              </a:rPr>
              <a:t>FALLBACK — NO TOOLING AT ALL</a:t>
            </a:r>
            <a:endParaRPr lang="en-US" sz="850" dirty="0"/>
          </a:p>
        </p:txBody>
      </p:sp>
      <p:sp>
        <p:nvSpPr>
          <p:cNvPr id="11" name="Shape 8"/>
          <p:cNvSpPr/>
          <p:nvPr/>
        </p:nvSpPr>
        <p:spPr>
          <a:xfrm>
            <a:off x="640080" y="2176272"/>
            <a:ext cx="10911535" cy="475488"/>
          </a:xfrm>
          <a:prstGeom prst="roundRect">
            <a:avLst>
              <a:gd name="adj" fmla="val 11538"/>
            </a:avLst>
          </a:prstGeom>
          <a:solidFill>
            <a:srgbClr val="FFFFFF"/>
          </a:solidFill>
          <a:ln w="12700">
            <a:solidFill>
              <a:srgbClr val="CFC7B8"/>
            </a:solidFill>
            <a:prstDash val="solid"/>
          </a:ln>
        </p:spPr>
      </p:sp>
      <p:sp>
        <p:nvSpPr>
          <p:cNvPr id="12" name="Text 9"/>
          <p:cNvSpPr txBox="1"/>
          <p:nvPr/>
        </p:nvSpPr>
        <p:spPr>
          <a:xfrm>
            <a:off x="859536" y="231343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read_file</a:t>
            </a:r>
            <a:endParaRPr lang="en-US" sz="1100" dirty="0"/>
          </a:p>
        </p:txBody>
      </p:sp>
      <p:sp>
        <p:nvSpPr>
          <p:cNvPr id="13" name="Text 10"/>
          <p:cNvSpPr txBox="1"/>
          <p:nvPr/>
        </p:nvSpPr>
        <p:spPr>
          <a:xfrm>
            <a:off x="3008376" y="231343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Read</a:t>
            </a:r>
            <a:endParaRPr lang="en-US" sz="1050" dirty="0"/>
          </a:p>
        </p:txBody>
      </p:sp>
      <p:sp>
        <p:nvSpPr>
          <p:cNvPr id="14" name="Text 11"/>
          <p:cNvSpPr txBox="1"/>
          <p:nvPr/>
        </p:nvSpPr>
        <p:spPr>
          <a:xfrm>
            <a:off x="4928616" y="231343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file read</a:t>
            </a:r>
            <a:endParaRPr lang="en-US" sz="1050" dirty="0"/>
          </a:p>
        </p:txBody>
      </p:sp>
      <p:sp>
        <p:nvSpPr>
          <p:cNvPr id="15" name="Text 12"/>
          <p:cNvSpPr txBox="1"/>
          <p:nvPr/>
        </p:nvSpPr>
        <p:spPr>
          <a:xfrm>
            <a:off x="7077456" y="231343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the human to paste the file</a:t>
            </a:r>
            <a:endParaRPr lang="en-US" sz="1050" dirty="0"/>
          </a:p>
        </p:txBody>
      </p:sp>
      <p:sp>
        <p:nvSpPr>
          <p:cNvPr id="16" name="Shape 13"/>
          <p:cNvSpPr/>
          <p:nvPr/>
        </p:nvSpPr>
        <p:spPr>
          <a:xfrm>
            <a:off x="640080" y="2724912"/>
            <a:ext cx="10911535" cy="475488"/>
          </a:xfrm>
          <a:prstGeom prst="roundRect">
            <a:avLst>
              <a:gd name="adj" fmla="val 11538"/>
            </a:avLst>
          </a:prstGeom>
          <a:solidFill>
            <a:srgbClr val="FFFFFF"/>
          </a:solidFill>
          <a:ln w="12700">
            <a:solidFill>
              <a:srgbClr val="CFC7B8"/>
            </a:solidFill>
            <a:prstDash val="solid"/>
          </a:ln>
        </p:spPr>
      </p:sp>
      <p:sp>
        <p:nvSpPr>
          <p:cNvPr id="17" name="Text 14"/>
          <p:cNvSpPr txBox="1"/>
          <p:nvPr/>
        </p:nvSpPr>
        <p:spPr>
          <a:xfrm>
            <a:off x="859536" y="286207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write_file</a:t>
            </a:r>
            <a:endParaRPr lang="en-US" sz="1100" dirty="0"/>
          </a:p>
        </p:txBody>
      </p:sp>
      <p:sp>
        <p:nvSpPr>
          <p:cNvPr id="18" name="Text 15"/>
          <p:cNvSpPr txBox="1"/>
          <p:nvPr/>
        </p:nvSpPr>
        <p:spPr>
          <a:xfrm>
            <a:off x="3008376" y="286207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Write</a:t>
            </a:r>
            <a:endParaRPr lang="en-US" sz="1050" dirty="0"/>
          </a:p>
        </p:txBody>
      </p:sp>
      <p:sp>
        <p:nvSpPr>
          <p:cNvPr id="19" name="Text 16"/>
          <p:cNvSpPr txBox="1"/>
          <p:nvPr/>
        </p:nvSpPr>
        <p:spPr>
          <a:xfrm>
            <a:off x="4928616" y="286207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file write</a:t>
            </a:r>
            <a:endParaRPr lang="en-US" sz="1050" dirty="0"/>
          </a:p>
        </p:txBody>
      </p:sp>
      <p:sp>
        <p:nvSpPr>
          <p:cNvPr id="20" name="Text 17"/>
          <p:cNvSpPr txBox="1"/>
          <p:nvPr/>
        </p:nvSpPr>
        <p:spPr>
          <a:xfrm>
            <a:off x="7077456" y="286207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emit the file in a fenced block</a:t>
            </a:r>
            <a:endParaRPr lang="en-US" sz="1050" dirty="0"/>
          </a:p>
        </p:txBody>
      </p:sp>
      <p:sp>
        <p:nvSpPr>
          <p:cNvPr id="21" name="Shape 18"/>
          <p:cNvSpPr/>
          <p:nvPr/>
        </p:nvSpPr>
        <p:spPr>
          <a:xfrm>
            <a:off x="640080" y="3273552"/>
            <a:ext cx="10911535" cy="475488"/>
          </a:xfrm>
          <a:prstGeom prst="roundRect">
            <a:avLst>
              <a:gd name="adj" fmla="val 11538"/>
            </a:avLst>
          </a:prstGeom>
          <a:solidFill>
            <a:srgbClr val="FFFFFF"/>
          </a:solidFill>
          <a:ln w="12700">
            <a:solidFill>
              <a:srgbClr val="CFC7B8"/>
            </a:solidFill>
            <a:prstDash val="solid"/>
          </a:ln>
        </p:spPr>
      </p:sp>
      <p:sp>
        <p:nvSpPr>
          <p:cNvPr id="22" name="Text 19"/>
          <p:cNvSpPr txBox="1"/>
          <p:nvPr/>
        </p:nvSpPr>
        <p:spPr>
          <a:xfrm>
            <a:off x="859536" y="341071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run_command</a:t>
            </a:r>
            <a:endParaRPr lang="en-US" sz="1100" dirty="0"/>
          </a:p>
        </p:txBody>
      </p:sp>
      <p:sp>
        <p:nvSpPr>
          <p:cNvPr id="23" name="Text 20"/>
          <p:cNvSpPr txBox="1"/>
          <p:nvPr/>
        </p:nvSpPr>
        <p:spPr>
          <a:xfrm>
            <a:off x="3008376" y="341071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Bash</a:t>
            </a:r>
            <a:endParaRPr lang="en-US" sz="1050" dirty="0"/>
          </a:p>
        </p:txBody>
      </p:sp>
      <p:sp>
        <p:nvSpPr>
          <p:cNvPr id="24" name="Text 21"/>
          <p:cNvSpPr txBox="1"/>
          <p:nvPr/>
        </p:nvSpPr>
        <p:spPr>
          <a:xfrm>
            <a:off x="4928616" y="341071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shell</a:t>
            </a:r>
            <a:endParaRPr lang="en-US" sz="1050" dirty="0"/>
          </a:p>
        </p:txBody>
      </p:sp>
      <p:sp>
        <p:nvSpPr>
          <p:cNvPr id="25" name="Text 22"/>
          <p:cNvSpPr txBox="1"/>
          <p:nvPr/>
        </p:nvSpPr>
        <p:spPr>
          <a:xfrm>
            <a:off x="7077456" y="341071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the human to run it and paste output</a:t>
            </a:r>
            <a:endParaRPr lang="en-US" sz="1050" dirty="0"/>
          </a:p>
        </p:txBody>
      </p:sp>
      <p:sp>
        <p:nvSpPr>
          <p:cNvPr id="26" name="Shape 23"/>
          <p:cNvSpPr/>
          <p:nvPr/>
        </p:nvSpPr>
        <p:spPr>
          <a:xfrm>
            <a:off x="640080" y="3822192"/>
            <a:ext cx="10911535" cy="475488"/>
          </a:xfrm>
          <a:prstGeom prst="roundRect">
            <a:avLst>
              <a:gd name="adj" fmla="val 11538"/>
            </a:avLst>
          </a:prstGeom>
          <a:solidFill>
            <a:srgbClr val="FFFFFF"/>
          </a:solidFill>
          <a:ln w="12700">
            <a:solidFill>
              <a:srgbClr val="CFC7B8"/>
            </a:solidFill>
            <a:prstDash val="solid"/>
          </a:ln>
        </p:spPr>
      </p:sp>
      <p:sp>
        <p:nvSpPr>
          <p:cNvPr id="27" name="Text 24"/>
          <p:cNvSpPr txBox="1"/>
          <p:nvPr/>
        </p:nvSpPr>
        <p:spPr>
          <a:xfrm>
            <a:off x="859536" y="395935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search</a:t>
            </a:r>
            <a:endParaRPr lang="en-US" sz="1100" dirty="0"/>
          </a:p>
        </p:txBody>
      </p:sp>
      <p:sp>
        <p:nvSpPr>
          <p:cNvPr id="28" name="Text 25"/>
          <p:cNvSpPr txBox="1"/>
          <p:nvPr/>
        </p:nvSpPr>
        <p:spPr>
          <a:xfrm>
            <a:off x="3008376" y="395935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Grep/Glob</a:t>
            </a:r>
            <a:endParaRPr lang="en-US" sz="1050" dirty="0"/>
          </a:p>
        </p:txBody>
      </p:sp>
      <p:sp>
        <p:nvSpPr>
          <p:cNvPr id="29" name="Text 26"/>
          <p:cNvSpPr txBox="1"/>
          <p:nvPr/>
        </p:nvSpPr>
        <p:spPr>
          <a:xfrm>
            <a:off x="4928616" y="395935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search</a:t>
            </a:r>
            <a:endParaRPr lang="en-US" sz="1050" dirty="0"/>
          </a:p>
        </p:txBody>
      </p:sp>
      <p:sp>
        <p:nvSpPr>
          <p:cNvPr id="30" name="Text 27"/>
          <p:cNvSpPr txBox="1"/>
          <p:nvPr/>
        </p:nvSpPr>
        <p:spPr>
          <a:xfrm>
            <a:off x="7077456" y="395935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for the relevant paths</a:t>
            </a:r>
            <a:endParaRPr lang="en-US" sz="1050" dirty="0"/>
          </a:p>
        </p:txBody>
      </p:sp>
      <p:sp>
        <p:nvSpPr>
          <p:cNvPr id="31" name="Shape 28"/>
          <p:cNvSpPr/>
          <p:nvPr/>
        </p:nvSpPr>
        <p:spPr>
          <a:xfrm>
            <a:off x="640080" y="4370832"/>
            <a:ext cx="10911535" cy="475488"/>
          </a:xfrm>
          <a:prstGeom prst="roundRect">
            <a:avLst>
              <a:gd name="adj" fmla="val 11538"/>
            </a:avLst>
          </a:prstGeom>
          <a:solidFill>
            <a:srgbClr val="FFFFFF"/>
          </a:solidFill>
          <a:ln w="12700">
            <a:solidFill>
              <a:srgbClr val="CFC7B8"/>
            </a:solidFill>
            <a:prstDash val="solid"/>
          </a:ln>
        </p:spPr>
      </p:sp>
      <p:sp>
        <p:nvSpPr>
          <p:cNvPr id="32" name="Text 29"/>
          <p:cNvSpPr txBox="1"/>
          <p:nvPr/>
        </p:nvSpPr>
        <p:spPr>
          <a:xfrm>
            <a:off x="859536" y="4507992"/>
            <a:ext cx="1965960" cy="237744"/>
          </a:xfrm>
          <a:prstGeom prst="rect">
            <a:avLst/>
          </a:prstGeom>
          <a:noFill/>
          <a:ln/>
        </p:spPr>
        <p:txBody>
          <a:bodyPr wrap="square" lIns="0" tIns="0" rIns="0" bIns="0" rtlCol="0" anchor="ctr"/>
          <a:lstStyle/>
          <a:p>
            <a:pPr indent="0" marL="0">
              <a:buNone/>
            </a:pPr>
            <a:r>
              <a:rPr lang="en-US" sz="1100" b="1" dirty="0">
                <a:solidFill>
                  <a:srgbClr val="051D60"/>
                </a:solidFill>
                <a:latin typeface="Consolas" pitchFamily="34" charset="0"/>
                <a:ea typeface="Consolas" pitchFamily="34" charset="-122"/>
                <a:cs typeface="Consolas" pitchFamily="34" charset="-120"/>
              </a:rPr>
              <a:t>ask_human</a:t>
            </a:r>
            <a:endParaRPr lang="en-US" sz="1100" dirty="0"/>
          </a:p>
        </p:txBody>
      </p:sp>
      <p:sp>
        <p:nvSpPr>
          <p:cNvPr id="33" name="Text 30"/>
          <p:cNvSpPr txBox="1"/>
          <p:nvPr/>
        </p:nvSpPr>
        <p:spPr>
          <a:xfrm>
            <a:off x="3008376" y="4507992"/>
            <a:ext cx="17373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AskUserQuestion</a:t>
            </a:r>
            <a:endParaRPr lang="en-US" sz="1050" dirty="0"/>
          </a:p>
        </p:txBody>
      </p:sp>
      <p:sp>
        <p:nvSpPr>
          <p:cNvPr id="34" name="Text 31"/>
          <p:cNvSpPr txBox="1"/>
          <p:nvPr/>
        </p:nvSpPr>
        <p:spPr>
          <a:xfrm>
            <a:off x="4928616" y="4507992"/>
            <a:ext cx="1965960"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prompt</a:t>
            </a:r>
            <a:endParaRPr lang="en-US" sz="1050" dirty="0"/>
          </a:p>
        </p:txBody>
      </p:sp>
      <p:sp>
        <p:nvSpPr>
          <p:cNvPr id="35" name="Text 32"/>
          <p:cNvSpPr txBox="1"/>
          <p:nvPr/>
        </p:nvSpPr>
        <p:spPr>
          <a:xfrm>
            <a:off x="7077456" y="4507992"/>
            <a:ext cx="4474159" cy="237744"/>
          </a:xfrm>
          <a:prstGeom prst="rect">
            <a:avLst/>
          </a:prstGeom>
          <a:noFill/>
          <a:ln/>
        </p:spPr>
        <p:txBody>
          <a:bodyPr wrap="square" lIns="0" tIns="0" rIns="0" bIns="0" rtlCol="0" anchor="ctr"/>
          <a:lstStyle/>
          <a:p>
            <a:pPr indent="0" marL="0">
              <a:buNone/>
            </a:pPr>
            <a:r>
              <a:rPr lang="en-US" sz="1050" dirty="0">
                <a:solidFill>
                  <a:srgbClr val="5F6476"/>
                </a:solidFill>
                <a:latin typeface="Calibri" pitchFamily="34" charset="0"/>
                <a:ea typeface="Calibri" pitchFamily="34" charset="-122"/>
                <a:cs typeface="Calibri" pitchFamily="34" charset="-120"/>
              </a:rPr>
              <a:t>ask a plain question, then wait</a:t>
            </a:r>
            <a:endParaRPr lang="en-US" sz="1050" dirty="0"/>
          </a:p>
        </p:txBody>
      </p:sp>
      <p:sp>
        <p:nvSpPr>
          <p:cNvPr id="36" name="Shape 33"/>
          <p:cNvSpPr/>
          <p:nvPr/>
        </p:nvSpPr>
        <p:spPr>
          <a:xfrm>
            <a:off x="640080" y="4919472"/>
            <a:ext cx="10911535" cy="475488"/>
          </a:xfrm>
          <a:prstGeom prst="roundRect">
            <a:avLst>
              <a:gd name="adj" fmla="val 11538"/>
            </a:avLst>
          </a:prstGeom>
          <a:solidFill>
            <a:srgbClr val="051D60"/>
          </a:solidFill>
          <a:ln w="12700">
            <a:solidFill>
              <a:srgbClr val="051D60"/>
            </a:solidFill>
            <a:prstDash val="solid"/>
          </a:ln>
        </p:spPr>
      </p:sp>
      <p:sp>
        <p:nvSpPr>
          <p:cNvPr id="37" name="Text 34"/>
          <p:cNvSpPr txBox="1"/>
          <p:nvPr/>
        </p:nvSpPr>
        <p:spPr>
          <a:xfrm>
            <a:off x="859536" y="5056632"/>
            <a:ext cx="1965960" cy="237744"/>
          </a:xfrm>
          <a:prstGeom prst="rect">
            <a:avLst/>
          </a:prstGeom>
          <a:noFill/>
          <a:ln/>
        </p:spPr>
        <p:txBody>
          <a:bodyPr wrap="square" lIns="0" tIns="0" rIns="0" bIns="0" rtlCol="0" anchor="ctr"/>
          <a:lstStyle/>
          <a:p>
            <a:pPr indent="0" marL="0">
              <a:buNone/>
            </a:pPr>
            <a:r>
              <a:rPr lang="en-US" sz="1100" b="1" dirty="0">
                <a:solidFill>
                  <a:srgbClr val="FAF3E7"/>
                </a:solidFill>
                <a:latin typeface="Consolas" pitchFamily="34" charset="0"/>
                <a:ea typeface="Consolas" pitchFamily="34" charset="-122"/>
                <a:cs typeface="Consolas" pitchFamily="34" charset="-120"/>
              </a:rPr>
              <a:t>spawn_subagent</a:t>
            </a:r>
            <a:endParaRPr lang="en-US" sz="1100" dirty="0"/>
          </a:p>
        </p:txBody>
      </p:sp>
      <p:sp>
        <p:nvSpPr>
          <p:cNvPr id="38" name="Text 35"/>
          <p:cNvSpPr txBox="1"/>
          <p:nvPr/>
        </p:nvSpPr>
        <p:spPr>
          <a:xfrm>
            <a:off x="3008376" y="5056632"/>
            <a:ext cx="1737360"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Agent</a:t>
            </a:r>
            <a:endParaRPr lang="en-US" sz="1050" dirty="0"/>
          </a:p>
        </p:txBody>
      </p:sp>
      <p:sp>
        <p:nvSpPr>
          <p:cNvPr id="39" name="Text 36"/>
          <p:cNvSpPr txBox="1"/>
          <p:nvPr/>
        </p:nvSpPr>
        <p:spPr>
          <a:xfrm>
            <a:off x="4928616" y="5056632"/>
            <a:ext cx="1965960"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 not available —</a:t>
            </a:r>
            <a:endParaRPr lang="en-US" sz="1050" dirty="0"/>
          </a:p>
        </p:txBody>
      </p:sp>
      <p:sp>
        <p:nvSpPr>
          <p:cNvPr id="40" name="Text 37"/>
          <p:cNvSpPr txBox="1"/>
          <p:nvPr/>
        </p:nvSpPr>
        <p:spPr>
          <a:xfrm>
            <a:off x="7077456" y="5056632"/>
            <a:ext cx="4474159" cy="237744"/>
          </a:xfrm>
          <a:prstGeom prst="rect">
            <a:avLst/>
          </a:prstGeom>
          <a:noFill/>
          <a:ln/>
        </p:spPr>
        <p:txBody>
          <a:bodyPr wrap="square" lIns="0" tIns="0" rIns="0" bIns="0" rtlCol="0" anchor="ctr"/>
          <a:lstStyle/>
          <a:p>
            <a:pPr indent="0" marL="0">
              <a:buNone/>
            </a:pPr>
            <a:r>
              <a:rPr lang="en-US" sz="1050" dirty="0">
                <a:solidFill>
                  <a:srgbClr val="E4DED3"/>
                </a:solidFill>
                <a:latin typeface="Calibri" pitchFamily="34" charset="0"/>
                <a:ea typeface="Calibri" pitchFamily="34" charset="-122"/>
                <a:cs typeface="Calibri" pitchFamily="34" charset="-120"/>
              </a:rPr>
              <a:t>adopt the persona sequentially in this session</a:t>
            </a:r>
            <a:endParaRPr lang="en-US" sz="1050" dirty="0"/>
          </a:p>
        </p:txBody>
      </p:sp>
      <p:sp>
        <p:nvSpPr>
          <p:cNvPr id="41" name="Shape 38"/>
          <p:cNvSpPr/>
          <p:nvPr/>
        </p:nvSpPr>
        <p:spPr>
          <a:xfrm>
            <a:off x="640080" y="5504688"/>
            <a:ext cx="10911535" cy="658368"/>
          </a:xfrm>
          <a:prstGeom prst="roundRect">
            <a:avLst>
              <a:gd name="adj" fmla="val 8333"/>
            </a:avLst>
          </a:prstGeom>
          <a:solidFill>
            <a:srgbClr val="F1E9DA"/>
          </a:solidFill>
          <a:ln w="12700">
            <a:solidFill>
              <a:srgbClr val="F1E9DA"/>
            </a:solidFill>
            <a:prstDash val="solid"/>
          </a:ln>
        </p:spPr>
      </p:sp>
      <p:sp>
        <p:nvSpPr>
          <p:cNvPr id="42" name="Text 39"/>
          <p:cNvSpPr txBox="1"/>
          <p:nvPr/>
        </p:nvSpPr>
        <p:spPr>
          <a:xfrm>
            <a:off x="914400" y="5614416"/>
            <a:ext cx="10362895" cy="457200"/>
          </a:xfrm>
          <a:prstGeom prst="rect">
            <a:avLst/>
          </a:prstGeom>
          <a:noFill/>
          <a:ln/>
        </p:spPr>
        <p:txBody>
          <a:bodyPr wrap="square" lIns="0" tIns="0" rIns="0" bIns="0" rtlCol="0" anchor="ctr"/>
          <a:lstStyle/>
          <a:p>
            <a:pPr indent="0" marL="0">
              <a:lnSpc>
                <a:spcPct val="110000"/>
              </a:lnSpc>
              <a:buNone/>
            </a:pPr>
            <a:r>
              <a:rPr lang="en-US" sz="1000" dirty="0">
                <a:solidFill>
                  <a:srgbClr val="051D60"/>
                </a:solidFill>
                <a:latin typeface="Calibri" pitchFamily="34" charset="0"/>
                <a:ea typeface="Calibri" pitchFamily="34" charset="-122"/>
                <a:cs typeface="Calibri" pitchFamily="34" charset="-120"/>
              </a:rPr>
              <a:t>A persona is a subagent where subagents exist, and a role the model steps into where they do not — the same agent file, the same skills, degraded isolation only. registry/capabilities.json is the single source, and scripts/build_adapters.py projects it into each harness's shape. Adapters are generated; CI diffs them, so a hand edit fails the build.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HOW WE KNOW IT HOLDS</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The content is the product, so we test it like one</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Four validators, a harness that runs every skill's own checks, and a golden path across all four lanes — all of it in CI on every push.</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14 / 19</a:t>
            </a:r>
            <a:endParaRPr lang="en-US" sz="850" dirty="0"/>
          </a:p>
        </p:txBody>
      </p:sp>
      <p:sp>
        <p:nvSpPr>
          <p:cNvPr id="7" name="Shape 4"/>
          <p:cNvSpPr/>
          <p:nvPr/>
        </p:nvSpPr>
        <p:spPr>
          <a:xfrm>
            <a:off x="640080" y="1865376"/>
            <a:ext cx="10911535" cy="786384"/>
          </a:xfrm>
          <a:prstGeom prst="roundRect">
            <a:avLst>
              <a:gd name="adj" fmla="val 6977"/>
            </a:avLst>
          </a:prstGeom>
          <a:solidFill>
            <a:srgbClr val="FFFFFF"/>
          </a:solidFill>
          <a:ln w="12700">
            <a:solidFill>
              <a:srgbClr val="CFC7B8"/>
            </a:solidFill>
            <a:prstDash val="solid"/>
          </a:ln>
        </p:spPr>
      </p:sp>
      <p:sp>
        <p:nvSpPr>
          <p:cNvPr id="8" name="Text 5"/>
          <p:cNvSpPr txBox="1"/>
          <p:nvPr/>
        </p:nvSpPr>
        <p:spPr>
          <a:xfrm>
            <a:off x="896112" y="19933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validate_manifests.py</a:t>
            </a:r>
            <a:endParaRPr lang="en-US" sz="1200" dirty="0"/>
          </a:p>
        </p:txBody>
      </p:sp>
      <p:sp>
        <p:nvSpPr>
          <p:cNvPr id="9" name="Text 6"/>
          <p:cNvSpPr txBox="1"/>
          <p:nvPr/>
        </p:nvSpPr>
        <p:spPr>
          <a:xfrm>
            <a:off x="896112" y="22677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M1–M7</a:t>
            </a:r>
            <a:endParaRPr lang="en-US" sz="950" dirty="0"/>
          </a:p>
        </p:txBody>
      </p:sp>
      <p:sp>
        <p:nvSpPr>
          <p:cNvPr id="10" name="Text 7"/>
          <p:cNvSpPr txBox="1"/>
          <p:nvPr/>
        </p:nvSpPr>
        <p:spPr>
          <a:xfrm>
            <a:off x="3840480" y="19933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Frontmatter parses; required keys present; names match their directory and prefix; every skill an agent names resolves; every skill is named by at least one agent.</a:t>
            </a:r>
            <a:endParaRPr lang="en-US" sz="1000" dirty="0"/>
          </a:p>
        </p:txBody>
      </p:sp>
      <p:sp>
        <p:nvSpPr>
          <p:cNvPr id="11" name="Text 8"/>
          <p:cNvSpPr txBox="1"/>
          <p:nvPr/>
        </p:nvSpPr>
        <p:spPr>
          <a:xfrm>
            <a:off x="8534095" y="21031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findings across 50 files</a:t>
            </a:r>
            <a:endParaRPr lang="en-US" sz="1000" dirty="0"/>
          </a:p>
        </p:txBody>
      </p:sp>
      <p:sp>
        <p:nvSpPr>
          <p:cNvPr id="12" name="Shape 9"/>
          <p:cNvSpPr/>
          <p:nvPr/>
        </p:nvSpPr>
        <p:spPr>
          <a:xfrm>
            <a:off x="640080" y="2779776"/>
            <a:ext cx="10911535" cy="786384"/>
          </a:xfrm>
          <a:prstGeom prst="roundRect">
            <a:avLst>
              <a:gd name="adj" fmla="val 6977"/>
            </a:avLst>
          </a:prstGeom>
          <a:solidFill>
            <a:srgbClr val="FFFFFF"/>
          </a:solidFill>
          <a:ln w="12700">
            <a:solidFill>
              <a:srgbClr val="CFC7B8"/>
            </a:solidFill>
            <a:prstDash val="solid"/>
          </a:ln>
        </p:spPr>
      </p:sp>
      <p:sp>
        <p:nvSpPr>
          <p:cNvPr id="13" name="Text 10"/>
          <p:cNvSpPr txBox="1"/>
          <p:nvPr/>
        </p:nvSpPr>
        <p:spPr>
          <a:xfrm>
            <a:off x="896112" y="29077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lint_separation.py</a:t>
            </a:r>
            <a:endParaRPr lang="en-US" sz="1200" dirty="0"/>
          </a:p>
        </p:txBody>
      </p:sp>
      <p:sp>
        <p:nvSpPr>
          <p:cNvPr id="14" name="Text 11"/>
          <p:cNvSpPr txBox="1"/>
          <p:nvPr/>
        </p:nvSpPr>
        <p:spPr>
          <a:xfrm>
            <a:off x="896112" y="31821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SEP1–SEP4</a:t>
            </a:r>
            <a:endParaRPr lang="en-US" sz="950" dirty="0"/>
          </a:p>
        </p:txBody>
      </p:sp>
      <p:sp>
        <p:nvSpPr>
          <p:cNvPr id="15" name="Text 12"/>
          <p:cNvSpPr txBox="1"/>
          <p:nvPr/>
        </p:nvSpPr>
        <p:spPr>
          <a:xfrm>
            <a:off x="3840480" y="29077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A numbered procedure or a template inside an agent; persona voice or first person inside a skill. The one check that stops the two halves merging.</a:t>
            </a:r>
            <a:endParaRPr lang="en-US" sz="1000" dirty="0"/>
          </a:p>
        </p:txBody>
      </p:sp>
      <p:sp>
        <p:nvSpPr>
          <p:cNvPr id="16" name="Text 13"/>
          <p:cNvSpPr txBox="1"/>
          <p:nvPr/>
        </p:nvSpPr>
        <p:spPr>
          <a:xfrm>
            <a:off x="8534095" y="30175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separation findings</a:t>
            </a:r>
            <a:endParaRPr lang="en-US" sz="1000" dirty="0"/>
          </a:p>
        </p:txBody>
      </p:sp>
      <p:sp>
        <p:nvSpPr>
          <p:cNvPr id="17" name="Shape 14"/>
          <p:cNvSpPr/>
          <p:nvPr/>
        </p:nvSpPr>
        <p:spPr>
          <a:xfrm>
            <a:off x="640080" y="3694176"/>
            <a:ext cx="10911535" cy="786384"/>
          </a:xfrm>
          <a:prstGeom prst="roundRect">
            <a:avLst>
              <a:gd name="adj" fmla="val 6977"/>
            </a:avLst>
          </a:prstGeom>
          <a:solidFill>
            <a:srgbClr val="FFFFFF"/>
          </a:solidFill>
          <a:ln w="12700">
            <a:solidFill>
              <a:srgbClr val="CFC7B8"/>
            </a:solidFill>
            <a:prstDash val="solid"/>
          </a:ln>
        </p:spPr>
      </p:sp>
      <p:sp>
        <p:nvSpPr>
          <p:cNvPr id="18" name="Text 15"/>
          <p:cNvSpPr txBox="1"/>
          <p:nvPr/>
        </p:nvSpPr>
        <p:spPr>
          <a:xfrm>
            <a:off x="896112" y="38221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validate_traceability.py</a:t>
            </a:r>
            <a:endParaRPr lang="en-US" sz="1200" dirty="0"/>
          </a:p>
        </p:txBody>
      </p:sp>
      <p:sp>
        <p:nvSpPr>
          <p:cNvPr id="19" name="Text 16"/>
          <p:cNvSpPr txBox="1"/>
          <p:nvPr/>
        </p:nvSpPr>
        <p:spPr>
          <a:xfrm>
            <a:off x="896112" y="40965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T0–T4</a:t>
            </a:r>
            <a:endParaRPr lang="en-US" sz="950" dirty="0"/>
          </a:p>
        </p:txBody>
      </p:sp>
      <p:sp>
        <p:nvSpPr>
          <p:cNvPr id="20" name="Text 17"/>
          <p:cNvSpPr txBox="1"/>
          <p:nvPr/>
        </p:nvSpPr>
        <p:spPr>
          <a:xfrm>
            <a:off x="3840480" y="38221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The ID chain in your delivery/ tree: every requirement criteria'd, every task attached to a requirement that exists.</a:t>
            </a:r>
            <a:endParaRPr lang="en-US" sz="1000" dirty="0"/>
          </a:p>
        </p:txBody>
      </p:sp>
      <p:sp>
        <p:nvSpPr>
          <p:cNvPr id="21" name="Text 18"/>
          <p:cNvSpPr txBox="1"/>
          <p:nvPr/>
        </p:nvSpPr>
        <p:spPr>
          <a:xfrm>
            <a:off x="8534095" y="39319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0 traceability findings</a:t>
            </a:r>
            <a:endParaRPr lang="en-US" sz="1000" dirty="0"/>
          </a:p>
        </p:txBody>
      </p:sp>
      <p:sp>
        <p:nvSpPr>
          <p:cNvPr id="22" name="Shape 19"/>
          <p:cNvSpPr/>
          <p:nvPr/>
        </p:nvSpPr>
        <p:spPr>
          <a:xfrm>
            <a:off x="640080" y="4608576"/>
            <a:ext cx="10911535" cy="786384"/>
          </a:xfrm>
          <a:prstGeom prst="roundRect">
            <a:avLst>
              <a:gd name="adj" fmla="val 6977"/>
            </a:avLst>
          </a:prstGeom>
          <a:solidFill>
            <a:srgbClr val="FFFFFF"/>
          </a:solidFill>
          <a:ln w="12700">
            <a:solidFill>
              <a:srgbClr val="CFC7B8"/>
            </a:solidFill>
            <a:prstDash val="solid"/>
          </a:ln>
        </p:spPr>
      </p:sp>
      <p:sp>
        <p:nvSpPr>
          <p:cNvPr id="23" name="Text 20"/>
          <p:cNvSpPr txBox="1"/>
          <p:nvPr/>
        </p:nvSpPr>
        <p:spPr>
          <a:xfrm>
            <a:off x="896112" y="4736592"/>
            <a:ext cx="2834640" cy="256032"/>
          </a:xfrm>
          <a:prstGeom prst="rect">
            <a:avLst/>
          </a:prstGeom>
          <a:noFill/>
          <a:ln/>
        </p:spPr>
        <p:txBody>
          <a:bodyPr wrap="square" lIns="0" tIns="0" rIns="0" bIns="0" rtlCol="0" anchor="ctr"/>
          <a:lstStyle/>
          <a:p>
            <a:pPr indent="0" marL="0">
              <a:buNone/>
            </a:pPr>
            <a:r>
              <a:rPr lang="en-US" sz="1200" b="1" dirty="0">
                <a:solidFill>
                  <a:srgbClr val="051D60"/>
                </a:solidFill>
                <a:latin typeface="Consolas" pitchFamily="34" charset="0"/>
                <a:ea typeface="Consolas" pitchFamily="34" charset="-122"/>
                <a:cs typeface="Consolas" pitchFamily="34" charset="-120"/>
              </a:rPr>
              <a:t>validate_skill_checks.py</a:t>
            </a:r>
            <a:endParaRPr lang="en-US" sz="1200" dirty="0"/>
          </a:p>
        </p:txBody>
      </p:sp>
      <p:sp>
        <p:nvSpPr>
          <p:cNvPr id="24" name="Text 21"/>
          <p:cNvSpPr txBox="1"/>
          <p:nvPr/>
        </p:nvSpPr>
        <p:spPr>
          <a:xfrm>
            <a:off x="896112" y="5010912"/>
            <a:ext cx="2834640" cy="219456"/>
          </a:xfrm>
          <a:prstGeom prst="rect">
            <a:avLst/>
          </a:prstGeom>
          <a:noFill/>
          <a:ln/>
        </p:spPr>
        <p:txBody>
          <a:bodyPr wrap="square" lIns="0" tIns="0" rIns="0" bIns="0" rtlCol="0" anchor="ctr"/>
          <a:lstStyle/>
          <a:p>
            <a:pPr indent="0" marL="0">
              <a:buNone/>
            </a:pPr>
            <a:r>
              <a:rPr lang="en-US" sz="950" dirty="0">
                <a:solidFill>
                  <a:srgbClr val="9A9184"/>
                </a:solidFill>
                <a:latin typeface="Calibri" pitchFamily="34" charset="0"/>
                <a:ea typeface="Calibri" pitchFamily="34" charset="-122"/>
                <a:cs typeface="Calibri" pitchFamily="34" charset="-120"/>
              </a:rPr>
              <a:t>the harness</a:t>
            </a:r>
            <a:endParaRPr lang="en-US" sz="950" dirty="0"/>
          </a:p>
        </p:txBody>
      </p:sp>
      <p:sp>
        <p:nvSpPr>
          <p:cNvPr id="25" name="Text 22"/>
          <p:cNvSpPr txBox="1"/>
          <p:nvPr/>
        </p:nvSpPr>
        <p:spPr>
          <a:xfrm>
            <a:off x="3840480" y="4736592"/>
            <a:ext cx="4602175" cy="566928"/>
          </a:xfrm>
          <a:prstGeom prst="rect">
            <a:avLst/>
          </a:prstGeom>
          <a:noFill/>
          <a:ln/>
        </p:spPr>
        <p:txBody>
          <a:bodyPr wrap="square" lIns="0" tIns="0" rIns="0" bIns="0" rtlCol="0" anchor="ctr"/>
          <a:lstStyle/>
          <a:p>
            <a:pPr indent="0" marL="0">
              <a:lnSpc>
                <a:spcPct val="112000"/>
              </a:lnSpc>
              <a:buNone/>
            </a:pPr>
            <a:r>
              <a:rPr lang="en-US" sz="1000" dirty="0">
                <a:solidFill>
                  <a:srgbClr val="5F6476"/>
                </a:solidFill>
                <a:latin typeface="Calibri" pitchFamily="34" charset="0"/>
                <a:ea typeface="Calibri" pitchFamily="34" charset="-122"/>
                <a:cs typeface="Calibri" pitchFamily="34" charset="-120"/>
              </a:rPr>
              <a:t>Runs each skill's own Validation block against its own Template — then against a mutation that breaks a rule the block claims to catch. A check that stays silent fails here.</a:t>
            </a:r>
            <a:endParaRPr lang="en-US" sz="1000" dirty="0"/>
          </a:p>
        </p:txBody>
      </p:sp>
      <p:sp>
        <p:nvSpPr>
          <p:cNvPr id="26" name="Text 23"/>
          <p:cNvSpPr txBox="1"/>
          <p:nvPr/>
        </p:nvSpPr>
        <p:spPr>
          <a:xfrm>
            <a:off x="8534095" y="4846320"/>
            <a:ext cx="2761488" cy="365760"/>
          </a:xfrm>
          <a:prstGeom prst="rect">
            <a:avLst/>
          </a:prstGeom>
          <a:noFill/>
          <a:ln/>
        </p:spPr>
        <p:txBody>
          <a:bodyPr wrap="square" lIns="0" tIns="0" rIns="0" bIns="0" rtlCol="0" anchor="ctr"/>
          <a:lstStyle/>
          <a:p>
            <a:pPr algn="r" indent="0" marL="0">
              <a:buNone/>
            </a:pPr>
            <a:r>
              <a:rPr lang="en-US" sz="1000" b="1" dirty="0">
                <a:solidFill>
                  <a:srgbClr val="051D60"/>
                </a:solidFill>
                <a:latin typeface="Calibri" pitchFamily="34" charset="0"/>
                <a:ea typeface="Calibri" pitchFamily="34" charset="-122"/>
                <a:cs typeface="Calibri" pitchFamily="34" charset="-120"/>
              </a:rPr>
              <a:t>38 harnessed · 1 declared-unharnessable · 0 failing</a:t>
            </a:r>
            <a:endParaRPr lang="en-US" sz="1000" dirty="0"/>
          </a:p>
        </p:txBody>
      </p:sp>
      <p:sp>
        <p:nvSpPr>
          <p:cNvPr id="27" name="Shape 24"/>
          <p:cNvSpPr/>
          <p:nvPr/>
        </p:nvSpPr>
        <p:spPr>
          <a:xfrm>
            <a:off x="640080" y="5486400"/>
            <a:ext cx="5318608" cy="713232"/>
          </a:xfrm>
          <a:prstGeom prst="roundRect">
            <a:avLst>
              <a:gd name="adj" fmla="val 7692"/>
            </a:avLst>
          </a:prstGeom>
          <a:solidFill>
            <a:srgbClr val="051D60"/>
          </a:solidFill>
          <a:ln w="12700">
            <a:solidFill>
              <a:srgbClr val="051D60"/>
            </a:solidFill>
            <a:prstDash val="solid"/>
          </a:ln>
        </p:spPr>
      </p:sp>
      <p:sp>
        <p:nvSpPr>
          <p:cNvPr id="28" name="Text 25"/>
          <p:cNvSpPr txBox="1"/>
          <p:nvPr/>
        </p:nvSpPr>
        <p:spPr>
          <a:xfrm>
            <a:off x="896112" y="5596128"/>
            <a:ext cx="4806544" cy="237744"/>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golden_path.py</a:t>
            </a:r>
            <a:endParaRPr lang="en-US" sz="1150" dirty="0"/>
          </a:p>
        </p:txBody>
      </p:sp>
      <p:sp>
        <p:nvSpPr>
          <p:cNvPr id="29" name="Text 26"/>
          <p:cNvSpPr txBox="1"/>
          <p:nvPr/>
        </p:nvSpPr>
        <p:spPr>
          <a:xfrm>
            <a:off x="896112" y="5833872"/>
            <a:ext cx="4806544" cy="310896"/>
          </a:xfrm>
          <a:prstGeom prst="rect">
            <a:avLst/>
          </a:prstGeom>
          <a:noFill/>
          <a:ln/>
        </p:spPr>
        <p:txBody>
          <a:bodyPr wrap="square" lIns="0" tIns="0" rIns="0" bIns="0" rtlCol="0" anchor="ctr"/>
          <a:lstStyle/>
          <a:p>
            <a:pPr indent="0" marL="0">
              <a:lnSpc>
                <a:spcPct val="108000"/>
              </a:lnSpc>
              <a:buNone/>
            </a:pPr>
            <a:r>
              <a:rPr lang="en-US" sz="950" dirty="0">
                <a:solidFill>
                  <a:srgbClr val="E4DED3"/>
                </a:solidFill>
                <a:latin typeface="Calibri" pitchFamily="34" charset="0"/>
                <a:ea typeface="Calibri" pitchFamily="34" charset="-122"/>
                <a:cs typeface="Calibri" pitchFamily="34" charset="-120"/>
              </a:rPr>
              <a:t>A toy change carried through all nine phases on all four lanes, asserting the artifacts, the gate verdicts and zero orphans.   golden path: OK</a:t>
            </a:r>
            <a:endParaRPr lang="en-US" sz="950" dirty="0"/>
          </a:p>
        </p:txBody>
      </p:sp>
      <p:sp>
        <p:nvSpPr>
          <p:cNvPr id="30" name="Shape 27"/>
          <p:cNvSpPr/>
          <p:nvPr/>
        </p:nvSpPr>
        <p:spPr>
          <a:xfrm>
            <a:off x="6233008" y="5486400"/>
            <a:ext cx="5318608" cy="713232"/>
          </a:xfrm>
          <a:prstGeom prst="roundRect">
            <a:avLst>
              <a:gd name="adj" fmla="val 7692"/>
            </a:avLst>
          </a:prstGeom>
          <a:solidFill>
            <a:srgbClr val="F1E9DA"/>
          </a:solidFill>
          <a:ln w="12700">
            <a:solidFill>
              <a:srgbClr val="F1E9DA"/>
            </a:solidFill>
            <a:prstDash val="solid"/>
          </a:ln>
        </p:spPr>
      </p:sp>
      <p:sp>
        <p:nvSpPr>
          <p:cNvPr id="31" name="Text 28"/>
          <p:cNvSpPr txBox="1"/>
          <p:nvPr/>
        </p:nvSpPr>
        <p:spPr>
          <a:xfrm>
            <a:off x="6489040" y="5596128"/>
            <a:ext cx="4806544" cy="237744"/>
          </a:xfrm>
          <a:prstGeom prst="rect">
            <a:avLst/>
          </a:prstGeom>
          <a:noFill/>
          <a:ln/>
        </p:spPr>
        <p:txBody>
          <a:bodyPr wrap="square" lIns="0" tIns="0" rIns="0" bIns="0" rtlCol="0" anchor="ctr"/>
          <a:lstStyle/>
          <a:p>
            <a:pPr indent="0" marL="0">
              <a:buNone/>
            </a:pPr>
            <a:r>
              <a:rPr lang="en-US" sz="1150" b="1" dirty="0">
                <a:solidFill>
                  <a:srgbClr val="051D60"/>
                </a:solidFill>
                <a:latin typeface="Calibri" pitchFamily="34" charset="0"/>
                <a:ea typeface="Calibri" pitchFamily="34" charset="-122"/>
                <a:cs typeface="Calibri" pitchFamily="34" charset="-120"/>
              </a:rPr>
              <a:t>The test suites</a:t>
            </a:r>
            <a:endParaRPr lang="en-US" sz="1150" dirty="0"/>
          </a:p>
        </p:txBody>
      </p:sp>
      <p:sp>
        <p:nvSpPr>
          <p:cNvPr id="32" name="Text 29"/>
          <p:cNvSpPr txBox="1"/>
          <p:nvPr/>
        </p:nvSpPr>
        <p:spPr>
          <a:xfrm>
            <a:off x="6489040" y="5833872"/>
            <a:ext cx="4806544" cy="310896"/>
          </a:xfrm>
          <a:prstGeom prst="rect">
            <a:avLst/>
          </a:prstGeom>
          <a:noFill/>
          <a:ln/>
        </p:spPr>
        <p:txBody>
          <a:bodyPr wrap="square" lIns="0" tIns="0" rIns="0" bIns="0" rtlCol="0" anchor="ctr"/>
          <a:lstStyle/>
          <a:p>
            <a:pPr indent="0" marL="0">
              <a:lnSpc>
                <a:spcPct val="108000"/>
              </a:lnSpc>
              <a:buNone/>
            </a:pPr>
            <a:r>
              <a:rPr lang="en-US" sz="950" dirty="0">
                <a:solidFill>
                  <a:srgbClr val="5F6476"/>
                </a:solidFill>
                <a:latin typeface="Calibri" pitchFamily="34" charset="0"/>
                <a:ea typeface="Calibri" pitchFamily="34" charset="-122"/>
                <a:cs typeface="Calibri" pitchFamily="34" charset="-120"/>
              </a:rPr>
              <a:t>125 Node tests over the CLI and 99 Python tests over the linters, plus a check that the generated adapters still match their source.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31F"/>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HONESTLY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What v1 does not do yet</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These are real, recorded, and worth knowing before you meet them. A deck that hides its limitations costs the framework its credibility on day one.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15 / 19</a:t>
            </a:r>
            <a:endParaRPr lang="en-US" sz="850" dirty="0"/>
          </a:p>
        </p:txBody>
      </p:sp>
      <p:sp>
        <p:nvSpPr>
          <p:cNvPr id="7" name="Shape 4"/>
          <p:cNvSpPr/>
          <p:nvPr/>
        </p:nvSpPr>
        <p:spPr>
          <a:xfrm>
            <a:off x="640080" y="1883664"/>
            <a:ext cx="10911535" cy="731520"/>
          </a:xfrm>
          <a:prstGeom prst="roundRect">
            <a:avLst>
              <a:gd name="adj" fmla="val 7500"/>
            </a:avLst>
          </a:prstGeom>
          <a:solidFill>
            <a:srgbClr val="151B2B"/>
          </a:solidFill>
          <a:ln w="12700">
            <a:solidFill>
              <a:srgbClr val="252B3F"/>
            </a:solidFill>
            <a:prstDash val="solid"/>
          </a:ln>
        </p:spPr>
      </p:sp>
      <p:sp>
        <p:nvSpPr>
          <p:cNvPr id="8" name="Text 5"/>
          <p:cNvSpPr txBox="1"/>
          <p:nvPr/>
        </p:nvSpPr>
        <p:spPr>
          <a:xfrm>
            <a:off x="914400" y="197510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Only two adapters are built</a:t>
            </a:r>
            <a:endParaRPr lang="en-US" sz="1200" dirty="0"/>
          </a:p>
        </p:txBody>
      </p:sp>
      <p:sp>
        <p:nvSpPr>
          <p:cNvPr id="9" name="Text 6"/>
          <p:cNvSpPr txBox="1"/>
          <p:nvPr/>
        </p:nvSpPr>
        <p:spPr>
          <a:xfrm>
            <a:off x="914400" y="221284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claude-code and generic ship and are exercised. Codex and Cursor have sibling manifests at the repo root and doctor detects both — but no adapter tree is built for either, and neither has been loaded in its harness. LangGraph and CrewAI are named in the design and not built. Use adapters/generic/RUNBOOK.md there today.</a:t>
            </a:r>
            <a:endParaRPr lang="en-US" sz="950" dirty="0"/>
          </a:p>
        </p:txBody>
      </p:sp>
      <p:sp>
        <p:nvSpPr>
          <p:cNvPr id="10" name="Shape 7"/>
          <p:cNvSpPr/>
          <p:nvPr/>
        </p:nvSpPr>
        <p:spPr>
          <a:xfrm>
            <a:off x="640080" y="2706624"/>
            <a:ext cx="10911535" cy="731520"/>
          </a:xfrm>
          <a:prstGeom prst="roundRect">
            <a:avLst>
              <a:gd name="adj" fmla="val 7500"/>
            </a:avLst>
          </a:prstGeom>
          <a:solidFill>
            <a:srgbClr val="151B2B"/>
          </a:solidFill>
          <a:ln w="12700">
            <a:solidFill>
              <a:srgbClr val="252B3F"/>
            </a:solidFill>
            <a:prstDash val="solid"/>
          </a:ln>
        </p:spPr>
      </p:sp>
      <p:sp>
        <p:nvSpPr>
          <p:cNvPr id="11" name="Text 8"/>
          <p:cNvSpPr txBox="1"/>
          <p:nvPr/>
        </p:nvSpPr>
        <p:spPr>
          <a:xfrm>
            <a:off x="914400" y="279806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gate --evidence validates the shape of evidence, not its content</a:t>
            </a:r>
            <a:endParaRPr lang="en-US" sz="1200" dirty="0"/>
          </a:p>
        </p:txBody>
      </p:sp>
      <p:sp>
        <p:nvSpPr>
          <p:cNvPr id="12" name="Text 9"/>
          <p:cNvSpPr txBox="1"/>
          <p:nvPr/>
        </p:nvSpPr>
        <p:spPr>
          <a:xfrm>
            <a:off x="914400" y="303580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Evidence must be a regular, non-empty file — a directory, a device and a zero-byte file are each refused with their own message. But a file containing a single space passes. The gate records that evidence was named and that something is there to open; only a human establishes that it says anything.</a:t>
            </a:r>
            <a:endParaRPr lang="en-US" sz="950" dirty="0"/>
          </a:p>
        </p:txBody>
      </p:sp>
      <p:sp>
        <p:nvSpPr>
          <p:cNvPr id="13" name="Shape 10"/>
          <p:cNvSpPr/>
          <p:nvPr/>
        </p:nvSpPr>
        <p:spPr>
          <a:xfrm>
            <a:off x="640080" y="3529584"/>
            <a:ext cx="10911535" cy="731520"/>
          </a:xfrm>
          <a:prstGeom prst="roundRect">
            <a:avLst>
              <a:gd name="adj" fmla="val 7500"/>
            </a:avLst>
          </a:prstGeom>
          <a:solidFill>
            <a:srgbClr val="151B2B"/>
          </a:solidFill>
          <a:ln w="12700">
            <a:solidFill>
              <a:srgbClr val="252B3F"/>
            </a:solidFill>
            <a:prstDash val="solid"/>
          </a:ln>
        </p:spPr>
      </p:sp>
      <p:sp>
        <p:nvSpPr>
          <p:cNvPr id="14" name="Text 11"/>
          <p:cNvSpPr txBox="1"/>
          <p:nvPr/>
        </p:nvSpPr>
        <p:spPr>
          <a:xfrm>
            <a:off x="914400" y="362102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Gate actors are derived, not authenticated</a:t>
            </a:r>
            <a:endParaRPr lang="en-US" sz="1200" dirty="0"/>
          </a:p>
        </p:txBody>
      </p:sp>
      <p:sp>
        <p:nvSpPr>
          <p:cNvPr id="15" name="Text 12"/>
          <p:cNvSpPr txBox="1"/>
          <p:nvPr/>
        </p:nvSpPr>
        <p:spPr>
          <a:xfrm>
            <a:off x="914400" y="385876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Every gate event does carry actor and actor_source, resolved from --actor, $NAVI_DELIVERY_ACTOR, git config user.email or the OS login, in that order — and a decision with no resolvable actor is refused outright. But that is attribution, not authentication: nothing stops someone passing a name that is not theirs. actor_source is what lets a reader weigh it.</a:t>
            </a:r>
            <a:endParaRPr lang="en-US" sz="950" dirty="0"/>
          </a:p>
        </p:txBody>
      </p:sp>
      <p:sp>
        <p:nvSpPr>
          <p:cNvPr id="16" name="Shape 13"/>
          <p:cNvSpPr/>
          <p:nvPr/>
        </p:nvSpPr>
        <p:spPr>
          <a:xfrm>
            <a:off x="640080" y="4352544"/>
            <a:ext cx="10911535" cy="731520"/>
          </a:xfrm>
          <a:prstGeom prst="roundRect">
            <a:avLst>
              <a:gd name="adj" fmla="val 7500"/>
            </a:avLst>
          </a:prstGeom>
          <a:solidFill>
            <a:srgbClr val="151B2B"/>
          </a:solidFill>
          <a:ln w="12700">
            <a:solidFill>
              <a:srgbClr val="252B3F"/>
            </a:solidFill>
            <a:prstDash val="solid"/>
          </a:ln>
        </p:spPr>
      </p:sp>
      <p:sp>
        <p:nvSpPr>
          <p:cNvPr id="17" name="Text 14"/>
          <p:cNvSpPr txBox="1"/>
          <p:nvPr/>
        </p:nvSpPr>
        <p:spPr>
          <a:xfrm>
            <a:off x="914400" y="444398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G4 is enforced only on the full lane</a:t>
            </a:r>
            <a:endParaRPr lang="en-US" sz="1200" dirty="0"/>
          </a:p>
        </p:txBody>
      </p:sp>
      <p:sp>
        <p:nvSpPr>
          <p:cNvPr id="18" name="Text 15"/>
          <p:cNvSpPr txBox="1"/>
          <p:nvPr/>
        </p:nvSpPr>
        <p:spPr>
          <a:xfrm>
            <a:off x="914400" y="468172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cli/lib/lanes.js implements standard as a fixed set without G4, and gate refuses anything outside the set — so a standard change that turns out to touch data cannot record G4 at all. Until that is reconciled, lane selection routes anything touching a dataset, schema, feature or model to full at proposal time.</a:t>
            </a:r>
            <a:endParaRPr lang="en-US" sz="950" dirty="0"/>
          </a:p>
        </p:txBody>
      </p:sp>
      <p:sp>
        <p:nvSpPr>
          <p:cNvPr id="19" name="Shape 16"/>
          <p:cNvSpPr/>
          <p:nvPr/>
        </p:nvSpPr>
        <p:spPr>
          <a:xfrm>
            <a:off x="640080" y="5175504"/>
            <a:ext cx="10911535" cy="731520"/>
          </a:xfrm>
          <a:prstGeom prst="roundRect">
            <a:avLst>
              <a:gd name="adj" fmla="val 7500"/>
            </a:avLst>
          </a:prstGeom>
          <a:solidFill>
            <a:srgbClr val="151B2B"/>
          </a:solidFill>
          <a:ln w="12700">
            <a:solidFill>
              <a:srgbClr val="252B3F"/>
            </a:solidFill>
            <a:prstDash val="solid"/>
          </a:ln>
        </p:spPr>
      </p:sp>
      <p:sp>
        <p:nvSpPr>
          <p:cNvPr id="20" name="Text 17"/>
          <p:cNvSpPr txBox="1"/>
          <p:nvPr/>
        </p:nvSpPr>
        <p:spPr>
          <a:xfrm>
            <a:off x="914400" y="5266944"/>
            <a:ext cx="10362895" cy="237744"/>
          </a:xfrm>
          <a:prstGeom prst="rect">
            <a:avLst/>
          </a:prstGeom>
          <a:noFill/>
          <a:ln/>
        </p:spPr>
        <p:txBody>
          <a:bodyPr wrap="square" lIns="0" tIns="0" rIns="0" bIns="0" rtlCol="0" anchor="ctr"/>
          <a:lstStyle/>
          <a:p>
            <a:pPr indent="0" marL="0">
              <a:buNone/>
            </a:pPr>
            <a:r>
              <a:rPr lang="en-US" sz="1200" b="1" dirty="0">
                <a:solidFill>
                  <a:srgbClr val="E08A72"/>
                </a:solidFill>
                <a:latin typeface="Mulish" pitchFamily="34" charset="0"/>
                <a:ea typeface="Mulish" pitchFamily="34" charset="-122"/>
                <a:cs typeface="Mulish" pitchFamily="34" charset="-120"/>
              </a:rPr>
              <a:t>Two more, for completeness</a:t>
            </a:r>
            <a:endParaRPr lang="en-US" sz="1200" dirty="0"/>
          </a:p>
        </p:txBody>
      </p:sp>
      <p:sp>
        <p:nvSpPr>
          <p:cNvPr id="21" name="Text 18"/>
          <p:cNvSpPr txBox="1"/>
          <p:nvPr/>
        </p:nvSpPr>
        <p:spPr>
          <a:xfrm>
            <a:off x="914400" y="5504688"/>
            <a:ext cx="10362895" cy="365760"/>
          </a:xfrm>
          <a:prstGeom prst="rect">
            <a:avLst/>
          </a:prstGeom>
          <a:noFill/>
          <a:ln/>
        </p:spPr>
        <p:txBody>
          <a:bodyPr wrap="square" lIns="0" tIns="0" rIns="0" bIns="0" rtlCol="0" anchor="ctr"/>
          <a:lstStyle/>
          <a:p>
            <a:pPr indent="0" marL="0">
              <a:lnSpc>
                <a:spcPct val="105000"/>
              </a:lnSpc>
              <a:buNone/>
            </a:pPr>
            <a:r>
              <a:rPr lang="en-US" sz="950" dirty="0">
                <a:solidFill>
                  <a:srgbClr val="E4DED3"/>
                </a:solidFill>
                <a:latin typeface="Calibri" pitchFamily="34" charset="0"/>
                <a:ea typeface="Calibri" pitchFamily="34" charset="-122"/>
                <a:cs typeface="Calibri" pitchFamily="34" charset="-120"/>
              </a:rPr>
              <a:t>A waiver attaches to the whole gate, so one unfixable finding waives every criterion that gate checks. And navi-skill-code-review is declared unharnessable: its substantive checks read a live authenticated pull request, which neither a fixture nor CI can supply.</a:t>
            </a:r>
            <a:endParaRPr lang="en-US" sz="950" dirty="0"/>
          </a:p>
        </p:txBody>
      </p:sp>
      <p:sp>
        <p:nvSpPr>
          <p:cNvPr id="22" name="Text 19"/>
          <p:cNvSpPr txBox="1"/>
          <p:nvPr/>
        </p:nvSpPr>
        <p:spPr>
          <a:xfrm>
            <a:off x="640080" y="6016752"/>
            <a:ext cx="10911535" cy="274320"/>
          </a:xfrm>
          <a:prstGeom prst="rect">
            <a:avLst/>
          </a:prstGeom>
          <a:noFill/>
          <a:ln/>
        </p:spPr>
        <p:txBody>
          <a:bodyPr wrap="square" lIns="0" tIns="0" rIns="0" bIns="0" rtlCol="0" anchor="ctr"/>
          <a:lstStyle/>
          <a:p>
            <a:pPr indent="0" marL="0">
              <a:buNone/>
            </a:pPr>
            <a:r>
              <a:rPr lang="en-US" sz="1000" i="1" dirty="0">
                <a:solidFill>
                  <a:srgbClr val="8E93AD"/>
                </a:solidFill>
                <a:latin typeface="Calibri" pitchFamily="34" charset="0"/>
                <a:ea typeface="Calibri" pitchFamily="34" charset="-122"/>
                <a:cs typeface="Calibri" pitchFamily="34" charset="-120"/>
              </a:rPr>
              <a:t>Also worth knowing: validate always lints the whole installed framework tree, not only your repo — so its output mentions 50 framework files whichever repo you run it in.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ADOPTING IT</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Five minutes to a first proposal</a:t>
            </a:r>
            <a:endParaRPr lang="en-US" sz="3100" dirty="0"/>
          </a:p>
        </p:txBody>
      </p:sp>
      <p:sp>
        <p:nvSpPr>
          <p:cNvPr id="4" name="Text 2"/>
          <p:cNvSpPr txBox="1"/>
          <p:nvPr/>
        </p:nvSpPr>
        <p:spPr>
          <a:xfrm>
            <a:off x="640080" y="1280160"/>
            <a:ext cx="10911535"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Prerequisites: Node 20 or later, and Python 3. Nothing else.</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16 / 19</a:t>
            </a:r>
            <a:endParaRPr lang="en-US" sz="850" dirty="0"/>
          </a:p>
        </p:txBody>
      </p:sp>
      <p:sp>
        <p:nvSpPr>
          <p:cNvPr id="7" name="Shape 4"/>
          <p:cNvSpPr/>
          <p:nvPr/>
        </p:nvSpPr>
        <p:spPr>
          <a:xfrm>
            <a:off x="640080" y="1828800"/>
            <a:ext cx="10911535" cy="786384"/>
          </a:xfrm>
          <a:prstGeom prst="roundRect">
            <a:avLst>
              <a:gd name="adj" fmla="val 6977"/>
            </a:avLst>
          </a:prstGeom>
          <a:solidFill>
            <a:srgbClr val="FFFFFF"/>
          </a:solidFill>
          <a:ln w="12700">
            <a:solidFill>
              <a:srgbClr val="CFC7B8"/>
            </a:solidFill>
            <a:prstDash val="solid"/>
          </a:ln>
        </p:spPr>
      </p:sp>
      <p:sp>
        <p:nvSpPr>
          <p:cNvPr id="8" name="Text 5"/>
          <p:cNvSpPr txBox="1"/>
          <p:nvPr/>
        </p:nvSpPr>
        <p:spPr>
          <a:xfrm>
            <a:off x="896112" y="2011680"/>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1</a:t>
            </a:r>
            <a:endParaRPr lang="en-US" sz="2400" dirty="0"/>
          </a:p>
        </p:txBody>
      </p:sp>
      <p:sp>
        <p:nvSpPr>
          <p:cNvPr id="9" name="Text 6"/>
          <p:cNvSpPr txBox="1"/>
          <p:nvPr/>
        </p:nvSpPr>
        <p:spPr>
          <a:xfrm>
            <a:off x="1426464" y="1947672"/>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Add the marketplace</a:t>
            </a:r>
            <a:endParaRPr lang="en-US" sz="1200" dirty="0"/>
          </a:p>
        </p:txBody>
      </p:sp>
      <p:sp>
        <p:nvSpPr>
          <p:cNvPr id="10" name="Text 7"/>
          <p:cNvSpPr txBox="1"/>
          <p:nvPr/>
        </p:nvSpPr>
        <p:spPr>
          <a:xfrm>
            <a:off x="1426464" y="2231136"/>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/plugin marketplace add navikenz/navi-delivery</a:t>
            </a:r>
            <a:endParaRPr lang="en-US" sz="1050" dirty="0"/>
          </a:p>
        </p:txBody>
      </p:sp>
      <p:sp>
        <p:nvSpPr>
          <p:cNvPr id="11" name="Text 8"/>
          <p:cNvSpPr txBox="1"/>
          <p:nvPr/>
        </p:nvSpPr>
        <p:spPr>
          <a:xfrm>
            <a:off x="7132320" y="2084832"/>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the preferred way in — 50 skills and 11 agents, with no clone</a:t>
            </a:r>
            <a:endParaRPr lang="en-US" sz="900" dirty="0"/>
          </a:p>
        </p:txBody>
      </p:sp>
      <p:sp>
        <p:nvSpPr>
          <p:cNvPr id="12" name="Shape 9"/>
          <p:cNvSpPr/>
          <p:nvPr/>
        </p:nvSpPr>
        <p:spPr>
          <a:xfrm>
            <a:off x="640080" y="2734056"/>
            <a:ext cx="10911535" cy="786384"/>
          </a:xfrm>
          <a:prstGeom prst="roundRect">
            <a:avLst>
              <a:gd name="adj" fmla="val 6977"/>
            </a:avLst>
          </a:prstGeom>
          <a:solidFill>
            <a:srgbClr val="FFFFFF"/>
          </a:solidFill>
          <a:ln w="12700">
            <a:solidFill>
              <a:srgbClr val="CFC7B8"/>
            </a:solidFill>
            <a:prstDash val="solid"/>
          </a:ln>
        </p:spPr>
      </p:sp>
      <p:sp>
        <p:nvSpPr>
          <p:cNvPr id="13" name="Text 10"/>
          <p:cNvSpPr txBox="1"/>
          <p:nvPr/>
        </p:nvSpPr>
        <p:spPr>
          <a:xfrm>
            <a:off x="896112" y="2916936"/>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2</a:t>
            </a:r>
            <a:endParaRPr lang="en-US" sz="2400" dirty="0"/>
          </a:p>
        </p:txBody>
      </p:sp>
      <p:sp>
        <p:nvSpPr>
          <p:cNvPr id="14" name="Text 11"/>
          <p:cNvSpPr txBox="1"/>
          <p:nvPr/>
        </p:nvSpPr>
        <p:spPr>
          <a:xfrm>
            <a:off x="1426464" y="2852928"/>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Install the plugin</a:t>
            </a:r>
            <a:endParaRPr lang="en-US" sz="1200" dirty="0"/>
          </a:p>
        </p:txBody>
      </p:sp>
      <p:sp>
        <p:nvSpPr>
          <p:cNvPr id="15" name="Text 12"/>
          <p:cNvSpPr txBox="1"/>
          <p:nvPr/>
        </p:nvSpPr>
        <p:spPr>
          <a:xfrm>
            <a:off x="1426464" y="3136392"/>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/plugin install navi-delivery@navi-delivery</a:t>
            </a:r>
            <a:endParaRPr lang="en-US" sz="1050" dirty="0"/>
          </a:p>
        </p:txBody>
      </p:sp>
      <p:sp>
        <p:nvSpPr>
          <p:cNvPr id="16" name="Text 13"/>
          <p:cNvSpPr txBox="1"/>
          <p:nvPr/>
        </p:nvSpPr>
        <p:spPr>
          <a:xfrm>
            <a:off x="7132320" y="2990088"/>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./install.sh --yes does the same job from a clone</a:t>
            </a:r>
            <a:endParaRPr lang="en-US" sz="900" dirty="0"/>
          </a:p>
        </p:txBody>
      </p:sp>
      <p:sp>
        <p:nvSpPr>
          <p:cNvPr id="17" name="Shape 14"/>
          <p:cNvSpPr/>
          <p:nvPr/>
        </p:nvSpPr>
        <p:spPr>
          <a:xfrm>
            <a:off x="640080" y="3639312"/>
            <a:ext cx="10911535" cy="786384"/>
          </a:xfrm>
          <a:prstGeom prst="roundRect">
            <a:avLst>
              <a:gd name="adj" fmla="val 6977"/>
            </a:avLst>
          </a:prstGeom>
          <a:solidFill>
            <a:srgbClr val="FFFFFF"/>
          </a:solidFill>
          <a:ln w="12700">
            <a:solidFill>
              <a:srgbClr val="CFC7B8"/>
            </a:solidFill>
            <a:prstDash val="solid"/>
          </a:ln>
        </p:spPr>
      </p:sp>
      <p:sp>
        <p:nvSpPr>
          <p:cNvPr id="18" name="Text 15"/>
          <p:cNvSpPr txBox="1"/>
          <p:nvPr/>
        </p:nvSpPr>
        <p:spPr>
          <a:xfrm>
            <a:off x="896112" y="3822192"/>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3</a:t>
            </a:r>
            <a:endParaRPr lang="en-US" sz="2400" dirty="0"/>
          </a:p>
        </p:txBody>
      </p:sp>
      <p:sp>
        <p:nvSpPr>
          <p:cNvPr id="19" name="Text 16"/>
          <p:cNvSpPr txBox="1"/>
          <p:nvPr/>
        </p:nvSpPr>
        <p:spPr>
          <a:xfrm>
            <a:off x="1426464" y="3758184"/>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Scaffold into the repo you work in</a:t>
            </a:r>
            <a:endParaRPr lang="en-US" sz="1200" dirty="0"/>
          </a:p>
        </p:txBody>
      </p:sp>
      <p:sp>
        <p:nvSpPr>
          <p:cNvPr id="20" name="Text 17"/>
          <p:cNvSpPr txBox="1"/>
          <p:nvPr/>
        </p:nvSpPr>
        <p:spPr>
          <a:xfrm>
            <a:off x="1426464" y="4041648"/>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navi-delivery init</a:t>
            </a:r>
            <a:endParaRPr lang="en-US" sz="1050" dirty="0"/>
          </a:p>
        </p:txBody>
      </p:sp>
      <p:sp>
        <p:nvSpPr>
          <p:cNvPr id="21" name="Text 18"/>
          <p:cNvSpPr txBox="1"/>
          <p:nvPr/>
        </p:nvSpPr>
        <p:spPr>
          <a:xfrm>
            <a:off x="7132320" y="3895344"/>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Initialised delivery/ (harness: claude-code)</a:t>
            </a:r>
            <a:endParaRPr lang="en-US" sz="900" dirty="0"/>
          </a:p>
        </p:txBody>
      </p:sp>
      <p:sp>
        <p:nvSpPr>
          <p:cNvPr id="22" name="Shape 19"/>
          <p:cNvSpPr/>
          <p:nvPr/>
        </p:nvSpPr>
        <p:spPr>
          <a:xfrm>
            <a:off x="640080" y="4544568"/>
            <a:ext cx="10911535" cy="786384"/>
          </a:xfrm>
          <a:prstGeom prst="roundRect">
            <a:avLst>
              <a:gd name="adj" fmla="val 6977"/>
            </a:avLst>
          </a:prstGeom>
          <a:solidFill>
            <a:srgbClr val="FFFFFF"/>
          </a:solidFill>
          <a:ln w="12700">
            <a:solidFill>
              <a:srgbClr val="CFC7B8"/>
            </a:solidFill>
            <a:prstDash val="solid"/>
          </a:ln>
        </p:spPr>
      </p:sp>
      <p:sp>
        <p:nvSpPr>
          <p:cNvPr id="23" name="Text 20"/>
          <p:cNvSpPr txBox="1"/>
          <p:nvPr/>
        </p:nvSpPr>
        <p:spPr>
          <a:xfrm>
            <a:off x="896112" y="4727448"/>
            <a:ext cx="365760" cy="438912"/>
          </a:xfrm>
          <a:prstGeom prst="rect">
            <a:avLst/>
          </a:prstGeom>
          <a:noFill/>
          <a:ln/>
        </p:spPr>
        <p:txBody>
          <a:bodyPr wrap="square" lIns="0" tIns="0" rIns="0" bIns="0" rtlCol="0" anchor="ctr"/>
          <a:lstStyle/>
          <a:p>
            <a:pPr indent="0" marL="0">
              <a:buNone/>
            </a:pPr>
            <a:r>
              <a:rPr lang="en-US" sz="2400" b="1" dirty="0">
                <a:solidFill>
                  <a:srgbClr val="B9AE98"/>
                </a:solidFill>
                <a:latin typeface="Mulish" pitchFamily="34" charset="0"/>
                <a:ea typeface="Mulish" pitchFamily="34" charset="-122"/>
                <a:cs typeface="Mulish" pitchFamily="34" charset="-120"/>
              </a:rPr>
              <a:t>4</a:t>
            </a:r>
            <a:endParaRPr lang="en-US" sz="2400" dirty="0"/>
          </a:p>
        </p:txBody>
      </p:sp>
      <p:sp>
        <p:nvSpPr>
          <p:cNvPr id="24" name="Text 21"/>
          <p:cNvSpPr txBox="1"/>
          <p:nvPr/>
        </p:nvSpPr>
        <p:spPr>
          <a:xfrm>
            <a:off x="1426464" y="4663440"/>
            <a:ext cx="3200400" cy="256032"/>
          </a:xfrm>
          <a:prstGeom prst="rect">
            <a:avLst/>
          </a:prstGeom>
          <a:noFill/>
          <a:ln/>
        </p:spPr>
        <p:txBody>
          <a:bodyPr wrap="square" lIns="0" tIns="0" rIns="0" bIns="0" rtlCol="0" anchor="ctr"/>
          <a:lstStyle/>
          <a:p>
            <a:pPr indent="0" marL="0">
              <a:buNone/>
            </a:pPr>
            <a:r>
              <a:rPr lang="en-US" sz="1200" b="1" dirty="0">
                <a:solidFill>
                  <a:srgbClr val="051D60"/>
                </a:solidFill>
                <a:latin typeface="Mulish" pitchFamily="34" charset="0"/>
                <a:ea typeface="Mulish" pitchFamily="34" charset="-122"/>
                <a:cs typeface="Mulish" pitchFamily="34" charset="-120"/>
              </a:rPr>
              <a:t>Open your first change</a:t>
            </a:r>
            <a:endParaRPr lang="en-US" sz="1200" dirty="0"/>
          </a:p>
        </p:txBody>
      </p:sp>
      <p:sp>
        <p:nvSpPr>
          <p:cNvPr id="25" name="Text 22"/>
          <p:cNvSpPr txBox="1"/>
          <p:nvPr/>
        </p:nvSpPr>
        <p:spPr>
          <a:xfrm>
            <a:off x="1426464" y="4946904"/>
            <a:ext cx="5486400" cy="256032"/>
          </a:xfrm>
          <a:prstGeom prst="rect">
            <a:avLst/>
          </a:prstGeom>
          <a:noFill/>
          <a:ln/>
        </p:spPr>
        <p:txBody>
          <a:bodyPr wrap="square" lIns="0" tIns="0" rIns="0" bIns="0" rtlCol="0" anchor="ctr"/>
          <a:lstStyle/>
          <a:p>
            <a:pPr indent="0" marL="0">
              <a:buNone/>
            </a:pPr>
            <a:r>
              <a:rPr lang="en-US" sz="1050" dirty="0">
                <a:solidFill>
                  <a:srgbClr val="192954"/>
                </a:solidFill>
                <a:latin typeface="Consolas" pitchFamily="34" charset="0"/>
                <a:ea typeface="Consolas" pitchFamily="34" charset="-122"/>
                <a:cs typeface="Consolas" pitchFamily="34" charset="-120"/>
              </a:rPr>
              <a:t>navi-delivery propose add-csv-export --lane standard</a:t>
            </a:r>
            <a:endParaRPr lang="en-US" sz="1050" dirty="0"/>
          </a:p>
        </p:txBody>
      </p:sp>
      <p:sp>
        <p:nvSpPr>
          <p:cNvPr id="26" name="Text 23"/>
          <p:cNvSpPr txBox="1"/>
          <p:nvPr/>
        </p:nvSpPr>
        <p:spPr>
          <a:xfrm>
            <a:off x="7132320" y="4800600"/>
            <a:ext cx="4144975" cy="402336"/>
          </a:xfrm>
          <a:prstGeom prst="rect">
            <a:avLst/>
          </a:prstGeom>
          <a:noFill/>
          <a:ln/>
        </p:spPr>
        <p:txBody>
          <a:bodyPr wrap="square" lIns="0" tIns="0" rIns="0" bIns="0" rtlCol="0" anchor="ctr"/>
          <a:lstStyle/>
          <a:p>
            <a:pPr indent="0" marL="0">
              <a:lnSpc>
                <a:spcPct val="108000"/>
              </a:lnSpc>
              <a:buNone/>
            </a:pPr>
            <a:r>
              <a:rPr lang="en-US" sz="900" i="1" dirty="0">
                <a:solidFill>
                  <a:srgbClr val="5F6476"/>
                </a:solidFill>
                <a:latin typeface="Calibri" pitchFamily="34" charset="0"/>
                <a:ea typeface="Calibri" pitchFamily="34" charset="-122"/>
                <a:cs typeface="Calibri" pitchFamily="34" charset="-120"/>
              </a:rPr>
              <a:t>→ Created delivery/changes/add-csv-export (lane: standard; gates: G1 · G2 · G3 · G5 · G6 · G7 · G8)</a:t>
            </a:r>
            <a:endParaRPr lang="en-US" sz="900" dirty="0"/>
          </a:p>
        </p:txBody>
      </p:sp>
      <p:sp>
        <p:nvSpPr>
          <p:cNvPr id="27" name="Shape 24"/>
          <p:cNvSpPr/>
          <p:nvPr/>
        </p:nvSpPr>
        <p:spPr>
          <a:xfrm>
            <a:off x="640080" y="5504688"/>
            <a:ext cx="10911535" cy="676656"/>
          </a:xfrm>
          <a:prstGeom prst="roundRect">
            <a:avLst>
              <a:gd name="adj" fmla="val 8108"/>
            </a:avLst>
          </a:prstGeom>
          <a:solidFill>
            <a:srgbClr val="051D60"/>
          </a:solidFill>
          <a:ln w="12700">
            <a:solidFill>
              <a:srgbClr val="051D60"/>
            </a:solidFill>
            <a:prstDash val="solid"/>
          </a:ln>
        </p:spPr>
      </p:sp>
      <p:sp>
        <p:nvSpPr>
          <p:cNvPr id="28" name="Text 25"/>
          <p:cNvSpPr txBox="1"/>
          <p:nvPr/>
        </p:nvSpPr>
        <p:spPr>
          <a:xfrm>
            <a:off x="914400" y="5614416"/>
            <a:ext cx="10362895" cy="475488"/>
          </a:xfrm>
          <a:prstGeom prst="rect">
            <a:avLst/>
          </a:prstGeom>
          <a:noFill/>
          <a:ln/>
        </p:spPr>
        <p:txBody>
          <a:bodyPr wrap="square" lIns="0" tIns="0" rIns="0" bIns="0" rtlCol="0" anchor="ctr"/>
          <a:lstStyle/>
          <a:p>
            <a:pPr indent="0" marL="0">
              <a:lnSpc>
                <a:spcPct val="110000"/>
              </a:lnSpc>
              <a:buNone/>
            </a:pPr>
            <a:r>
              <a:rPr lang="en-US" sz="1000" dirty="0">
                <a:solidFill>
                  <a:srgbClr val="E4DED3"/>
                </a:solidFill>
                <a:latin typeface="Calibri" pitchFamily="34" charset="0"/>
                <a:ea typeface="Calibri" pitchFamily="34" charset="-122"/>
                <a:cs typeface="Calibri" pitchFamily="34" charset="-120"/>
              </a:rPr>
              <a:t>Install adapters/claude-code/ — that is what install.sh installs, and it is a complete plugin on its own. The repo root also carries a manifest, but its skills nest one level deeper and whether a harness loads that layout is unverified. Read next: docs/WALKTHROUGH.md, which carries this exact change all the way through.</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3E7"/>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5F6476"/>
                </a:solidFill>
                <a:latin typeface="Calibri" pitchFamily="34" charset="0"/>
                <a:ea typeface="Calibri" pitchFamily="34" charset="-122"/>
                <a:cs typeface="Calibri" pitchFamily="34" charset="-120"/>
              </a:rPr>
              <a:t>OUTSIDE THE REPOSITORY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051D60"/>
                </a:solidFill>
                <a:latin typeface="Mulish" pitchFamily="34" charset="0"/>
                <a:ea typeface="Mulish" pitchFamily="34" charset="-122"/>
                <a:cs typeface="Mulish" pitchFamily="34" charset="-120"/>
              </a:rPr>
              <a:t>Connecting to the tracker, without a token in the shell</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5F6476"/>
                </a:solidFill>
                <a:latin typeface="Calibri" pitchFamily="34" charset="0"/>
                <a:ea typeface="Calibri" pitchFamily="34" charset="-122"/>
                <a:cs typeface="Calibri" pitchFamily="34" charset="-120"/>
              </a:rPr>
              <a:t>Two skills reach past the repo. Both prefer an MCP server, because the server holds the credential.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8D8578"/>
                </a:solidFill>
                <a:latin typeface="Calibri" pitchFamily="34" charset="0"/>
                <a:ea typeface="Calibri" pitchFamily="34" charset="-122"/>
                <a:cs typeface="Calibri" pitchFamily="34" charset="-120"/>
              </a:rPr>
              <a:t>navi-delivery  ·  v0.1.0  ·  17 / 19</a:t>
            </a:r>
            <a:endParaRPr lang="en-US" sz="850" dirty="0"/>
          </a:p>
        </p:txBody>
      </p:sp>
      <p:sp>
        <p:nvSpPr>
          <p:cNvPr id="7" name="Text 4"/>
          <p:cNvSpPr txBox="1"/>
          <p:nvPr/>
        </p:nvSpPr>
        <p:spPr>
          <a:xfrm>
            <a:off x="640080" y="1847088"/>
            <a:ext cx="6355080"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config/mcp/ — five connection files, ready to install</a:t>
            </a:r>
            <a:endParaRPr lang="en-US" sz="1300" dirty="0"/>
          </a:p>
        </p:txBody>
      </p:sp>
      <p:sp>
        <p:nvSpPr>
          <p:cNvPr id="8" name="Shape 5"/>
          <p:cNvSpPr/>
          <p:nvPr/>
        </p:nvSpPr>
        <p:spPr>
          <a:xfrm>
            <a:off x="640080" y="2212848"/>
            <a:ext cx="6355080" cy="438912"/>
          </a:xfrm>
          <a:prstGeom prst="roundRect">
            <a:avLst>
              <a:gd name="adj" fmla="val 12500"/>
            </a:avLst>
          </a:prstGeom>
          <a:solidFill>
            <a:srgbClr val="FFFFFF"/>
          </a:solidFill>
          <a:ln w="12700">
            <a:solidFill>
              <a:srgbClr val="CFC7B8"/>
            </a:solidFill>
            <a:prstDash val="solid"/>
          </a:ln>
        </p:spPr>
      </p:sp>
      <p:sp>
        <p:nvSpPr>
          <p:cNvPr id="9" name="Text 6"/>
          <p:cNvSpPr txBox="1"/>
          <p:nvPr/>
        </p:nvSpPr>
        <p:spPr>
          <a:xfrm>
            <a:off x="859536" y="2331720"/>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Atlassian</a:t>
            </a:r>
            <a:endParaRPr lang="en-US" sz="1100" dirty="0"/>
          </a:p>
        </p:txBody>
      </p:sp>
      <p:sp>
        <p:nvSpPr>
          <p:cNvPr id="10" name="Text 7"/>
          <p:cNvSpPr txBox="1"/>
          <p:nvPr/>
        </p:nvSpPr>
        <p:spPr>
          <a:xfrm>
            <a:off x="2377440" y="2340864"/>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hosted, OAuth as you</a:t>
            </a:r>
            <a:endParaRPr lang="en-US" sz="950" dirty="0"/>
          </a:p>
        </p:txBody>
      </p:sp>
      <p:sp>
        <p:nvSpPr>
          <p:cNvPr id="11" name="Text 8"/>
          <p:cNvSpPr txBox="1"/>
          <p:nvPr/>
        </p:nvSpPr>
        <p:spPr>
          <a:xfrm>
            <a:off x="4041648" y="2340864"/>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mcp.atlassian.com/v2/mcp</a:t>
            </a:r>
            <a:endParaRPr lang="en-US" sz="950" dirty="0"/>
          </a:p>
        </p:txBody>
      </p:sp>
      <p:sp>
        <p:nvSpPr>
          <p:cNvPr id="12" name="Shape 9"/>
          <p:cNvSpPr/>
          <p:nvPr/>
        </p:nvSpPr>
        <p:spPr>
          <a:xfrm>
            <a:off x="640080" y="2724912"/>
            <a:ext cx="6355080" cy="438912"/>
          </a:xfrm>
          <a:prstGeom prst="roundRect">
            <a:avLst>
              <a:gd name="adj" fmla="val 12500"/>
            </a:avLst>
          </a:prstGeom>
          <a:solidFill>
            <a:srgbClr val="F1E9DA"/>
          </a:solidFill>
          <a:ln w="12700">
            <a:solidFill>
              <a:srgbClr val="CFC7B8"/>
            </a:solidFill>
            <a:prstDash val="solid"/>
          </a:ln>
        </p:spPr>
      </p:sp>
      <p:sp>
        <p:nvSpPr>
          <p:cNvPr id="13" name="Text 10"/>
          <p:cNvSpPr txBox="1"/>
          <p:nvPr/>
        </p:nvSpPr>
        <p:spPr>
          <a:xfrm>
            <a:off x="859536" y="2843784"/>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Atlassian</a:t>
            </a:r>
            <a:endParaRPr lang="en-US" sz="1100" dirty="0"/>
          </a:p>
        </p:txBody>
      </p:sp>
      <p:sp>
        <p:nvSpPr>
          <p:cNvPr id="14" name="Text 11"/>
          <p:cNvSpPr txBox="1"/>
          <p:nvPr/>
        </p:nvSpPr>
        <p:spPr>
          <a:xfrm>
            <a:off x="2377440" y="2852928"/>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API token</a:t>
            </a:r>
            <a:endParaRPr lang="en-US" sz="950" dirty="0"/>
          </a:p>
        </p:txBody>
      </p:sp>
      <p:sp>
        <p:nvSpPr>
          <p:cNvPr id="15" name="Text 12"/>
          <p:cNvSpPr txBox="1"/>
          <p:nvPr/>
        </p:nvSpPr>
        <p:spPr>
          <a:xfrm>
            <a:off x="4041648" y="2852928"/>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uvx mcp-atlassian</a:t>
            </a:r>
            <a:endParaRPr lang="en-US" sz="950" dirty="0"/>
          </a:p>
        </p:txBody>
      </p:sp>
      <p:sp>
        <p:nvSpPr>
          <p:cNvPr id="16" name="Shape 13"/>
          <p:cNvSpPr/>
          <p:nvPr/>
        </p:nvSpPr>
        <p:spPr>
          <a:xfrm>
            <a:off x="640080" y="3236976"/>
            <a:ext cx="6355080" cy="438912"/>
          </a:xfrm>
          <a:prstGeom prst="roundRect">
            <a:avLst>
              <a:gd name="adj" fmla="val 12500"/>
            </a:avLst>
          </a:prstGeom>
          <a:solidFill>
            <a:srgbClr val="FFFFFF"/>
          </a:solidFill>
          <a:ln w="12700">
            <a:solidFill>
              <a:srgbClr val="CFC7B8"/>
            </a:solidFill>
            <a:prstDash val="solid"/>
          </a:ln>
        </p:spPr>
      </p:sp>
      <p:sp>
        <p:nvSpPr>
          <p:cNvPr id="17" name="Text 14"/>
          <p:cNvSpPr txBox="1"/>
          <p:nvPr/>
        </p:nvSpPr>
        <p:spPr>
          <a:xfrm>
            <a:off x="859536" y="3355848"/>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Azure DevOps</a:t>
            </a:r>
            <a:endParaRPr lang="en-US" sz="1100" dirty="0"/>
          </a:p>
        </p:txBody>
      </p:sp>
      <p:sp>
        <p:nvSpPr>
          <p:cNvPr id="18" name="Text 15"/>
          <p:cNvSpPr txBox="1"/>
          <p:nvPr/>
        </p:nvSpPr>
        <p:spPr>
          <a:xfrm>
            <a:off x="2377440" y="3364992"/>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your az login</a:t>
            </a:r>
            <a:endParaRPr lang="en-US" sz="950" dirty="0"/>
          </a:p>
        </p:txBody>
      </p:sp>
      <p:sp>
        <p:nvSpPr>
          <p:cNvPr id="19" name="Text 16"/>
          <p:cNvSpPr txBox="1"/>
          <p:nvPr/>
        </p:nvSpPr>
        <p:spPr>
          <a:xfrm>
            <a:off x="4041648" y="3364992"/>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npx @azure-devops/mcp</a:t>
            </a:r>
            <a:endParaRPr lang="en-US" sz="950" dirty="0"/>
          </a:p>
        </p:txBody>
      </p:sp>
      <p:sp>
        <p:nvSpPr>
          <p:cNvPr id="20" name="Shape 17"/>
          <p:cNvSpPr/>
          <p:nvPr/>
        </p:nvSpPr>
        <p:spPr>
          <a:xfrm>
            <a:off x="640080" y="3749040"/>
            <a:ext cx="6355080" cy="438912"/>
          </a:xfrm>
          <a:prstGeom prst="roundRect">
            <a:avLst>
              <a:gd name="adj" fmla="val 12500"/>
            </a:avLst>
          </a:prstGeom>
          <a:solidFill>
            <a:srgbClr val="F1E9DA"/>
          </a:solidFill>
          <a:ln w="12700">
            <a:solidFill>
              <a:srgbClr val="CFC7B8"/>
            </a:solidFill>
            <a:prstDash val="solid"/>
          </a:ln>
        </p:spPr>
      </p:sp>
      <p:sp>
        <p:nvSpPr>
          <p:cNvPr id="21" name="Text 18"/>
          <p:cNvSpPr txBox="1"/>
          <p:nvPr/>
        </p:nvSpPr>
        <p:spPr>
          <a:xfrm>
            <a:off x="859536" y="3867912"/>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GitHub</a:t>
            </a:r>
            <a:endParaRPr lang="en-US" sz="1100" dirty="0"/>
          </a:p>
        </p:txBody>
      </p:sp>
      <p:sp>
        <p:nvSpPr>
          <p:cNvPr id="22" name="Text 19"/>
          <p:cNvSpPr txBox="1"/>
          <p:nvPr/>
        </p:nvSpPr>
        <p:spPr>
          <a:xfrm>
            <a:off x="2377440" y="3877056"/>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hosted, OAuth as you</a:t>
            </a:r>
            <a:endParaRPr lang="en-US" sz="950" dirty="0"/>
          </a:p>
        </p:txBody>
      </p:sp>
      <p:sp>
        <p:nvSpPr>
          <p:cNvPr id="23" name="Text 20"/>
          <p:cNvSpPr txBox="1"/>
          <p:nvPr/>
        </p:nvSpPr>
        <p:spPr>
          <a:xfrm>
            <a:off x="4041648" y="3877056"/>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api.githubcopilot.com/mcp/</a:t>
            </a:r>
            <a:endParaRPr lang="en-US" sz="950" dirty="0"/>
          </a:p>
        </p:txBody>
      </p:sp>
      <p:sp>
        <p:nvSpPr>
          <p:cNvPr id="24" name="Shape 21"/>
          <p:cNvSpPr/>
          <p:nvPr/>
        </p:nvSpPr>
        <p:spPr>
          <a:xfrm>
            <a:off x="640080" y="4261104"/>
            <a:ext cx="6355080" cy="438912"/>
          </a:xfrm>
          <a:prstGeom prst="roundRect">
            <a:avLst>
              <a:gd name="adj" fmla="val 12500"/>
            </a:avLst>
          </a:prstGeom>
          <a:solidFill>
            <a:srgbClr val="FFFFFF"/>
          </a:solidFill>
          <a:ln w="12700">
            <a:solidFill>
              <a:srgbClr val="CFC7B8"/>
            </a:solidFill>
            <a:prstDash val="solid"/>
          </a:ln>
        </p:spPr>
      </p:sp>
      <p:sp>
        <p:nvSpPr>
          <p:cNvPr id="25" name="Text 22"/>
          <p:cNvSpPr txBox="1"/>
          <p:nvPr/>
        </p:nvSpPr>
        <p:spPr>
          <a:xfrm>
            <a:off x="859536" y="4379976"/>
            <a:ext cx="1463040" cy="237744"/>
          </a:xfrm>
          <a:prstGeom prst="rect">
            <a:avLst/>
          </a:prstGeom>
          <a:noFill/>
          <a:ln/>
        </p:spPr>
        <p:txBody>
          <a:bodyPr wrap="square" lIns="0" tIns="0" rIns="0" bIns="0" rtlCol="0" anchor="ctr"/>
          <a:lstStyle/>
          <a:p>
            <a:pPr indent="0" marL="0">
              <a:buNone/>
            </a:pPr>
            <a:r>
              <a:rPr lang="en-US" sz="1100" b="1" dirty="0">
                <a:solidFill>
                  <a:srgbClr val="051D60"/>
                </a:solidFill>
                <a:latin typeface="Calibri" pitchFamily="34" charset="0"/>
                <a:ea typeface="Calibri" pitchFamily="34" charset="-122"/>
                <a:cs typeface="Calibri" pitchFamily="34" charset="-120"/>
              </a:rPr>
              <a:t>GitHub</a:t>
            </a:r>
            <a:endParaRPr lang="en-US" sz="1100" dirty="0"/>
          </a:p>
        </p:txBody>
      </p:sp>
      <p:sp>
        <p:nvSpPr>
          <p:cNvPr id="26" name="Text 23"/>
          <p:cNvSpPr txBox="1"/>
          <p:nvPr/>
        </p:nvSpPr>
        <p:spPr>
          <a:xfrm>
            <a:off x="2377440" y="4389120"/>
            <a:ext cx="1600200" cy="219456"/>
          </a:xfrm>
          <a:prstGeom prst="rect">
            <a:avLst/>
          </a:prstGeom>
          <a:noFill/>
          <a:ln/>
        </p:spPr>
        <p:txBody>
          <a:bodyPr wrap="square" lIns="0" tIns="0" rIns="0" bIns="0" rtlCol="0" anchor="ctr"/>
          <a:lstStyle/>
          <a:p>
            <a:pPr indent="0" marL="0">
              <a:buNone/>
            </a:pPr>
            <a:r>
              <a:rPr lang="en-US" sz="950" dirty="0">
                <a:solidFill>
                  <a:srgbClr val="5F6476"/>
                </a:solidFill>
                <a:latin typeface="Calibri" pitchFamily="34" charset="0"/>
                <a:ea typeface="Calibri" pitchFamily="34" charset="-122"/>
                <a:cs typeface="Calibri" pitchFamily="34" charset="-120"/>
              </a:rPr>
              <a:t>local, a token</a:t>
            </a:r>
            <a:endParaRPr lang="en-US" sz="950" dirty="0"/>
          </a:p>
        </p:txBody>
      </p:sp>
      <p:sp>
        <p:nvSpPr>
          <p:cNvPr id="27" name="Text 24"/>
          <p:cNvSpPr txBox="1"/>
          <p:nvPr/>
        </p:nvSpPr>
        <p:spPr>
          <a:xfrm>
            <a:off x="4041648" y="4389120"/>
            <a:ext cx="2734056" cy="219456"/>
          </a:xfrm>
          <a:prstGeom prst="rect">
            <a:avLst/>
          </a:prstGeom>
          <a:noFill/>
          <a:ln/>
        </p:spPr>
        <p:txBody>
          <a:bodyPr wrap="square" lIns="0" tIns="0" rIns="0" bIns="0" rtlCol="0" anchor="ctr"/>
          <a:lstStyle/>
          <a:p>
            <a:pPr indent="0" marL="0">
              <a:buNone/>
            </a:pPr>
            <a:r>
              <a:rPr lang="en-US" sz="950" dirty="0">
                <a:solidFill>
                  <a:srgbClr val="192954"/>
                </a:solidFill>
                <a:latin typeface="Consolas" pitchFamily="34" charset="0"/>
                <a:ea typeface="Consolas" pitchFamily="34" charset="-122"/>
                <a:cs typeface="Consolas" pitchFamily="34" charset="-120"/>
              </a:rPr>
              <a:t>ghcr.io/github/github-mcp-server</a:t>
            </a:r>
            <a:endParaRPr lang="en-US" sz="950" dirty="0"/>
          </a:p>
        </p:txBody>
      </p:sp>
      <p:sp>
        <p:nvSpPr>
          <p:cNvPr id="28" name="Shape 25"/>
          <p:cNvSpPr/>
          <p:nvPr/>
        </p:nvSpPr>
        <p:spPr>
          <a:xfrm>
            <a:off x="640080" y="4846320"/>
            <a:ext cx="6355080" cy="914400"/>
          </a:xfrm>
          <a:prstGeom prst="roundRect">
            <a:avLst>
              <a:gd name="adj" fmla="val 6000"/>
            </a:avLst>
          </a:prstGeom>
          <a:solidFill>
            <a:srgbClr val="051D60"/>
          </a:solidFill>
          <a:ln w="12700">
            <a:solidFill>
              <a:srgbClr val="051D60"/>
            </a:solidFill>
            <a:prstDash val="solid"/>
          </a:ln>
        </p:spPr>
      </p:sp>
      <p:sp>
        <p:nvSpPr>
          <p:cNvPr id="29" name="Text 26"/>
          <p:cNvSpPr txBox="1"/>
          <p:nvPr/>
        </p:nvSpPr>
        <p:spPr>
          <a:xfrm>
            <a:off x="877824" y="4974336"/>
            <a:ext cx="5897880"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No credential is in any of those files</a:t>
            </a:r>
            <a:endParaRPr lang="en-US" sz="1150" dirty="0"/>
          </a:p>
        </p:txBody>
      </p:sp>
      <p:sp>
        <p:nvSpPr>
          <p:cNvPr id="30" name="Text 27"/>
          <p:cNvSpPr txBox="1"/>
          <p:nvPr/>
        </p:nvSpPr>
        <p:spPr>
          <a:xfrm>
            <a:off x="877824" y="5230368"/>
            <a:ext cx="5897880" cy="457200"/>
          </a:xfrm>
          <a:prstGeom prst="rect">
            <a:avLst/>
          </a:prstGeom>
          <a:noFill/>
          <a:ln/>
        </p:spPr>
        <p:txBody>
          <a:bodyPr wrap="square" lIns="0" tIns="0" rIns="0" bIns="0" rtlCol="0" anchor="ctr"/>
          <a:lstStyle/>
          <a:p>
            <a:pPr indent="0" marL="0">
              <a:lnSpc>
                <a:spcPct val="110000"/>
              </a:lnSpc>
              <a:buNone/>
            </a:pPr>
            <a:r>
              <a:rPr lang="en-US" sz="900" dirty="0">
                <a:solidFill>
                  <a:srgbClr val="E4DED3"/>
                </a:solidFill>
                <a:latin typeface="Calibri" pitchFamily="34" charset="0"/>
                <a:ea typeface="Calibri" pitchFamily="34" charset="-122"/>
                <a:cs typeface="Calibri" pitchFamily="34" charset="-120"/>
              </a:rPr>
              <a:t>Every secret is a ${NAME} the harness expands. A CI check fails on a value shaped like a known token anywhere in the document, and on any literal under a credential-shaped key — which is what catches an internal credential matching no public pattern.</a:t>
            </a:r>
            <a:endParaRPr lang="en-US" sz="900" dirty="0"/>
          </a:p>
        </p:txBody>
      </p:sp>
      <p:sp>
        <p:nvSpPr>
          <p:cNvPr id="31" name="Text 28"/>
          <p:cNvSpPr txBox="1"/>
          <p:nvPr/>
        </p:nvSpPr>
        <p:spPr>
          <a:xfrm>
            <a:off x="7406640" y="1847088"/>
            <a:ext cx="4144975" cy="256032"/>
          </a:xfrm>
          <a:prstGeom prst="rect">
            <a:avLst/>
          </a:prstGeom>
          <a:noFill/>
          <a:ln/>
        </p:spPr>
        <p:txBody>
          <a:bodyPr wrap="square" lIns="0" tIns="0" rIns="0" bIns="0" rtlCol="0" anchor="ctr"/>
          <a:lstStyle/>
          <a:p>
            <a:pPr indent="0" marL="0">
              <a:buNone/>
            </a:pPr>
            <a:r>
              <a:rPr lang="en-US" sz="1300" b="1" dirty="0">
                <a:solidFill>
                  <a:srgbClr val="051D60"/>
                </a:solidFill>
                <a:latin typeface="Mulish" pitchFamily="34" charset="0"/>
                <a:ea typeface="Mulish" pitchFamily="34" charset="-122"/>
                <a:cs typeface="Mulish" pitchFamily="34" charset="-120"/>
              </a:rPr>
              <a:t>automation/cron/ — optional</a:t>
            </a:r>
            <a:endParaRPr lang="en-US" sz="1300" dirty="0"/>
          </a:p>
        </p:txBody>
      </p:sp>
      <p:sp>
        <p:nvSpPr>
          <p:cNvPr id="32" name="Shape 29"/>
          <p:cNvSpPr/>
          <p:nvPr/>
        </p:nvSpPr>
        <p:spPr>
          <a:xfrm>
            <a:off x="7406640" y="2212848"/>
            <a:ext cx="4144975" cy="1572768"/>
          </a:xfrm>
          <a:prstGeom prst="roundRect">
            <a:avLst>
              <a:gd name="adj" fmla="val 3488"/>
            </a:avLst>
          </a:prstGeom>
          <a:solidFill>
            <a:srgbClr val="F1E9DA"/>
          </a:solidFill>
          <a:ln w="12700">
            <a:solidFill>
              <a:srgbClr val="CFC7B8"/>
            </a:solidFill>
            <a:prstDash val="solid"/>
          </a:ln>
        </p:spPr>
      </p:sp>
      <p:sp>
        <p:nvSpPr>
          <p:cNvPr id="33" name="Text 30"/>
          <p:cNvSpPr txBox="1"/>
          <p:nvPr/>
        </p:nvSpPr>
        <p:spPr>
          <a:xfrm>
            <a:off x="7644384" y="2340864"/>
            <a:ext cx="3687775" cy="237744"/>
          </a:xfrm>
          <a:prstGeom prst="rect">
            <a:avLst/>
          </a:prstGeom>
          <a:noFill/>
          <a:ln/>
        </p:spPr>
        <p:txBody>
          <a:bodyPr wrap="square" lIns="0" tIns="0" rIns="0" bIns="0" rtlCol="0" anchor="ctr"/>
          <a:lstStyle/>
          <a:p>
            <a:pPr indent="0" marL="0">
              <a:buNone/>
            </a:pPr>
            <a:r>
              <a:rPr lang="en-US" sz="1150" b="1" dirty="0">
                <a:solidFill>
                  <a:srgbClr val="051D60"/>
                </a:solidFill>
                <a:latin typeface="Calibri" pitchFamily="34" charset="0"/>
                <a:ea typeface="Calibri" pitchFamily="34" charset="-122"/>
                <a:cs typeface="Calibri" pitchFamily="34" charset="-120"/>
              </a:rPr>
              <a:t>Tracker item → proposed branch</a:t>
            </a:r>
            <a:endParaRPr lang="en-US" sz="1150" dirty="0"/>
          </a:p>
        </p:txBody>
      </p:sp>
      <p:sp>
        <p:nvSpPr>
          <p:cNvPr id="34" name="Text 31"/>
          <p:cNvSpPr txBox="1"/>
          <p:nvPr/>
        </p:nvSpPr>
        <p:spPr>
          <a:xfrm>
            <a:off x="7644384" y="2615184"/>
            <a:ext cx="3687775" cy="1042416"/>
          </a:xfrm>
          <a:prstGeom prst="rect">
            <a:avLst/>
          </a:prstGeom>
          <a:noFill/>
          <a:ln/>
        </p:spPr>
        <p:txBody>
          <a:bodyPr wrap="square" lIns="0" tIns="0" rIns="0" bIns="0" rtlCol="0" anchor="ctr"/>
          <a:lstStyle/>
          <a:p>
            <a:pPr indent="0" marL="0">
              <a:lnSpc>
                <a:spcPct val="114000"/>
              </a:lnSpc>
              <a:buNone/>
            </a:pPr>
            <a:r>
              <a:rPr lang="en-US" sz="950" dirty="0">
                <a:solidFill>
                  <a:srgbClr val="5F6476"/>
                </a:solidFill>
                <a:latin typeface="Calibri" pitchFamily="34" charset="0"/>
                <a:ea typeface="Calibri" pitchFamily="34" charset="-122"/>
                <a:cs typeface="Calibri" pitchFamily="34" charset="-120"/>
              </a:rPr>
              <a:t>For each tagged item it has not seen: branch off the base, propose, seed the proposal from the item, commit, push, open a pull request. What it opens is a scaffolded branch — a person still writes the why.</a:t>
            </a:r>
            <a:endParaRPr lang="en-US" sz="950" dirty="0"/>
          </a:p>
        </p:txBody>
      </p:sp>
      <p:sp>
        <p:nvSpPr>
          <p:cNvPr id="35" name="Shape 32"/>
          <p:cNvSpPr/>
          <p:nvPr/>
        </p:nvSpPr>
        <p:spPr>
          <a:xfrm>
            <a:off x="7406640" y="3931920"/>
            <a:ext cx="4144975" cy="548640"/>
          </a:xfrm>
          <a:prstGeom prst="roundRect">
            <a:avLst>
              <a:gd name="adj" fmla="val 10000"/>
            </a:avLst>
          </a:prstGeom>
          <a:solidFill>
            <a:srgbClr val="FFFFFF"/>
          </a:solidFill>
          <a:ln w="12700">
            <a:solidFill>
              <a:srgbClr val="CFC7B8"/>
            </a:solidFill>
            <a:prstDash val="solid"/>
          </a:ln>
        </p:spPr>
      </p:sp>
      <p:sp>
        <p:nvSpPr>
          <p:cNvPr id="36" name="Text 33"/>
          <p:cNvSpPr txBox="1"/>
          <p:nvPr/>
        </p:nvSpPr>
        <p:spPr>
          <a:xfrm>
            <a:off x="7626096" y="4014216"/>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Never touches your checkout</a:t>
            </a:r>
            <a:endParaRPr lang="en-US" sz="1050" dirty="0"/>
          </a:p>
        </p:txBody>
      </p:sp>
      <p:sp>
        <p:nvSpPr>
          <p:cNvPr id="37" name="Text 34"/>
          <p:cNvSpPr txBox="1"/>
          <p:nvPr/>
        </p:nvSpPr>
        <p:spPr>
          <a:xfrm>
            <a:off x="7626096" y="4233672"/>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every change happens in a worktree it creates and removes</a:t>
            </a:r>
            <a:endParaRPr lang="en-US" sz="900" dirty="0"/>
          </a:p>
        </p:txBody>
      </p:sp>
      <p:sp>
        <p:nvSpPr>
          <p:cNvPr id="38" name="Shape 35"/>
          <p:cNvSpPr/>
          <p:nvPr/>
        </p:nvSpPr>
        <p:spPr>
          <a:xfrm>
            <a:off x="7406640" y="4553712"/>
            <a:ext cx="4144975" cy="548640"/>
          </a:xfrm>
          <a:prstGeom prst="roundRect">
            <a:avLst>
              <a:gd name="adj" fmla="val 10000"/>
            </a:avLst>
          </a:prstGeom>
          <a:solidFill>
            <a:srgbClr val="FFFFFF"/>
          </a:solidFill>
          <a:ln w="12700">
            <a:solidFill>
              <a:srgbClr val="CFC7B8"/>
            </a:solidFill>
            <a:prstDash val="solid"/>
          </a:ln>
        </p:spPr>
      </p:sp>
      <p:sp>
        <p:nvSpPr>
          <p:cNvPr id="39" name="Text 36"/>
          <p:cNvSpPr txBox="1"/>
          <p:nvPr/>
        </p:nvSpPr>
        <p:spPr>
          <a:xfrm>
            <a:off x="7626096" y="4636008"/>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Nothing irreversible without --push</a:t>
            </a:r>
            <a:endParaRPr lang="en-US" sz="1050" dirty="0"/>
          </a:p>
        </p:txBody>
      </p:sp>
      <p:sp>
        <p:nvSpPr>
          <p:cNvPr id="40" name="Text 37"/>
          <p:cNvSpPr txBox="1"/>
          <p:nvPr/>
        </p:nvSpPr>
        <p:spPr>
          <a:xfrm>
            <a:off x="7626096" y="4855464"/>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the default stops at the local commit and reports</a:t>
            </a:r>
            <a:endParaRPr lang="en-US" sz="900" dirty="0"/>
          </a:p>
        </p:txBody>
      </p:sp>
      <p:sp>
        <p:nvSpPr>
          <p:cNvPr id="41" name="Shape 38"/>
          <p:cNvSpPr/>
          <p:nvPr/>
        </p:nvSpPr>
        <p:spPr>
          <a:xfrm>
            <a:off x="7406640" y="5175504"/>
            <a:ext cx="4144975" cy="548640"/>
          </a:xfrm>
          <a:prstGeom prst="roundRect">
            <a:avLst>
              <a:gd name="adj" fmla="val 10000"/>
            </a:avLst>
          </a:prstGeom>
          <a:solidFill>
            <a:srgbClr val="FFFFFF"/>
          </a:solidFill>
          <a:ln w="12700">
            <a:solidFill>
              <a:srgbClr val="CFC7B8"/>
            </a:solidFill>
            <a:prstDash val="solid"/>
          </a:ln>
        </p:spPr>
      </p:sp>
      <p:sp>
        <p:nvSpPr>
          <p:cNvPr id="42" name="Text 39"/>
          <p:cNvSpPr txBox="1"/>
          <p:nvPr/>
        </p:nvSpPr>
        <p:spPr>
          <a:xfrm>
            <a:off x="7626096" y="5257800"/>
            <a:ext cx="3706063" cy="219456"/>
          </a:xfrm>
          <a:prstGeom prst="rect">
            <a:avLst/>
          </a:prstGeom>
          <a:noFill/>
          <a:ln/>
        </p:spPr>
        <p:txBody>
          <a:bodyPr wrap="square" lIns="0" tIns="0" rIns="0" bIns="0" rtlCol="0" anchor="ctr"/>
          <a:lstStyle/>
          <a:p>
            <a:pPr indent="0" marL="0">
              <a:buNone/>
            </a:pPr>
            <a:r>
              <a:rPr lang="en-US" sz="1050" b="1" dirty="0">
                <a:solidFill>
                  <a:srgbClr val="051D60"/>
                </a:solidFill>
                <a:latin typeface="Calibri" pitchFamily="34" charset="0"/>
                <a:ea typeface="Calibri" pitchFamily="34" charset="-122"/>
                <a:cs typeface="Calibri" pitchFamily="34" charset="-120"/>
              </a:rPr>
              <a:t>Tracker text is never code</a:t>
            </a:r>
            <a:endParaRPr lang="en-US" sz="1050" dirty="0"/>
          </a:p>
        </p:txBody>
      </p:sp>
      <p:sp>
        <p:nvSpPr>
          <p:cNvPr id="43" name="Text 40"/>
          <p:cNvSpPr txBox="1"/>
          <p:nvPr/>
        </p:nvSpPr>
        <p:spPr>
          <a:xfrm>
            <a:off x="7626096" y="5477256"/>
            <a:ext cx="3706063" cy="201168"/>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anyone can file a ticket; values arrive via the environment</a:t>
            </a:r>
            <a:endParaRPr lang="en-US" sz="900" dirty="0"/>
          </a:p>
        </p:txBody>
      </p:sp>
      <p:sp>
        <p:nvSpPr>
          <p:cNvPr id="44" name="Shape 41"/>
          <p:cNvSpPr/>
          <p:nvPr/>
        </p:nvSpPr>
        <p:spPr>
          <a:xfrm>
            <a:off x="640080" y="5897880"/>
            <a:ext cx="6355080" cy="411480"/>
          </a:xfrm>
          <a:prstGeom prst="roundRect">
            <a:avLst>
              <a:gd name="adj" fmla="val 13333"/>
            </a:avLst>
          </a:prstGeom>
          <a:solidFill>
            <a:srgbClr val="F1E9DA"/>
          </a:solidFill>
          <a:ln w="12700">
            <a:solidFill>
              <a:srgbClr val="CFC7B8"/>
            </a:solidFill>
            <a:prstDash val="solid"/>
          </a:ln>
        </p:spPr>
      </p:sp>
      <p:sp>
        <p:nvSpPr>
          <p:cNvPr id="45" name="Text 42"/>
          <p:cNvSpPr txBox="1"/>
          <p:nvPr/>
        </p:nvSpPr>
        <p:spPr>
          <a:xfrm>
            <a:off x="859536" y="6007608"/>
            <a:ext cx="5916168" cy="219456"/>
          </a:xfrm>
          <a:prstGeom prst="rect">
            <a:avLst/>
          </a:prstGeom>
          <a:noFill/>
          <a:ln/>
        </p:spPr>
        <p:txBody>
          <a:bodyPr wrap="square" lIns="0" tIns="0" rIns="0" bIns="0" rtlCol="0" anchor="ctr"/>
          <a:lstStyle/>
          <a:p>
            <a:pPr indent="0" marL="0">
              <a:buNone/>
            </a:pPr>
            <a:r>
              <a:rPr lang="en-US" sz="900" dirty="0">
                <a:solidFill>
                  <a:srgbClr val="5F6476"/>
                </a:solidFill>
                <a:latin typeface="Calibri" pitchFamily="34" charset="0"/>
                <a:ea typeface="Calibri" pitchFamily="34" charset="-122"/>
                <a:cs typeface="Calibri" pitchFamily="34" charset="-120"/>
              </a:rPr>
              <a:t>Prefer a hosted route: it carries no secret to leak, and acts as you — so it can do nothing your own account cannot.</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51D60"/>
        </a:solidFill>
      </p:bgPr>
    </p:bg>
    <p:spTree>
      <p:nvGrpSpPr>
        <p:cNvPr id="1" name=""/>
        <p:cNvGrpSpPr/>
        <p:nvPr/>
      </p:nvGrpSpPr>
      <p:grpSpPr>
        <a:xfrm>
          <a:off x="0" y="0"/>
          <a:ext cx="0" cy="0"/>
          <a:chOff x="0" y="0"/>
          <a:chExt cx="0" cy="0"/>
        </a:xfrm>
      </p:grpSpPr>
      <p:sp>
        <p:nvSpPr>
          <p:cNvPr id="2" name="Text 0"/>
          <p:cNvSpPr txBox="1"/>
          <p:nvPr/>
        </p:nvSpPr>
        <p:spPr>
          <a:xfrm>
            <a:off x="640080" y="402336"/>
            <a:ext cx="10911535" cy="219456"/>
          </a:xfrm>
          <a:prstGeom prst="rect">
            <a:avLst/>
          </a:prstGeom>
          <a:noFill/>
          <a:ln/>
        </p:spPr>
        <p:txBody>
          <a:bodyPr wrap="square" lIns="0" tIns="0" rIns="0" bIns="0" rtlCol="0" anchor="ctr"/>
          <a:lstStyle/>
          <a:p>
            <a:pPr indent="0" marL="0">
              <a:buNone/>
            </a:pPr>
            <a:r>
              <a:rPr lang="en-US" sz="1000" b="1" spc="200" kern="0" dirty="0">
                <a:solidFill>
                  <a:srgbClr val="9BA2BA"/>
                </a:solidFill>
                <a:latin typeface="Calibri" pitchFamily="34" charset="0"/>
                <a:ea typeface="Calibri" pitchFamily="34" charset="-122"/>
                <a:cs typeface="Calibri" pitchFamily="34" charset="-120"/>
              </a:rPr>
              <a:t>TELEMETRY</a:t>
            </a:r>
            <a:endParaRPr lang="en-US" sz="1000" dirty="0"/>
          </a:p>
        </p:txBody>
      </p:sp>
      <p:sp>
        <p:nvSpPr>
          <p:cNvPr id="3" name="Text 1"/>
          <p:cNvSpPr txBox="1"/>
          <p:nvPr/>
        </p:nvSpPr>
        <p:spPr>
          <a:xfrm>
            <a:off x="640080" y="676656"/>
            <a:ext cx="10911535" cy="566928"/>
          </a:xfrm>
          <a:prstGeom prst="rect">
            <a:avLst/>
          </a:prstGeom>
          <a:noFill/>
          <a:ln/>
        </p:spPr>
        <p:txBody>
          <a:bodyPr wrap="square" lIns="0" tIns="0" rIns="0" bIns="0" rtlCol="0" anchor="t"/>
          <a:lstStyle/>
          <a:p>
            <a:pPr indent="0" marL="0">
              <a:buNone/>
            </a:pPr>
            <a:r>
              <a:rPr lang="en-US" sz="3100" b="1" dirty="0">
                <a:solidFill>
                  <a:srgbClr val="FAF3E7"/>
                </a:solidFill>
                <a:latin typeface="Mulish" pitchFamily="34" charset="0"/>
                <a:ea typeface="Mulish" pitchFamily="34" charset="-122"/>
                <a:cs typeface="Mulish" pitchFamily="34" charset="-120"/>
              </a:rPr>
              <a:t>One trace per change, one span per gate</a:t>
            </a:r>
            <a:endParaRPr lang="en-US" sz="3100" dirty="0"/>
          </a:p>
        </p:txBody>
      </p:sp>
      <p:sp>
        <p:nvSpPr>
          <p:cNvPr id="4" name="Text 2"/>
          <p:cNvSpPr txBox="1"/>
          <p:nvPr/>
        </p:nvSpPr>
        <p:spPr>
          <a:xfrm>
            <a:off x="640080" y="1280160"/>
            <a:ext cx="10424160" cy="329184"/>
          </a:xfrm>
          <a:prstGeom prst="rect">
            <a:avLst/>
          </a:prstGeom>
          <a:noFill/>
          <a:ln/>
        </p:spPr>
        <p:txBody>
          <a:bodyPr wrap="square" lIns="0" tIns="0" rIns="0" bIns="0" rtlCol="0" anchor="t"/>
          <a:lstStyle/>
          <a:p>
            <a:pPr indent="0" marL="0">
              <a:buNone/>
            </a:pPr>
            <a:r>
              <a:rPr lang="en-US" sz="1350" dirty="0">
                <a:solidFill>
                  <a:srgbClr val="9BA2BA"/>
                </a:solidFill>
                <a:latin typeface="Calibri" pitchFamily="34" charset="0"/>
                <a:ea typeface="Calibri" pitchFamily="34" charset="-122"/>
                <a:cs typeface="Calibri" pitchFamily="34" charset="-120"/>
              </a:rPr>
              <a:t>navi-delivery telemetry — off until you run it. No other command makes a network call.</a:t>
            </a:r>
            <a:endParaRPr lang="en-US" sz="1350" dirty="0"/>
          </a:p>
        </p:txBody>
      </p:sp>
      <p:pic>
        <p:nvPicPr>
          <p:cNvPr id="5" name="Image 0" descr="preencoded.png">    </p:cNvPr>
          <p:cNvPicPr>
            <a:picLocks noChangeAspect="1"/>
          </p:cNvPicPr>
          <p:nvPr/>
        </p:nvPicPr>
        <p:blipFill>
          <a:blip r:embed="rId1"/>
          <a:stretch>
            <a:fillRect/>
          </a:stretch>
        </p:blipFill>
        <p:spPr>
          <a:xfrm>
            <a:off x="10637215" y="6382512"/>
            <a:ext cx="914400" cy="126124"/>
          </a:xfrm>
          <a:prstGeom prst="rect">
            <a:avLst/>
          </a:prstGeom>
        </p:spPr>
      </p:pic>
      <p:sp>
        <p:nvSpPr>
          <p:cNvPr id="6" name="Text 3"/>
          <p:cNvSpPr txBox="1"/>
          <p:nvPr/>
        </p:nvSpPr>
        <p:spPr>
          <a:xfrm>
            <a:off x="640080" y="6364224"/>
            <a:ext cx="4572000" cy="201168"/>
          </a:xfrm>
          <a:prstGeom prst="rect">
            <a:avLst/>
          </a:prstGeom>
          <a:noFill/>
          <a:ln/>
        </p:spPr>
        <p:txBody>
          <a:bodyPr wrap="square" lIns="0" tIns="0" rIns="0" bIns="0" rtlCol="0" anchor="ctr"/>
          <a:lstStyle/>
          <a:p>
            <a:pPr indent="0" marL="0">
              <a:buNone/>
            </a:pPr>
            <a:r>
              <a:rPr lang="en-US" sz="850" dirty="0">
                <a:solidFill>
                  <a:srgbClr val="6E7591"/>
                </a:solidFill>
                <a:latin typeface="Calibri" pitchFamily="34" charset="0"/>
                <a:ea typeface="Calibri" pitchFamily="34" charset="-122"/>
                <a:cs typeface="Calibri" pitchFamily="34" charset="-120"/>
              </a:rPr>
              <a:t>navi-delivery  ·  v0.1.0  ·  18 / 19</a:t>
            </a:r>
            <a:endParaRPr lang="en-US" sz="850" dirty="0"/>
          </a:p>
        </p:txBody>
      </p:sp>
      <p:sp>
        <p:nvSpPr>
          <p:cNvPr id="7" name="Shape 4"/>
          <p:cNvSpPr/>
          <p:nvPr/>
        </p:nvSpPr>
        <p:spPr>
          <a:xfrm>
            <a:off x="640080" y="1920240"/>
            <a:ext cx="5852160" cy="2304288"/>
          </a:xfrm>
          <a:prstGeom prst="roundRect">
            <a:avLst>
              <a:gd name="adj" fmla="val 2381"/>
            </a:avLst>
          </a:prstGeom>
          <a:solidFill>
            <a:srgbClr val="0E2470"/>
          </a:solidFill>
          <a:ln w="12700">
            <a:solidFill>
              <a:srgbClr val="0E2470"/>
            </a:solidFill>
            <a:prstDash val="solid"/>
          </a:ln>
        </p:spPr>
      </p:sp>
      <p:sp>
        <p:nvSpPr>
          <p:cNvPr id="8" name="Text 5"/>
          <p:cNvSpPr txBox="1"/>
          <p:nvPr/>
        </p:nvSpPr>
        <p:spPr>
          <a:xfrm>
            <a:off x="896112" y="2066544"/>
            <a:ext cx="5340096" cy="237744"/>
          </a:xfrm>
          <a:prstGeom prst="rect">
            <a:avLst/>
          </a:prstGeom>
          <a:noFill/>
          <a:ln/>
        </p:spPr>
        <p:txBody>
          <a:bodyPr wrap="square" lIns="0" tIns="0" rIns="0" bIns="0" rtlCol="0" anchor="ctr"/>
          <a:lstStyle/>
          <a:p>
            <a:pPr indent="0" marL="0">
              <a:buNone/>
            </a:pPr>
            <a:r>
              <a:rPr lang="en-US" sz="1250" b="1" dirty="0">
                <a:solidFill>
                  <a:srgbClr val="FAF3E7"/>
                </a:solidFill>
                <a:latin typeface="Mulish" pitchFamily="34" charset="0"/>
                <a:ea typeface="Mulish" pitchFamily="34" charset="-122"/>
                <a:cs typeface="Mulish" pitchFamily="34" charset="-120"/>
              </a:rPr>
              <a:t>The waterfall</a:t>
            </a:r>
            <a:endParaRPr lang="en-US" sz="1250" dirty="0"/>
          </a:p>
        </p:txBody>
      </p:sp>
      <p:sp>
        <p:nvSpPr>
          <p:cNvPr id="9" name="Text 6"/>
          <p:cNvSpPr txBox="1"/>
          <p:nvPr/>
        </p:nvSpPr>
        <p:spPr>
          <a:xfrm>
            <a:off x="896112" y="2377440"/>
            <a:ext cx="5340096" cy="1188720"/>
          </a:xfrm>
          <a:prstGeom prst="rect">
            <a:avLst/>
          </a:prstGeom>
          <a:noFill/>
          <a:ln/>
        </p:spPr>
        <p:txBody>
          <a:bodyPr wrap="square" lIns="0" tIns="0" rIns="0" bIns="0" rtlCol="0" anchor="t"/>
          <a:lstStyle/>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change:add-csv-export        root</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G1 pass                   status 1</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G2 fail                   status 2</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G2 pass                   attempt 2</a:t>
            </a:r>
            <a:endParaRPr lang="en-US" sz="950" dirty="0"/>
          </a:p>
          <a:p>
            <a:pPr indent="0" marL="0">
              <a:lnSpc>
                <a:spcPct val="150000"/>
              </a:lnSpc>
              <a:buNone/>
            </a:pPr>
            <a:r>
              <a:rPr lang="en-US" sz="950" dirty="0">
                <a:solidFill>
                  <a:srgbClr val="E4DED3"/>
                </a:solidFill>
                <a:latin typeface="Consolas" pitchFamily="34" charset="0"/>
                <a:ea typeface="Consolas" pitchFamily="34" charset="-122"/>
                <a:cs typeface="Consolas" pitchFamily="34" charset="-120"/>
              </a:rPr>
              <a:t>└─ G6 waived                 expires 2026-12-31</a:t>
            </a:r>
            <a:endParaRPr lang="en-US" sz="950" dirty="0"/>
          </a:p>
        </p:txBody>
      </p:sp>
      <p:sp>
        <p:nvSpPr>
          <p:cNvPr id="10" name="Text 7"/>
          <p:cNvSpPr txBox="1"/>
          <p:nvPr/>
        </p:nvSpPr>
        <p:spPr>
          <a:xfrm>
            <a:off x="896112" y="3657600"/>
            <a:ext cx="5340096" cy="475488"/>
          </a:xfrm>
          <a:prstGeom prst="rect">
            <a:avLst/>
          </a:prstGeom>
          <a:noFill/>
          <a:ln/>
        </p:spPr>
        <p:txBody>
          <a:bodyPr wrap="square" lIns="0" tIns="0" rIns="0" bIns="0" rtlCol="0" anchor="ctr"/>
          <a:lstStyle/>
          <a:p>
            <a:pPr indent="0" marL="0">
              <a:lnSpc>
                <a:spcPct val="112000"/>
              </a:lnSpc>
              <a:buNone/>
            </a:pPr>
            <a:r>
              <a:rPr lang="en-US" sz="900" dirty="0">
                <a:solidFill>
                  <a:srgbClr val="9BA2BA"/>
                </a:solidFill>
                <a:latin typeface="Calibri" pitchFamily="34" charset="0"/>
                <a:ea typeface="Calibri" pitchFamily="34" charset="-122"/>
                <a:cs typeface="Calibri" pitchFamily="34" charset="-120"/>
              </a:rPr>
              <a:t>A gate decision is an instant, so its span has no duration. The number a delivery dashboard wants — how long the change waited — is an attribute saying exactly that, not a fabricated duration.</a:t>
            </a:r>
            <a:endParaRPr lang="en-US" sz="900" dirty="0"/>
          </a:p>
        </p:txBody>
      </p:sp>
      <p:sp>
        <p:nvSpPr>
          <p:cNvPr id="11" name="Text 8"/>
          <p:cNvSpPr txBox="1"/>
          <p:nvPr/>
        </p:nvSpPr>
        <p:spPr>
          <a:xfrm>
            <a:off x="6903720" y="1920240"/>
            <a:ext cx="4647895" cy="256032"/>
          </a:xfrm>
          <a:prstGeom prst="rect">
            <a:avLst/>
          </a:prstGeom>
          <a:noFill/>
          <a:ln/>
        </p:spPr>
        <p:txBody>
          <a:bodyPr wrap="square" lIns="0" tIns="0" rIns="0" bIns="0" rtlCol="0" anchor="ctr"/>
          <a:lstStyle/>
          <a:p>
            <a:pPr indent="0" marL="0">
              <a:buNone/>
            </a:pPr>
            <a:r>
              <a:rPr lang="en-US" sz="1250" b="1" dirty="0">
                <a:solidFill>
                  <a:srgbClr val="FAF3E7"/>
                </a:solidFill>
                <a:latin typeface="Mulish" pitchFamily="34" charset="0"/>
                <a:ea typeface="Mulish" pitchFamily="34" charset="-122"/>
                <a:cs typeface="Mulish" pitchFamily="34" charset="-120"/>
              </a:rPr>
              <a:t>Four backends, OTLP/HTTP JSON</a:t>
            </a:r>
            <a:endParaRPr lang="en-US" sz="1250" dirty="0"/>
          </a:p>
        </p:txBody>
      </p:sp>
      <p:sp>
        <p:nvSpPr>
          <p:cNvPr id="12" name="Shape 9"/>
          <p:cNvSpPr/>
          <p:nvPr/>
        </p:nvSpPr>
        <p:spPr>
          <a:xfrm>
            <a:off x="6903720" y="2286000"/>
            <a:ext cx="4647895" cy="438912"/>
          </a:xfrm>
          <a:prstGeom prst="roundRect">
            <a:avLst>
              <a:gd name="adj" fmla="val 12500"/>
            </a:avLst>
          </a:prstGeom>
          <a:solidFill>
            <a:srgbClr val="192954"/>
          </a:solidFill>
          <a:ln w="12700">
            <a:solidFill>
              <a:srgbClr val="192954"/>
            </a:solidFill>
            <a:prstDash val="solid"/>
          </a:ln>
        </p:spPr>
      </p:sp>
      <p:sp>
        <p:nvSpPr>
          <p:cNvPr id="13" name="Text 10"/>
          <p:cNvSpPr txBox="1"/>
          <p:nvPr/>
        </p:nvSpPr>
        <p:spPr>
          <a:xfrm>
            <a:off x="7123176" y="2395728"/>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AgentObs</a:t>
            </a:r>
            <a:endParaRPr lang="en-US" sz="1100" dirty="0"/>
          </a:p>
        </p:txBody>
      </p:sp>
      <p:sp>
        <p:nvSpPr>
          <p:cNvPr id="14" name="Text 11"/>
          <p:cNvSpPr txBox="1"/>
          <p:nvPr/>
        </p:nvSpPr>
        <p:spPr>
          <a:xfrm>
            <a:off x="8531352" y="2404872"/>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X-Ingest-Key · direct OTLP ingestion</a:t>
            </a:r>
            <a:endParaRPr lang="en-US" sz="900" dirty="0"/>
          </a:p>
        </p:txBody>
      </p:sp>
      <p:sp>
        <p:nvSpPr>
          <p:cNvPr id="15" name="Shape 12"/>
          <p:cNvSpPr/>
          <p:nvPr/>
        </p:nvSpPr>
        <p:spPr>
          <a:xfrm>
            <a:off x="6903720" y="2798064"/>
            <a:ext cx="4647895" cy="438912"/>
          </a:xfrm>
          <a:prstGeom prst="roundRect">
            <a:avLst>
              <a:gd name="adj" fmla="val 12500"/>
            </a:avLst>
          </a:prstGeom>
          <a:solidFill>
            <a:srgbClr val="0E2470"/>
          </a:solidFill>
          <a:ln w="12700">
            <a:solidFill>
              <a:srgbClr val="0E2470"/>
            </a:solidFill>
            <a:prstDash val="solid"/>
          </a:ln>
        </p:spPr>
      </p:sp>
      <p:sp>
        <p:nvSpPr>
          <p:cNvPr id="16" name="Text 13"/>
          <p:cNvSpPr txBox="1"/>
          <p:nvPr/>
        </p:nvSpPr>
        <p:spPr>
          <a:xfrm>
            <a:off x="7123176" y="2907792"/>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Opik</a:t>
            </a:r>
            <a:endParaRPr lang="en-US" sz="1100" dirty="0"/>
          </a:p>
        </p:txBody>
      </p:sp>
      <p:sp>
        <p:nvSpPr>
          <p:cNvPr id="17" name="Text 14"/>
          <p:cNvSpPr txBox="1"/>
          <p:nvPr/>
        </p:nvSpPr>
        <p:spPr>
          <a:xfrm>
            <a:off x="8531352" y="2916936"/>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Authorization · workspace + project</a:t>
            </a:r>
            <a:endParaRPr lang="en-US" sz="900" dirty="0"/>
          </a:p>
        </p:txBody>
      </p:sp>
      <p:sp>
        <p:nvSpPr>
          <p:cNvPr id="18" name="Shape 15"/>
          <p:cNvSpPr/>
          <p:nvPr/>
        </p:nvSpPr>
        <p:spPr>
          <a:xfrm>
            <a:off x="6903720" y="3310128"/>
            <a:ext cx="4647895" cy="438912"/>
          </a:xfrm>
          <a:prstGeom prst="roundRect">
            <a:avLst>
              <a:gd name="adj" fmla="val 12500"/>
            </a:avLst>
          </a:prstGeom>
          <a:solidFill>
            <a:srgbClr val="192954"/>
          </a:solidFill>
          <a:ln w="12700">
            <a:solidFill>
              <a:srgbClr val="192954"/>
            </a:solidFill>
            <a:prstDash val="solid"/>
          </a:ln>
        </p:spPr>
      </p:sp>
      <p:sp>
        <p:nvSpPr>
          <p:cNvPr id="19" name="Text 16"/>
          <p:cNvSpPr txBox="1"/>
          <p:nvPr/>
        </p:nvSpPr>
        <p:spPr>
          <a:xfrm>
            <a:off x="7123176" y="3419856"/>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LangSmith</a:t>
            </a:r>
            <a:endParaRPr lang="en-US" sz="1100" dirty="0"/>
          </a:p>
        </p:txBody>
      </p:sp>
      <p:sp>
        <p:nvSpPr>
          <p:cNvPr id="20" name="Text 17"/>
          <p:cNvSpPr txBox="1"/>
          <p:nvPr/>
        </p:nvSpPr>
        <p:spPr>
          <a:xfrm>
            <a:off x="8531352" y="3429000"/>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x-api-key · Langsmith-Project</a:t>
            </a:r>
            <a:endParaRPr lang="en-US" sz="900" dirty="0"/>
          </a:p>
        </p:txBody>
      </p:sp>
      <p:sp>
        <p:nvSpPr>
          <p:cNvPr id="21" name="Shape 18"/>
          <p:cNvSpPr/>
          <p:nvPr/>
        </p:nvSpPr>
        <p:spPr>
          <a:xfrm>
            <a:off x="6903720" y="3822192"/>
            <a:ext cx="4647895" cy="438912"/>
          </a:xfrm>
          <a:prstGeom prst="roundRect">
            <a:avLst>
              <a:gd name="adj" fmla="val 12500"/>
            </a:avLst>
          </a:prstGeom>
          <a:solidFill>
            <a:srgbClr val="0E2470"/>
          </a:solidFill>
          <a:ln w="12700">
            <a:solidFill>
              <a:srgbClr val="0E2470"/>
            </a:solidFill>
            <a:prstDash val="solid"/>
          </a:ln>
        </p:spPr>
      </p:sp>
      <p:sp>
        <p:nvSpPr>
          <p:cNvPr id="22" name="Text 19"/>
          <p:cNvSpPr txBox="1"/>
          <p:nvPr/>
        </p:nvSpPr>
        <p:spPr>
          <a:xfrm>
            <a:off x="7123176" y="3931920"/>
            <a:ext cx="1371600" cy="237744"/>
          </a:xfrm>
          <a:prstGeom prst="rect">
            <a:avLst/>
          </a:prstGeom>
          <a:noFill/>
          <a:ln/>
        </p:spPr>
        <p:txBody>
          <a:bodyPr wrap="square" lIns="0" tIns="0" rIns="0" bIns="0" rtlCol="0" anchor="ctr"/>
          <a:lstStyle/>
          <a:p>
            <a:pPr indent="0" marL="0">
              <a:buNone/>
            </a:pPr>
            <a:r>
              <a:rPr lang="en-US" sz="1100" b="1" dirty="0">
                <a:solidFill>
                  <a:srgbClr val="FAF3E7"/>
                </a:solidFill>
                <a:latin typeface="Calibri" pitchFamily="34" charset="0"/>
                <a:ea typeface="Calibri" pitchFamily="34" charset="-122"/>
                <a:cs typeface="Calibri" pitchFamily="34" charset="-120"/>
              </a:rPr>
              <a:t>Any OTLP</a:t>
            </a:r>
            <a:endParaRPr lang="en-US" sz="1100" dirty="0"/>
          </a:p>
        </p:txBody>
      </p:sp>
      <p:sp>
        <p:nvSpPr>
          <p:cNvPr id="23" name="Text 20"/>
          <p:cNvSpPr txBox="1"/>
          <p:nvPr/>
        </p:nvSpPr>
        <p:spPr>
          <a:xfrm>
            <a:off x="8531352" y="3941064"/>
            <a:ext cx="2800807" cy="219456"/>
          </a:xfrm>
          <a:prstGeom prst="rect">
            <a:avLst/>
          </a:prstGeom>
          <a:noFill/>
          <a:ln/>
        </p:spPr>
        <p:txBody>
          <a:bodyPr wrap="square" lIns="0" tIns="0" rIns="0" bIns="0" rtlCol="0" anchor="ctr"/>
          <a:lstStyle/>
          <a:p>
            <a:pPr indent="0" marL="0">
              <a:buNone/>
            </a:pPr>
            <a:r>
              <a:rPr lang="en-US" sz="900" dirty="0">
                <a:solidFill>
                  <a:srgbClr val="E4DED3"/>
                </a:solidFill>
                <a:latin typeface="Calibri" pitchFamily="34" charset="0"/>
                <a:ea typeface="Calibri" pitchFamily="34" charset="-122"/>
                <a:cs typeface="Calibri" pitchFamily="34" charset="-120"/>
              </a:rPr>
              <a:t>headers verbatim · a collector or another vendor</a:t>
            </a:r>
            <a:endParaRPr lang="en-US" sz="900" dirty="0"/>
          </a:p>
        </p:txBody>
      </p:sp>
      <p:sp>
        <p:nvSpPr>
          <p:cNvPr id="24" name="Shape 21"/>
          <p:cNvSpPr/>
          <p:nvPr/>
        </p:nvSpPr>
        <p:spPr>
          <a:xfrm>
            <a:off x="640080" y="4370832"/>
            <a:ext cx="10911535" cy="914400"/>
          </a:xfrm>
          <a:prstGeom prst="roundRect">
            <a:avLst>
              <a:gd name="adj" fmla="val 6000"/>
            </a:avLst>
          </a:prstGeom>
          <a:solidFill>
            <a:srgbClr val="192954"/>
          </a:solidFill>
          <a:ln w="12700">
            <a:solidFill>
              <a:srgbClr val="192954"/>
            </a:solidFill>
            <a:prstDash val="solid"/>
          </a:ln>
        </p:spPr>
      </p:sp>
      <p:sp>
        <p:nvSpPr>
          <p:cNvPr id="25" name="Text 22"/>
          <p:cNvSpPr txBox="1"/>
          <p:nvPr/>
        </p:nvSpPr>
        <p:spPr>
          <a:xfrm>
            <a:off x="896112" y="4498848"/>
            <a:ext cx="10399471" cy="237744"/>
          </a:xfrm>
          <a:prstGeom prst="rect">
            <a:avLst/>
          </a:prstGeom>
          <a:noFill/>
          <a:ln/>
        </p:spPr>
        <p:txBody>
          <a:bodyPr wrap="square" lIns="0" tIns="0" rIns="0" bIns="0" rtlCol="0" anchor="ctr"/>
          <a:lstStyle/>
          <a:p>
            <a:pPr indent="0" marL="0">
              <a:buNone/>
            </a:pPr>
            <a:r>
              <a:rPr lang="en-US" sz="1150" b="1" dirty="0">
                <a:solidFill>
                  <a:srgbClr val="FAF3E7"/>
                </a:solidFill>
                <a:latin typeface="Calibri" pitchFamily="34" charset="0"/>
                <a:ea typeface="Calibri" pitchFamily="34" charset="-122"/>
                <a:cs typeface="Calibri" pitchFamily="34" charset="-120"/>
              </a:rPr>
              <a:t>What it exports is the ledger — not the agents' model calls</a:t>
            </a:r>
            <a:endParaRPr lang="en-US" sz="1150" dirty="0"/>
          </a:p>
        </p:txBody>
      </p:sp>
      <p:sp>
        <p:nvSpPr>
          <p:cNvPr id="26" name="Text 23"/>
          <p:cNvSpPr txBox="1"/>
          <p:nvPr/>
        </p:nvSpPr>
        <p:spPr>
          <a:xfrm>
            <a:off x="896112" y="4754880"/>
            <a:ext cx="10399471" cy="457200"/>
          </a:xfrm>
          <a:prstGeom prst="rect">
            <a:avLst/>
          </a:prstGeom>
          <a:noFill/>
          <a:ln/>
        </p:spPr>
        <p:txBody>
          <a:bodyPr wrap="square" lIns="0" tIns="0" rIns="0" bIns="0" rtlCol="0" anchor="ctr"/>
          <a:lstStyle/>
          <a:p>
            <a:pPr indent="0" marL="0">
              <a:lnSpc>
                <a:spcPct val="112000"/>
              </a:lnSpc>
              <a:buNone/>
            </a:pPr>
            <a:r>
              <a:rPr lang="en-US" sz="950" dirty="0">
                <a:solidFill>
                  <a:srgbClr val="E4DED3"/>
                </a:solidFill>
                <a:latin typeface="Calibri" pitchFamily="34" charset="0"/>
                <a:ea typeface="Calibri" pitchFamily="34" charset="-122"/>
                <a:cs typeface="Calibri" pitchFamily="34" charset="-120"/>
              </a:rPr>
              <a:t>Who recorded which gate, when, with what evidence, how long the change waited, how many times a gate was re-recorded. The CLI makes no model calls, so it has none to report — and claiming otherwise would be exactly the promise this framework's own skills exist to stop people making.</a:t>
            </a:r>
            <a:endParaRPr lang="en-US" sz="950" dirty="0"/>
          </a:p>
        </p:txBody>
      </p:sp>
      <p:sp>
        <p:nvSpPr>
          <p:cNvPr id="27" name="Shape 24"/>
          <p:cNvSpPr/>
          <p:nvPr/>
        </p:nvSpPr>
        <p:spPr>
          <a:xfrm>
            <a:off x="640080" y="5431536"/>
            <a:ext cx="10911535" cy="877824"/>
          </a:xfrm>
          <a:prstGeom prst="roundRect">
            <a:avLst>
              <a:gd name="adj" fmla="val 6250"/>
            </a:avLst>
          </a:prstGeom>
          <a:solidFill>
            <a:srgbClr val="0D131F"/>
          </a:solidFill>
          <a:ln w="12700">
            <a:solidFill>
              <a:srgbClr val="2A2F45"/>
            </a:solidFill>
            <a:prstDash val="solid"/>
          </a:ln>
        </p:spPr>
      </p:sp>
      <p:sp>
        <p:nvSpPr>
          <p:cNvPr id="28" name="Text 25"/>
          <p:cNvSpPr txBox="1"/>
          <p:nvPr/>
        </p:nvSpPr>
        <p:spPr>
          <a:xfrm>
            <a:off x="896112" y="5541264"/>
            <a:ext cx="10399471" cy="237744"/>
          </a:xfrm>
          <a:prstGeom prst="rect">
            <a:avLst/>
          </a:prstGeom>
          <a:noFill/>
          <a:ln/>
        </p:spPr>
        <p:txBody>
          <a:bodyPr wrap="square" lIns="0" tIns="0" rIns="0" bIns="0" rtlCol="0" anchor="ctr"/>
          <a:lstStyle/>
          <a:p>
            <a:pPr indent="0" marL="0">
              <a:buNone/>
            </a:pPr>
            <a:r>
              <a:rPr lang="en-US" sz="1100" b="1" dirty="0">
                <a:solidFill>
                  <a:srgbClr val="E08A72"/>
                </a:solidFill>
                <a:latin typeface="Calibri" pitchFamily="34" charset="0"/>
                <a:ea typeface="Calibri" pitchFamily="34" charset="-122"/>
                <a:cs typeface="Calibri" pitchFamily="34" charset="-120"/>
              </a:rPr>
              <a:t>The one way this can silently do nothing</a:t>
            </a:r>
            <a:endParaRPr lang="en-US" sz="1100" dirty="0"/>
          </a:p>
        </p:txBody>
      </p:sp>
      <p:sp>
        <p:nvSpPr>
          <p:cNvPr id="29" name="Text 26"/>
          <p:cNvSpPr txBox="1"/>
          <p:nvPr/>
        </p:nvSpPr>
        <p:spPr>
          <a:xfrm>
            <a:off x="896112" y="5797296"/>
            <a:ext cx="10399471" cy="457200"/>
          </a:xfrm>
          <a:prstGeom prst="rect">
            <a:avLst/>
          </a:prstGeom>
          <a:noFill/>
          <a:ln/>
        </p:spPr>
        <p:txBody>
          <a:bodyPr wrap="square" lIns="0" tIns="0" rIns="0" bIns="0" rtlCol="0" anchor="ctr"/>
          <a:lstStyle/>
          <a:p>
            <a:pPr indent="0" marL="0">
              <a:lnSpc>
                <a:spcPct val="112000"/>
              </a:lnSpc>
              <a:buNone/>
            </a:pPr>
            <a:r>
              <a:rPr lang="en-US" sz="900" dirty="0">
                <a:solidFill>
                  <a:srgbClr val="9BA2BA"/>
                </a:solidFill>
                <a:latin typeface="Calibri" pitchFamily="34" charset="0"/>
                <a:ea typeface="Calibri" pitchFamily="34" charset="-122"/>
                <a:cs typeface="Calibri" pitchFamily="34" charset="-120"/>
              </a:rPr>
              <a:t>llm.span.kind is AgentObs's own convention. It renders only the kinds it recognises; one it does not know is accepted, stored, and shown on no screen — with no error on either side. Probe it before trusting a dashboard. Credentials come from the environment only, are never printed, and never reach the local record of what was sent.</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51D6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777240"/>
            <a:ext cx="2103120" cy="290086"/>
          </a:xfrm>
          <a:prstGeom prst="rect">
            <a:avLst/>
          </a:prstGeom>
        </p:spPr>
      </p:pic>
      <p:sp>
        <p:nvSpPr>
          <p:cNvPr id="3" name="Text 0"/>
          <p:cNvSpPr txBox="1"/>
          <p:nvPr/>
        </p:nvSpPr>
        <p:spPr>
          <a:xfrm>
            <a:off x="640080" y="2011680"/>
            <a:ext cx="10424160" cy="731520"/>
          </a:xfrm>
          <a:prstGeom prst="rect">
            <a:avLst/>
          </a:prstGeom>
          <a:noFill/>
          <a:ln/>
        </p:spPr>
        <p:txBody>
          <a:bodyPr wrap="square" lIns="0" tIns="0" rIns="0" bIns="0" rtlCol="0" anchor="ctr"/>
          <a:lstStyle/>
          <a:p>
            <a:pPr indent="0" marL="0">
              <a:buNone/>
            </a:pPr>
            <a:r>
              <a:rPr lang="en-US" sz="4200" b="1" dirty="0">
                <a:solidFill>
                  <a:srgbClr val="FAF3E7"/>
                </a:solidFill>
                <a:latin typeface="Mulish" pitchFamily="34" charset="0"/>
                <a:ea typeface="Mulish" pitchFamily="34" charset="-122"/>
                <a:cs typeface="Mulish" pitchFamily="34" charset="-120"/>
              </a:rPr>
              <a:t>Agents hold the judgment.</a:t>
            </a:r>
            <a:endParaRPr lang="en-US" sz="4200" dirty="0"/>
          </a:p>
        </p:txBody>
      </p:sp>
      <p:sp>
        <p:nvSpPr>
          <p:cNvPr id="4" name="Text 1"/>
          <p:cNvSpPr txBox="1"/>
          <p:nvPr/>
        </p:nvSpPr>
        <p:spPr>
          <a:xfrm>
            <a:off x="640080" y="2743200"/>
            <a:ext cx="10424160" cy="731520"/>
          </a:xfrm>
          <a:prstGeom prst="rect">
            <a:avLst/>
          </a:prstGeom>
          <a:noFill/>
          <a:ln/>
        </p:spPr>
        <p:txBody>
          <a:bodyPr wrap="square" lIns="0" tIns="0" rIns="0" bIns="0" rtlCol="0" anchor="ctr"/>
          <a:lstStyle/>
          <a:p>
            <a:pPr indent="0" marL="0">
              <a:buNone/>
            </a:pPr>
            <a:r>
              <a:rPr lang="en-US" sz="4200" b="1" dirty="0">
                <a:solidFill>
                  <a:srgbClr val="E4DED3"/>
                </a:solidFill>
                <a:latin typeface="Mulish" pitchFamily="34" charset="0"/>
                <a:ea typeface="Mulish" pitchFamily="34" charset="-122"/>
                <a:cs typeface="Mulish" pitchFamily="34" charset="-120"/>
              </a:rPr>
              <a:t>Skills hold the rules.</a:t>
            </a:r>
            <a:endParaRPr lang="en-US" sz="4200" dirty="0"/>
          </a:p>
        </p:txBody>
      </p:sp>
      <p:sp>
        <p:nvSpPr>
          <p:cNvPr id="5" name="Text 2"/>
          <p:cNvSpPr txBox="1"/>
          <p:nvPr/>
        </p:nvSpPr>
        <p:spPr>
          <a:xfrm>
            <a:off x="640080" y="3703320"/>
            <a:ext cx="9692640" cy="457200"/>
          </a:xfrm>
          <a:prstGeom prst="rect">
            <a:avLst/>
          </a:prstGeom>
          <a:noFill/>
          <a:ln/>
        </p:spPr>
        <p:txBody>
          <a:bodyPr wrap="square" lIns="0" tIns="0" rIns="0" bIns="0" rtlCol="0" anchor="ctr"/>
          <a:lstStyle/>
          <a:p>
            <a:pPr indent="0" marL="0">
              <a:lnSpc>
                <a:spcPct val="115000"/>
              </a:lnSpc>
              <a:buNone/>
            </a:pPr>
            <a:r>
              <a:rPr lang="en-US" sz="1300" i="1" dirty="0">
                <a:solidFill>
                  <a:srgbClr val="9BA2BA"/>
                </a:solidFill>
                <a:latin typeface="Calibri" pitchFamily="34" charset="0"/>
                <a:ea typeface="Calibri" pitchFamily="34" charset="-122"/>
                <a:cs typeface="Calibri" pitchFamily="34" charset="-120"/>
              </a:rPr>
              <a:t>Delete every agent and the skills still fully specify how work is done. Delete every skill and the agents still specify what, why and when.</a:t>
            </a:r>
            <a:endParaRPr lang="en-US" sz="1300" dirty="0"/>
          </a:p>
        </p:txBody>
      </p:sp>
      <p:sp>
        <p:nvSpPr>
          <p:cNvPr id="6" name="Text 3"/>
          <p:cNvSpPr txBox="1"/>
          <p:nvPr/>
        </p:nvSpPr>
        <p:spPr>
          <a:xfrm>
            <a:off x="640080" y="4480560"/>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README.md</a:t>
            </a:r>
            <a:endParaRPr lang="en-US" sz="1150" dirty="0"/>
          </a:p>
        </p:txBody>
      </p:sp>
      <p:sp>
        <p:nvSpPr>
          <p:cNvPr id="7" name="Text 4"/>
          <p:cNvSpPr txBox="1"/>
          <p:nvPr/>
        </p:nvSpPr>
        <p:spPr>
          <a:xfrm>
            <a:off x="3108960" y="4498848"/>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clone to first proposal</a:t>
            </a:r>
            <a:endParaRPr lang="en-US" sz="1050" dirty="0"/>
          </a:p>
        </p:txBody>
      </p:sp>
      <p:sp>
        <p:nvSpPr>
          <p:cNvPr id="8" name="Text 5"/>
          <p:cNvSpPr txBox="1"/>
          <p:nvPr/>
        </p:nvSpPr>
        <p:spPr>
          <a:xfrm>
            <a:off x="6278728" y="4480560"/>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ADLC.md</a:t>
            </a:r>
            <a:endParaRPr lang="en-US" sz="1150" dirty="0"/>
          </a:p>
        </p:txBody>
      </p:sp>
      <p:sp>
        <p:nvSpPr>
          <p:cNvPr id="9" name="Text 6"/>
          <p:cNvSpPr txBox="1"/>
          <p:nvPr/>
        </p:nvSpPr>
        <p:spPr>
          <a:xfrm>
            <a:off x="8747608" y="4498848"/>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nine gates, four lanes, rework</a:t>
            </a:r>
            <a:endParaRPr lang="en-US" sz="1050" dirty="0"/>
          </a:p>
        </p:txBody>
      </p:sp>
      <p:sp>
        <p:nvSpPr>
          <p:cNvPr id="10" name="Text 7"/>
          <p:cNvSpPr txBox="1"/>
          <p:nvPr/>
        </p:nvSpPr>
        <p:spPr>
          <a:xfrm>
            <a:off x="640080" y="4974336"/>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SDD.md</a:t>
            </a:r>
            <a:endParaRPr lang="en-US" sz="1150" dirty="0"/>
          </a:p>
        </p:txBody>
      </p:sp>
      <p:sp>
        <p:nvSpPr>
          <p:cNvPr id="11" name="Text 8"/>
          <p:cNvSpPr txBox="1"/>
          <p:nvPr/>
        </p:nvSpPr>
        <p:spPr>
          <a:xfrm>
            <a:off x="3108960" y="4992624"/>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the ID chain, and what the validator really sees</a:t>
            </a:r>
            <a:endParaRPr lang="en-US" sz="1050" dirty="0"/>
          </a:p>
        </p:txBody>
      </p:sp>
      <p:sp>
        <p:nvSpPr>
          <p:cNvPr id="12" name="Text 9"/>
          <p:cNvSpPr txBox="1"/>
          <p:nvPr/>
        </p:nvSpPr>
        <p:spPr>
          <a:xfrm>
            <a:off x="6278728" y="4974336"/>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docs/WALKTHROUGH.md</a:t>
            </a:r>
            <a:endParaRPr lang="en-US" sz="1150" dirty="0"/>
          </a:p>
        </p:txBody>
      </p:sp>
      <p:sp>
        <p:nvSpPr>
          <p:cNvPr id="13" name="Text 10"/>
          <p:cNvSpPr txBox="1"/>
          <p:nvPr/>
        </p:nvSpPr>
        <p:spPr>
          <a:xfrm>
            <a:off x="8747608" y="4992624"/>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one change carried end to end</a:t>
            </a:r>
            <a:endParaRPr lang="en-US" sz="1050" dirty="0"/>
          </a:p>
        </p:txBody>
      </p:sp>
      <p:sp>
        <p:nvSpPr>
          <p:cNvPr id="14" name="Text 11"/>
          <p:cNvSpPr txBox="1"/>
          <p:nvPr/>
        </p:nvSpPr>
        <p:spPr>
          <a:xfrm>
            <a:off x="640080" y="5468112"/>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docs/CONCEPTS.md</a:t>
            </a:r>
            <a:endParaRPr lang="en-US" sz="1150" dirty="0"/>
          </a:p>
        </p:txBody>
      </p:sp>
      <p:sp>
        <p:nvSpPr>
          <p:cNvPr id="15" name="Text 12"/>
          <p:cNvSpPr txBox="1"/>
          <p:nvPr/>
        </p:nvSpPr>
        <p:spPr>
          <a:xfrm>
            <a:off x="3108960" y="5486400"/>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why the framework is shaped this way</a:t>
            </a:r>
            <a:endParaRPr lang="en-US" sz="1050" dirty="0"/>
          </a:p>
        </p:txBody>
      </p:sp>
      <p:sp>
        <p:nvSpPr>
          <p:cNvPr id="16" name="Text 13"/>
          <p:cNvSpPr txBox="1"/>
          <p:nvPr/>
        </p:nvSpPr>
        <p:spPr>
          <a:xfrm>
            <a:off x="6278728" y="5468112"/>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docs/CLI.md</a:t>
            </a:r>
            <a:endParaRPr lang="en-US" sz="1150" dirty="0"/>
          </a:p>
        </p:txBody>
      </p:sp>
      <p:sp>
        <p:nvSpPr>
          <p:cNvPr id="17" name="Text 14"/>
          <p:cNvSpPr txBox="1"/>
          <p:nvPr/>
        </p:nvSpPr>
        <p:spPr>
          <a:xfrm>
            <a:off x="8747608" y="5486400"/>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every verb, every rule, every known limitation</a:t>
            </a:r>
            <a:endParaRPr lang="en-US" sz="1050" dirty="0"/>
          </a:p>
        </p:txBody>
      </p:sp>
      <p:sp>
        <p:nvSpPr>
          <p:cNvPr id="18" name="Text 15"/>
          <p:cNvSpPr txBox="1"/>
          <p:nvPr/>
        </p:nvSpPr>
        <p:spPr>
          <a:xfrm>
            <a:off x="640080" y="5961888"/>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docs/TELEMETRY.md</a:t>
            </a:r>
            <a:endParaRPr lang="en-US" sz="1150" dirty="0"/>
          </a:p>
        </p:txBody>
      </p:sp>
      <p:sp>
        <p:nvSpPr>
          <p:cNvPr id="19" name="Text 16"/>
          <p:cNvSpPr txBox="1"/>
          <p:nvPr/>
        </p:nvSpPr>
        <p:spPr>
          <a:xfrm>
            <a:off x="3108960" y="5980176"/>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the span model and the silent-failure trap</a:t>
            </a:r>
            <a:endParaRPr lang="en-US" sz="1050" dirty="0"/>
          </a:p>
        </p:txBody>
      </p:sp>
      <p:sp>
        <p:nvSpPr>
          <p:cNvPr id="20" name="Text 17"/>
          <p:cNvSpPr txBox="1"/>
          <p:nvPr/>
        </p:nvSpPr>
        <p:spPr>
          <a:xfrm>
            <a:off x="6278728" y="5961888"/>
            <a:ext cx="2377440" cy="274320"/>
          </a:xfrm>
          <a:prstGeom prst="rect">
            <a:avLst/>
          </a:prstGeom>
          <a:noFill/>
          <a:ln/>
        </p:spPr>
        <p:txBody>
          <a:bodyPr wrap="square" lIns="0" tIns="0" rIns="0" bIns="0" rtlCol="0" anchor="ctr"/>
          <a:lstStyle/>
          <a:p>
            <a:pPr indent="0" marL="0">
              <a:buNone/>
            </a:pPr>
            <a:r>
              <a:rPr lang="en-US" sz="1150" b="1" dirty="0">
                <a:solidFill>
                  <a:srgbClr val="FAF3E7"/>
                </a:solidFill>
                <a:latin typeface="Consolas" pitchFamily="34" charset="0"/>
                <a:ea typeface="Consolas" pitchFamily="34" charset="-122"/>
                <a:cs typeface="Consolas" pitchFamily="34" charset="-120"/>
              </a:rPr>
              <a:t>config/mcp/README.md</a:t>
            </a:r>
            <a:endParaRPr lang="en-US" sz="1150" dirty="0"/>
          </a:p>
        </p:txBody>
      </p:sp>
      <p:sp>
        <p:nvSpPr>
          <p:cNvPr id="21" name="Text 18"/>
          <p:cNvSpPr txBox="1"/>
          <p:nvPr/>
        </p:nvSpPr>
        <p:spPr>
          <a:xfrm>
            <a:off x="8747608" y="5980176"/>
            <a:ext cx="2804008" cy="274320"/>
          </a:xfrm>
          <a:prstGeom prst="rect">
            <a:avLst/>
          </a:prstGeom>
          <a:noFill/>
          <a:ln/>
        </p:spPr>
        <p:txBody>
          <a:bodyPr wrap="square" lIns="0" tIns="0" rIns="0" bIns="0" rtlCol="0" anchor="ctr"/>
          <a:lstStyle/>
          <a:p>
            <a:pPr indent="0" marL="0">
              <a:buNone/>
            </a:pPr>
            <a:r>
              <a:rPr lang="en-US" sz="1050" dirty="0">
                <a:solidFill>
                  <a:srgbClr val="9BA2BA"/>
                </a:solidFill>
                <a:latin typeface="Calibri" pitchFamily="34" charset="0"/>
                <a:ea typeface="Calibri" pitchFamily="34" charset="-122"/>
                <a:cs typeface="Calibri" pitchFamily="34" charset="-120"/>
              </a:rPr>
              <a:t>connecting Jira, ADO and Confluence</a:t>
            </a:r>
            <a:endParaRPr lang="en-US" sz="1050" dirty="0"/>
          </a:p>
        </p:txBody>
      </p:sp>
      <p:sp>
        <p:nvSpPr>
          <p:cNvPr id="22" name="Text 19"/>
          <p:cNvSpPr txBox="1"/>
          <p:nvPr/>
        </p:nvSpPr>
        <p:spPr>
          <a:xfrm>
            <a:off x="640080" y="6364224"/>
            <a:ext cx="7315200" cy="219456"/>
          </a:xfrm>
          <a:prstGeom prst="rect">
            <a:avLst/>
          </a:prstGeom>
          <a:noFill/>
          <a:ln/>
        </p:spPr>
        <p:txBody>
          <a:bodyPr wrap="square" lIns="0" tIns="0" rIns="0" bIns="0" rtlCol="0" anchor="ctr"/>
          <a:lstStyle/>
          <a:p>
            <a:pPr indent="0" marL="0">
              <a:buNone/>
            </a:pPr>
            <a:r>
              <a:rPr lang="en-US" sz="900" dirty="0">
                <a:solidFill>
                  <a:srgbClr val="6E7591"/>
                </a:solidFill>
                <a:latin typeface="Calibri" pitchFamily="34" charset="0"/>
                <a:ea typeface="Calibri" pitchFamily="34" charset="-122"/>
                <a:cs typeface="Calibri" pitchFamily="34" charset="-120"/>
              </a:rPr>
              <a:t>navi-delivery v0.1.0  ·  owner avinash.negi@navikenz.com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Navikenz</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navi-delivery — delivery framework overview</dc:title>
  <dc:subject>PptxGenJS Presentation</dc:subject>
  <dc:creator>Navikenz</dc:creator>
  <cp:lastModifiedBy>Navikenz</cp:lastModifiedBy>
  <cp:revision>1</cp:revision>
  <dcterms:created xsi:type="dcterms:W3CDTF">2026-10-01T05:34:59Z</dcterms:created>
  <dcterms:modified xsi:type="dcterms:W3CDTF">2026-10-01T05:34:59Z</dcterms:modified>
</cp:coreProperties>
</file>