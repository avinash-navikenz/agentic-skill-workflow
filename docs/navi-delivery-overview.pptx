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navi-delivery is built and shipped, not a design. Counts verified from the repo: 11 agents, 39 skills across 12 disciplines, 9 phases and gates, 4 lanes, a 7-verb CLI.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framing comes from docs/CONCEPTS.md §1.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falsifiable test: delete every agent and the skills still fully specify how work is done; delete every skill and the agents still specify what, why and when.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Re-recording appends a new event carrying `previous`. History is appended, never overwritten: six months later the log still says G6 failed once, on what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1D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58368"/>
            <a:ext cx="2103120" cy="29008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78308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AF3E7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navi-delivery</a:t>
            </a:r>
            <a:endParaRPr lang="en-US" sz="5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2743200"/>
            <a:ext cx="9509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agentic SDLC framework — Plan to Monitor, in any harness.</a:t>
            </a:r>
            <a:endParaRPr lang="en-US" sz="19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24612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BA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hold the judgment.   Skills hold the rules.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640080" y="4160520"/>
            <a:ext cx="3417722" cy="1572768"/>
          </a:xfrm>
          <a:prstGeom prst="roundRect">
            <a:avLst>
              <a:gd name="adj" fmla="val 3488"/>
            </a:avLst>
          </a:prstGeom>
          <a:solidFill>
            <a:srgbClr val="192954"/>
          </a:solidFill>
          <a:ln w="12700">
            <a:solidFill>
              <a:srgbClr val="19295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14400" y="4334256"/>
            <a:ext cx="28690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AF3E7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11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4956048"/>
            <a:ext cx="28690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agents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230368"/>
            <a:ext cx="28690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A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discipline, plus an orchestrator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386986" y="4160520"/>
            <a:ext cx="3417722" cy="1572768"/>
          </a:xfrm>
          <a:prstGeom prst="roundRect">
            <a:avLst>
              <a:gd name="adj" fmla="val 3488"/>
            </a:avLst>
          </a:prstGeom>
          <a:solidFill>
            <a:srgbClr val="192954"/>
          </a:solidFill>
          <a:ln w="12700">
            <a:solidFill>
              <a:srgbClr val="19295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61306" y="4334256"/>
            <a:ext cx="28690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AF3E7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39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4661306" y="4956048"/>
            <a:ext cx="28690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· 12 disciplines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4661306" y="5230368"/>
            <a:ext cx="28690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A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standards, tables, templates, validators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8133893" y="4160520"/>
            <a:ext cx="3417722" cy="1572768"/>
          </a:xfrm>
          <a:prstGeom prst="roundRect">
            <a:avLst>
              <a:gd name="adj" fmla="val 3488"/>
            </a:avLst>
          </a:prstGeom>
          <a:solidFill>
            <a:srgbClr val="192954"/>
          </a:solidFill>
          <a:ln w="12700">
            <a:solidFill>
              <a:srgbClr val="19295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08213" y="4334256"/>
            <a:ext cx="28690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AF3E7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9 / 9 / 4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8408213" y="4956048"/>
            <a:ext cx="28690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· gates · lanes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8408213" y="5230368"/>
            <a:ext cx="28690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A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proportionality, so nobody routes around it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634593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0.1.0  ·  owner avinash.negi@navikenz.com  ·  internal adoption briefing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AI helps with the code. It does not help with the lifecycle.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80160"/>
            <a:ext cx="10911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 assistants land in the middle of delivery and leave both ends untouched. Three things then go wrong, every time.</a:t>
            </a:r>
            <a:endParaRPr lang="en-US" sz="13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7215" y="6382512"/>
            <a:ext cx="914400" cy="1261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36422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navi-delivery  ·  v0.1.0  ·  2 / 17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640080" y="1810512"/>
            <a:ext cx="10911535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32688" y="2048256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B9AE9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1</a:t>
            </a:r>
            <a:endParaRPr lang="en-US" sz="3800" dirty="0"/>
          </a:p>
        </p:txBody>
      </p:sp>
      <p:sp>
        <p:nvSpPr>
          <p:cNvPr id="9" name="Text 6"/>
          <p:cNvSpPr txBox="1"/>
          <p:nvPr/>
        </p:nvSpPr>
        <p:spPr>
          <a:xfrm>
            <a:off x="1719072" y="2029968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Judgment is re-invented at every prompt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719072" y="2377440"/>
            <a:ext cx="94484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session re-derives what a Business Analyst or an Architect already knows. The reasoning is produced, used once and thrown away. Nothing accumulates between changes, so the tenth change costs what the first one did.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40080" y="3200400"/>
            <a:ext cx="10911535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32688" y="3438144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B9AE9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2</a:t>
            </a:r>
            <a:endParaRPr lang="en-US" sz="3800" dirty="0"/>
          </a:p>
        </p:txBody>
      </p:sp>
      <p:sp>
        <p:nvSpPr>
          <p:cNvPr id="13" name="Text 10"/>
          <p:cNvSpPr txBox="1"/>
          <p:nvPr/>
        </p:nvSpPr>
        <p:spPr>
          <a:xfrm>
            <a:off x="1719072" y="3419856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Standards live in people's heads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719072" y="3767328"/>
            <a:ext cx="94484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in a wiki detached from the moment the work happens. A convention that is not attached to the artifact being written is a convention that will be missed, and the review that catches it is the most expensive place to catch it.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40080" y="4590288"/>
            <a:ext cx="10911535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32688" y="4828032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B9AE9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3</a:t>
            </a:r>
            <a:endParaRPr lang="en-US" sz="3800" dirty="0"/>
          </a:p>
        </p:txBody>
      </p:sp>
      <p:sp>
        <p:nvSpPr>
          <p:cNvPr id="17" name="Text 14"/>
          <p:cNvSpPr txBox="1"/>
          <p:nvPr/>
        </p:nvSpPr>
        <p:spPr>
          <a:xfrm>
            <a:off x="1719072" y="4809744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The loop never closes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719072" y="5157216"/>
            <a:ext cx="94484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incident rarely changes the standard that allowed it. The postmortem is written, filed, and read by nobody, so the same defect returns under a different name six months later.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598932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response is to separate the two things that keep getting fused — and then to make the separation mechanical, so it survives contact with a deadline.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One framework, dropped into any repo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80160"/>
            <a:ext cx="10911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once. It scaffolds a delivery/ tree into the repo you actually work in, and records what happened at every gate.</a:t>
            </a:r>
            <a:endParaRPr lang="en-US" sz="13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7215" y="6382512"/>
            <a:ext cx="914400" cy="1261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36422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navi-delivery  ·  v0.1.0  ·  3 / 17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640080" y="1828800"/>
            <a:ext cx="3429914" cy="3337560"/>
          </a:xfrm>
          <a:prstGeom prst="roundRect">
            <a:avLst>
              <a:gd name="adj" fmla="val 1644"/>
            </a:avLst>
          </a:prstGeom>
          <a:solidFill>
            <a:srgbClr val="FFFFFF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14400" y="2029968"/>
            <a:ext cx="288127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11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2615184"/>
            <a:ext cx="28812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Agents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2926080"/>
            <a:ext cx="28812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THINKING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3255264"/>
            <a:ext cx="288127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and accountability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mental model of the discipline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weigh trade-offs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escalate to a human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skill to reach for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380890" y="1828800"/>
            <a:ext cx="3429914" cy="3337560"/>
          </a:xfrm>
          <a:prstGeom prst="roundRect">
            <a:avLst>
              <a:gd name="adj" fmla="val 1644"/>
            </a:avLst>
          </a:prstGeom>
          <a:solidFill>
            <a:srgbClr val="051D60"/>
          </a:solidFill>
          <a:ln w="12700">
            <a:solidFill>
              <a:srgbClr val="051D6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655210" y="2029968"/>
            <a:ext cx="288127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F3E7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39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4655210" y="2615184"/>
            <a:ext cx="28812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AF3E7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Skills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4655210" y="2926080"/>
            <a:ext cx="28812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A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RULES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4655210" y="3255264"/>
            <a:ext cx="288127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and conventions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tables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Copy-ready templates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Self-check checklists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mechanical Validation block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121701" y="1828800"/>
            <a:ext cx="3429914" cy="3337560"/>
          </a:xfrm>
          <a:prstGeom prst="roundRect">
            <a:avLst>
              <a:gd name="adj" fmla="val 1644"/>
            </a:avLst>
          </a:prstGeom>
          <a:solidFill>
            <a:srgbClr val="FFFFFF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396021" y="2029968"/>
            <a:ext cx="288127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9·9·4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8396021" y="2615184"/>
            <a:ext cx="28812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Lifecycle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8396021" y="2926080"/>
            <a:ext cx="28812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SPINE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8396021" y="3255264"/>
            <a:ext cx="288127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ADLC phases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binding gates, evidence required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lanes for proportionality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 → … → INSIGHT traceability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that survives the session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40080" y="5376672"/>
            <a:ext cx="10911535" cy="749808"/>
          </a:xfrm>
          <a:prstGeom prst="roundRect">
            <a:avLst>
              <a:gd name="adj" fmla="val 7317"/>
            </a:avLst>
          </a:prstGeom>
          <a:solidFill>
            <a:srgbClr val="F1E9DA"/>
          </a:solidFill>
          <a:ln w="12700">
            <a:solidFill>
              <a:srgbClr val="F1E9D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50976" y="5541264"/>
            <a:ext cx="1028974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Claude Code today, and in a bare chat window with no plugin support at all — every agent capability declares a mandatory fallback.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51D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BA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 · THE SEPARATION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AF3E7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Judgment invokes rules. It never improvises them.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80160"/>
            <a:ext cx="10911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BA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may not produce a lifecycle artifact from memory. It loads the governing skill, follows it, and records which skills it used.</a:t>
            </a:r>
            <a:endParaRPr lang="en-US" sz="13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7215" y="6382512"/>
            <a:ext cx="914400" cy="1261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36422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5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navi-delivery  ·  v0.1.0  ·  4 / 17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640080" y="1965960"/>
            <a:ext cx="4434840" cy="2743200"/>
          </a:xfrm>
          <a:prstGeom prst="roundRect">
            <a:avLst>
              <a:gd name="adj" fmla="val 2000"/>
            </a:avLst>
          </a:prstGeom>
          <a:solidFill>
            <a:srgbClr val="0E2470"/>
          </a:solidFill>
          <a:ln w="12700">
            <a:solidFill>
              <a:srgbClr val="0E247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32688" y="2203704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AF3E7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AGENT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932688" y="25511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BA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· why · when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932688" y="2880360"/>
            <a:ext cx="384962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and accountability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mental model of the discipline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weigh a trade-off, and why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'good' looks like here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stop and escalate to a human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plan for which skills to invoke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932688" y="4343400"/>
            <a:ext cx="3849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A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Voice: first person, persona.   File: agents/navi-agent-&lt;persona&gt;/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7116775" y="1965960"/>
            <a:ext cx="4434840" cy="2743200"/>
          </a:xfrm>
          <a:prstGeom prst="roundRect">
            <a:avLst>
              <a:gd name="adj" fmla="val 2000"/>
            </a:avLst>
          </a:prstGeom>
          <a:solidFill>
            <a:srgbClr val="132C79"/>
          </a:solidFill>
          <a:ln w="12700">
            <a:solidFill>
              <a:srgbClr val="132C7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409383" y="2203704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AF3E7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SKILL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7409383" y="25511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BA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7409383" y="2880360"/>
            <a:ext cx="384962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and conventions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table for the hard calls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copy-ready template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self-check checklist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anti-patterns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mechanical Validation block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7409383" y="4343400"/>
            <a:ext cx="3849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A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Voice: impersonal, imperative.   File: skills/&lt;discipline&gt;/navi-skill-&lt;name&gt;/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276088" y="2990088"/>
            <a:ext cx="1639519" cy="0"/>
          </a:xfrm>
          <a:prstGeom prst="line">
            <a:avLst/>
          </a:prstGeom>
          <a:noFill/>
          <a:ln w="28575">
            <a:solidFill>
              <a:srgbClr val="FAF3E7"/>
            </a:solidFill>
            <a:prstDash val="solid"/>
            <a:headEnd type="none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5074920" y="2606040"/>
            <a:ext cx="2041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A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5074920" y="3136392"/>
            <a:ext cx="2041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BA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improvises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 flipH="1">
            <a:off x="5276088" y="4087368"/>
            <a:ext cx="1639519" cy="0"/>
          </a:xfrm>
          <a:prstGeom prst="line">
            <a:avLst/>
          </a:prstGeom>
          <a:noFill/>
          <a:ln w="20320">
            <a:solidFill>
              <a:srgbClr val="E4DED3"/>
            </a:solidFill>
            <a:prstDash val="solid"/>
            <a:headEnd type="none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5074920" y="3557016"/>
            <a:ext cx="20418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which skills it used,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074920" y="3776472"/>
            <a:ext cx="20418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handoff envelope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40080" y="5029200"/>
            <a:ext cx="10911535" cy="1097280"/>
          </a:xfrm>
          <a:prstGeom prst="roundRect">
            <a:avLst>
              <a:gd name="adj" fmla="val 5000"/>
            </a:avLst>
          </a:prstGeom>
          <a:solidFill>
            <a:srgbClr val="192954"/>
          </a:solidFill>
          <a:ln w="12700">
            <a:solidFill>
              <a:srgbClr val="192954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32688" y="5175504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A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Enforced, not aspirational — scripts/lint_separation.py fails the build on: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932688" y="5522976"/>
            <a:ext cx="23987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A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SEP1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932688" y="5742432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A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numbered procedure inside an agent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3514268" y="5522976"/>
            <a:ext cx="23987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A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SEP2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3514268" y="5742432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A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Template or Checklist inside an agent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6095848" y="5522976"/>
            <a:ext cx="23987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A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SEP3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095848" y="5742432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A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voice inside a skill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8677427" y="5522976"/>
            <a:ext cx="23987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A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SEP4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677427" y="5742432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A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person inside a skill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One persona per discipline, plus a delivery lead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80160"/>
            <a:ext cx="10911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carries a mission, a mental model, its escalation triggers, and the phases and gates it owns.</a:t>
            </a:r>
            <a:endParaRPr lang="en-US" sz="13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7215" y="6382512"/>
            <a:ext cx="914400" cy="1261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36422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navi-delivery  ·  v0.1.0  ·  5 / 17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640080" y="1828800"/>
            <a:ext cx="10911535" cy="841248"/>
          </a:xfrm>
          <a:prstGeom prst="roundRect">
            <a:avLst>
              <a:gd name="adj" fmla="val 6522"/>
            </a:avLst>
          </a:prstGeom>
          <a:solidFill>
            <a:srgbClr val="051D60"/>
          </a:solidFill>
          <a:ln w="12700">
            <a:solidFill>
              <a:srgbClr val="051D6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50976" y="19933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AF3E7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navi-agent-orchestrator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950976" y="2286000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lead — lane selection, gate enforcement, rework ordering, arbitration between personas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814255" y="2103120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AF3E7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Phases 1–9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40080" y="2852928"/>
            <a:ext cx="2006742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1248" y="3035808"/>
            <a:ext cx="16044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Product Owner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41248" y="3474720"/>
            <a:ext cx="16044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9A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9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841248" y="3694176"/>
            <a:ext cx="16044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it worth making, and did it move the measure?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866278" y="2852928"/>
            <a:ext cx="2006742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067446" y="3035808"/>
            <a:ext cx="16044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Business Analyst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3067446" y="3474720"/>
            <a:ext cx="16044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9A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3067446" y="3694176"/>
            <a:ext cx="16044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Ambiguity out; testable criteria in.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92476" y="2852928"/>
            <a:ext cx="2006742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293644" y="3035808"/>
            <a:ext cx="16044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Architect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5293644" y="3474720"/>
            <a:ext cx="16044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9A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9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5293644" y="3694176"/>
            <a:ext cx="16044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Boundaries, quality attributes, what debt we accept.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7318675" y="2852928"/>
            <a:ext cx="2006742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519843" y="3035808"/>
            <a:ext cx="16044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Security Engineer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7519843" y="3474720"/>
            <a:ext cx="16044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9A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6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7519843" y="3694176"/>
            <a:ext cx="16044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boundaries, threat model, what we can live with.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9544873" y="2852928"/>
            <a:ext cx="2006742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746041" y="3035808"/>
            <a:ext cx="16044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Fullstack Developer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9746041" y="3474720"/>
            <a:ext cx="16044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9A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9746041" y="3694176"/>
            <a:ext cx="16044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Decomposition, contracts, seams, what to refactor.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640080" y="4462272"/>
            <a:ext cx="2006742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41248" y="4645152"/>
            <a:ext cx="16044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Data Engineer</a:t>
            </a:r>
            <a:endParaRPr lang="en-US" sz="1250" dirty="0"/>
          </a:p>
        </p:txBody>
      </p:sp>
      <p:sp>
        <p:nvSpPr>
          <p:cNvPr id="33" name="Text 30"/>
          <p:cNvSpPr txBox="1"/>
          <p:nvPr/>
        </p:nvSpPr>
        <p:spPr>
          <a:xfrm>
            <a:off x="841248" y="5084064"/>
            <a:ext cx="16044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9A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5</a:t>
            </a:r>
            <a:endParaRPr lang="en-US" sz="850" dirty="0"/>
          </a:p>
        </p:txBody>
      </p:sp>
      <p:sp>
        <p:nvSpPr>
          <p:cNvPr id="34" name="Text 31"/>
          <p:cNvSpPr txBox="1"/>
          <p:nvPr/>
        </p:nvSpPr>
        <p:spPr>
          <a:xfrm>
            <a:off x="841248" y="5303520"/>
            <a:ext cx="16044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Lineage, schema evolution, idempotency, contracts.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2866278" y="4462272"/>
            <a:ext cx="2006742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067446" y="4645152"/>
            <a:ext cx="16044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ML Engineer</a:t>
            </a:r>
            <a:endParaRPr lang="en-US" sz="1250" dirty="0"/>
          </a:p>
        </p:txBody>
      </p:sp>
      <p:sp>
        <p:nvSpPr>
          <p:cNvPr id="37" name="Text 34"/>
          <p:cNvSpPr txBox="1"/>
          <p:nvPr/>
        </p:nvSpPr>
        <p:spPr>
          <a:xfrm>
            <a:off x="3067446" y="5084064"/>
            <a:ext cx="16044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9A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5</a:t>
            </a:r>
            <a:endParaRPr lang="en-US" sz="850" dirty="0"/>
          </a:p>
        </p:txBody>
      </p:sp>
      <p:sp>
        <p:nvSpPr>
          <p:cNvPr id="38" name="Text 35"/>
          <p:cNvSpPr txBox="1"/>
          <p:nvPr/>
        </p:nvSpPr>
        <p:spPr>
          <a:xfrm>
            <a:off x="3067446" y="5303520"/>
            <a:ext cx="16044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ML warranted? Baseline, leakage, where it fails.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5092476" y="4462272"/>
            <a:ext cx="2006742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293644" y="4645152"/>
            <a:ext cx="16044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MLOps Engineer</a:t>
            </a:r>
            <a:endParaRPr lang="en-US" sz="1250" dirty="0"/>
          </a:p>
        </p:txBody>
      </p:sp>
      <p:sp>
        <p:nvSpPr>
          <p:cNvPr id="41" name="Text 38"/>
          <p:cNvSpPr txBox="1"/>
          <p:nvPr/>
        </p:nvSpPr>
        <p:spPr>
          <a:xfrm>
            <a:off x="5293644" y="5084064"/>
            <a:ext cx="16044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9A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7 · 8</a:t>
            </a:r>
            <a:endParaRPr lang="en-US" sz="850" dirty="0"/>
          </a:p>
        </p:txBody>
      </p:sp>
      <p:sp>
        <p:nvSpPr>
          <p:cNvPr id="42" name="Text 39"/>
          <p:cNvSpPr txBox="1"/>
          <p:nvPr/>
        </p:nvSpPr>
        <p:spPr>
          <a:xfrm>
            <a:off x="5293644" y="5303520"/>
            <a:ext cx="16044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 criteria, drift and decay, model rollback.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7318675" y="4462272"/>
            <a:ext cx="2006742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519843" y="4645152"/>
            <a:ext cx="16044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DevOps Engineer</a:t>
            </a:r>
            <a:endParaRPr lang="en-US" sz="1250" dirty="0"/>
          </a:p>
        </p:txBody>
      </p:sp>
      <p:sp>
        <p:nvSpPr>
          <p:cNvPr id="45" name="Text 42"/>
          <p:cNvSpPr txBox="1"/>
          <p:nvPr/>
        </p:nvSpPr>
        <p:spPr>
          <a:xfrm>
            <a:off x="7519843" y="5084064"/>
            <a:ext cx="16044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9A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7 · 8</a:t>
            </a:r>
            <a:endParaRPr lang="en-US" sz="850" dirty="0"/>
          </a:p>
        </p:txBody>
      </p:sp>
      <p:sp>
        <p:nvSpPr>
          <p:cNvPr id="46" name="Text 43"/>
          <p:cNvSpPr txBox="1"/>
          <p:nvPr/>
        </p:nvSpPr>
        <p:spPr>
          <a:xfrm>
            <a:off x="7519843" y="5303520"/>
            <a:ext cx="16044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Blast radius, environment parity, SLOs, secrets.</a:t>
            </a:r>
            <a:endParaRPr lang="en-US" sz="950" dirty="0"/>
          </a:p>
        </p:txBody>
      </p:sp>
      <p:sp>
        <p:nvSpPr>
          <p:cNvPr id="47" name="Shape 44"/>
          <p:cNvSpPr/>
          <p:nvPr/>
        </p:nvSpPr>
        <p:spPr>
          <a:xfrm>
            <a:off x="9544873" y="4462272"/>
            <a:ext cx="2006742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9746041" y="4645152"/>
            <a:ext cx="16044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QA Engineer</a:t>
            </a:r>
            <a:endParaRPr lang="en-US" sz="1250" dirty="0"/>
          </a:p>
        </p:txBody>
      </p:sp>
      <p:sp>
        <p:nvSpPr>
          <p:cNvPr id="49" name="Text 46"/>
          <p:cNvSpPr txBox="1"/>
          <p:nvPr/>
        </p:nvSpPr>
        <p:spPr>
          <a:xfrm>
            <a:off x="9746041" y="5084064"/>
            <a:ext cx="16044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9A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</a:t>
            </a:r>
            <a:endParaRPr lang="en-US" sz="850" dirty="0"/>
          </a:p>
        </p:txBody>
      </p:sp>
      <p:sp>
        <p:nvSpPr>
          <p:cNvPr id="50" name="Text 47"/>
          <p:cNvSpPr txBox="1"/>
          <p:nvPr/>
        </p:nvSpPr>
        <p:spPr>
          <a:xfrm>
            <a:off x="9746041" y="5303520"/>
            <a:ext cx="16044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Risk-based coverage, flakiness, the release call.</a:t>
            </a:r>
            <a:endParaRPr lang="en-US" sz="950" dirty="0"/>
          </a:p>
        </p:txBody>
      </p:sp>
      <p:sp>
        <p:nvSpPr>
          <p:cNvPr id="51" name="Text 48"/>
          <p:cNvSpPr txBox="1"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declares the skills it may invoke, and validate_manifests.py refuses a name that does not resolve.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THIRTY-NINE SKILLS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Twelve disciplines, and every skill the same shape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80160"/>
            <a:ext cx="10911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skill is not prose. It is a standard, a decision table, a template you can copy, a checklist, named anti-patterns, and a check a machine can run.</a:t>
            </a:r>
            <a:endParaRPr lang="en-US" sz="13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7215" y="6382512"/>
            <a:ext cx="914400" cy="1261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36422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navi-delivery  ·  v0.1.0  ·  6 / 17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90195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lifecycle-method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3063240" y="1947672"/>
            <a:ext cx="2346808" cy="201168"/>
          </a:xfrm>
          <a:prstGeom prst="roundRect">
            <a:avLst>
              <a:gd name="adj" fmla="val 18182"/>
            </a:avLst>
          </a:prstGeom>
          <a:solidFill>
            <a:srgbClr val="E4DED3"/>
          </a:solidFill>
          <a:ln w="12700">
            <a:solidFill>
              <a:srgbClr val="E4DED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063240" y="1947672"/>
            <a:ext cx="2346808" cy="201168"/>
          </a:xfrm>
          <a:prstGeom prst="roundRect">
            <a:avLst>
              <a:gd name="adj" fmla="val 18182"/>
            </a:avLst>
          </a:prstGeom>
          <a:solidFill>
            <a:srgbClr val="051D60"/>
          </a:solidFill>
          <a:ln w="12700">
            <a:solidFill>
              <a:srgbClr val="051D6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519776" y="1901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6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35915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software-development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063240" y="2404872"/>
            <a:ext cx="2346808" cy="201168"/>
          </a:xfrm>
          <a:prstGeom prst="roundRect">
            <a:avLst>
              <a:gd name="adj" fmla="val 18182"/>
            </a:avLst>
          </a:prstGeom>
          <a:solidFill>
            <a:srgbClr val="E4DED3"/>
          </a:solidFill>
          <a:ln w="12700">
            <a:solidFill>
              <a:srgbClr val="E4DED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063240" y="2404872"/>
            <a:ext cx="1955673" cy="201168"/>
          </a:xfrm>
          <a:prstGeom prst="roundRect">
            <a:avLst>
              <a:gd name="adj" fmla="val 18182"/>
            </a:avLst>
          </a:prstGeom>
          <a:solidFill>
            <a:srgbClr val="051D60"/>
          </a:solidFill>
          <a:ln w="12700">
            <a:solidFill>
              <a:srgbClr val="051D6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519776" y="23591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5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281635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3063240" y="2862072"/>
            <a:ext cx="2346808" cy="201168"/>
          </a:xfrm>
          <a:prstGeom prst="roundRect">
            <a:avLst>
              <a:gd name="adj" fmla="val 18182"/>
            </a:avLst>
          </a:prstGeom>
          <a:solidFill>
            <a:srgbClr val="E4DED3"/>
          </a:solidFill>
          <a:ln w="12700">
            <a:solidFill>
              <a:srgbClr val="E4DED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063240" y="2862072"/>
            <a:ext cx="1564538" cy="201168"/>
          </a:xfrm>
          <a:prstGeom prst="roundRect">
            <a:avLst>
              <a:gd name="adj" fmla="val 18182"/>
            </a:avLst>
          </a:prstGeom>
          <a:solidFill>
            <a:srgbClr val="051D60"/>
          </a:solidFill>
          <a:ln w="12700">
            <a:solidFill>
              <a:srgbClr val="051D6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519776" y="28163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4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327355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platform-devops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3063240" y="3319272"/>
            <a:ext cx="2346808" cy="201168"/>
          </a:xfrm>
          <a:prstGeom prst="roundRect">
            <a:avLst>
              <a:gd name="adj" fmla="val 18182"/>
            </a:avLst>
          </a:prstGeom>
          <a:solidFill>
            <a:srgbClr val="E4DED3"/>
          </a:solidFill>
          <a:ln w="12700">
            <a:solidFill>
              <a:srgbClr val="E4DED3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063240" y="3319272"/>
            <a:ext cx="1564538" cy="201168"/>
          </a:xfrm>
          <a:prstGeom prst="roundRect">
            <a:avLst>
              <a:gd name="adj" fmla="val 18182"/>
            </a:avLst>
          </a:prstGeom>
          <a:solidFill>
            <a:srgbClr val="051D60"/>
          </a:solidFill>
          <a:ln w="12700">
            <a:solidFill>
              <a:srgbClr val="051D6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519776" y="32735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640080" y="373075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spec-driven-development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3063240" y="3776472"/>
            <a:ext cx="2346808" cy="201168"/>
          </a:xfrm>
          <a:prstGeom prst="roundRect">
            <a:avLst>
              <a:gd name="adj" fmla="val 18182"/>
            </a:avLst>
          </a:prstGeom>
          <a:solidFill>
            <a:srgbClr val="E4DED3"/>
          </a:solidFill>
          <a:ln w="12700">
            <a:solidFill>
              <a:srgbClr val="E4DED3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063240" y="3776472"/>
            <a:ext cx="1564538" cy="201168"/>
          </a:xfrm>
          <a:prstGeom prst="roundRect">
            <a:avLst>
              <a:gd name="adj" fmla="val 18182"/>
            </a:avLst>
          </a:prstGeom>
          <a:solidFill>
            <a:srgbClr val="051D60"/>
          </a:solidFill>
          <a:ln w="12700">
            <a:solidFill>
              <a:srgbClr val="051D6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519776" y="37307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4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640080" y="418795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data-engineering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3063240" y="4233672"/>
            <a:ext cx="2346808" cy="201168"/>
          </a:xfrm>
          <a:prstGeom prst="roundRect">
            <a:avLst>
              <a:gd name="adj" fmla="val 18182"/>
            </a:avLst>
          </a:prstGeom>
          <a:solidFill>
            <a:srgbClr val="E4DED3"/>
          </a:solidFill>
          <a:ln w="12700">
            <a:solidFill>
              <a:srgbClr val="E4DED3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063240" y="4233672"/>
            <a:ext cx="1173404" cy="201168"/>
          </a:xfrm>
          <a:prstGeom prst="roundRect">
            <a:avLst>
              <a:gd name="adj" fmla="val 18182"/>
            </a:avLst>
          </a:prstGeom>
          <a:solidFill>
            <a:srgbClr val="051D60"/>
          </a:solidFill>
          <a:ln w="12700">
            <a:solidFill>
              <a:srgbClr val="051D6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519776" y="4187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3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6324448" y="190195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machine-learning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8747608" y="1947672"/>
            <a:ext cx="2346808" cy="201168"/>
          </a:xfrm>
          <a:prstGeom prst="roundRect">
            <a:avLst>
              <a:gd name="adj" fmla="val 18182"/>
            </a:avLst>
          </a:prstGeom>
          <a:solidFill>
            <a:srgbClr val="E4DED3"/>
          </a:solidFill>
          <a:ln w="12700">
            <a:solidFill>
              <a:srgbClr val="E4DED3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747608" y="1947672"/>
            <a:ext cx="1173404" cy="201168"/>
          </a:xfrm>
          <a:prstGeom prst="roundRect">
            <a:avLst>
              <a:gd name="adj" fmla="val 18182"/>
            </a:avLst>
          </a:prstGeom>
          <a:solidFill>
            <a:srgbClr val="051D60"/>
          </a:solidFill>
          <a:ln w="12700">
            <a:solidFill>
              <a:srgbClr val="051D60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1204143" y="1901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3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6324448" y="235915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quality-engineering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8747608" y="2404872"/>
            <a:ext cx="2346808" cy="201168"/>
          </a:xfrm>
          <a:prstGeom prst="roundRect">
            <a:avLst>
              <a:gd name="adj" fmla="val 18182"/>
            </a:avLst>
          </a:prstGeom>
          <a:solidFill>
            <a:srgbClr val="E4DED3"/>
          </a:solidFill>
          <a:ln w="12700">
            <a:solidFill>
              <a:srgbClr val="E4DED3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747608" y="2404872"/>
            <a:ext cx="1173404" cy="201168"/>
          </a:xfrm>
          <a:prstGeom prst="roundRect">
            <a:avLst>
              <a:gd name="adj" fmla="val 18182"/>
            </a:avLst>
          </a:prstGeom>
          <a:solidFill>
            <a:srgbClr val="051D60"/>
          </a:solidFill>
          <a:ln w="12700">
            <a:solidFill>
              <a:srgbClr val="051D60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1204143" y="23591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3</a:t>
            </a:r>
            <a:endParaRPr lang="en-US" sz="1150" dirty="0"/>
          </a:p>
        </p:txBody>
      </p:sp>
      <p:sp>
        <p:nvSpPr>
          <p:cNvPr id="39" name="Text 36"/>
          <p:cNvSpPr txBox="1"/>
          <p:nvPr/>
        </p:nvSpPr>
        <p:spPr>
          <a:xfrm>
            <a:off x="6324448" y="281635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business-analysis</a:t>
            </a:r>
            <a:endParaRPr lang="en-US" sz="1150" dirty="0"/>
          </a:p>
        </p:txBody>
      </p:sp>
      <p:sp>
        <p:nvSpPr>
          <p:cNvPr id="40" name="Shape 37"/>
          <p:cNvSpPr/>
          <p:nvPr/>
        </p:nvSpPr>
        <p:spPr>
          <a:xfrm>
            <a:off x="8747608" y="2862072"/>
            <a:ext cx="2346808" cy="201168"/>
          </a:xfrm>
          <a:prstGeom prst="roundRect">
            <a:avLst>
              <a:gd name="adj" fmla="val 18182"/>
            </a:avLst>
          </a:prstGeom>
          <a:solidFill>
            <a:srgbClr val="E4DED3"/>
          </a:solidFill>
          <a:ln w="12700">
            <a:solidFill>
              <a:srgbClr val="E4DED3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747608" y="2862072"/>
            <a:ext cx="782269" cy="201168"/>
          </a:xfrm>
          <a:prstGeom prst="roundRect">
            <a:avLst>
              <a:gd name="adj" fmla="val 18182"/>
            </a:avLst>
          </a:prstGeom>
          <a:solidFill>
            <a:srgbClr val="051D60"/>
          </a:solidFill>
          <a:ln w="12700">
            <a:solidFill>
              <a:srgbClr val="051D6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1204143" y="28163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2</a:t>
            </a:r>
            <a:endParaRPr lang="en-US" sz="1150" dirty="0"/>
          </a:p>
        </p:txBody>
      </p:sp>
      <p:sp>
        <p:nvSpPr>
          <p:cNvPr id="43" name="Text 40"/>
          <p:cNvSpPr txBox="1"/>
          <p:nvPr/>
        </p:nvSpPr>
        <p:spPr>
          <a:xfrm>
            <a:off x="6324448" y="327355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8747608" y="3319272"/>
            <a:ext cx="2346808" cy="201168"/>
          </a:xfrm>
          <a:prstGeom prst="roundRect">
            <a:avLst>
              <a:gd name="adj" fmla="val 18182"/>
            </a:avLst>
          </a:prstGeom>
          <a:solidFill>
            <a:srgbClr val="E4DED3"/>
          </a:solidFill>
          <a:ln w="12700">
            <a:solidFill>
              <a:srgbClr val="E4DED3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747608" y="3319272"/>
            <a:ext cx="782269" cy="201168"/>
          </a:xfrm>
          <a:prstGeom prst="roundRect">
            <a:avLst>
              <a:gd name="adj" fmla="val 18182"/>
            </a:avLst>
          </a:prstGeom>
          <a:solidFill>
            <a:srgbClr val="051D60"/>
          </a:solidFill>
          <a:ln w="12700">
            <a:solidFill>
              <a:srgbClr val="051D60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11204143" y="32735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2</a:t>
            </a:r>
            <a:endParaRPr lang="en-US" sz="1150" dirty="0"/>
          </a:p>
        </p:txBody>
      </p:sp>
      <p:sp>
        <p:nvSpPr>
          <p:cNvPr id="47" name="Text 44"/>
          <p:cNvSpPr txBox="1"/>
          <p:nvPr/>
        </p:nvSpPr>
        <p:spPr>
          <a:xfrm>
            <a:off x="6324448" y="373075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product-management</a:t>
            </a:r>
            <a:endParaRPr lang="en-US" sz="1150" dirty="0"/>
          </a:p>
        </p:txBody>
      </p:sp>
      <p:sp>
        <p:nvSpPr>
          <p:cNvPr id="48" name="Shape 45"/>
          <p:cNvSpPr/>
          <p:nvPr/>
        </p:nvSpPr>
        <p:spPr>
          <a:xfrm>
            <a:off x="8747608" y="3776472"/>
            <a:ext cx="2346808" cy="201168"/>
          </a:xfrm>
          <a:prstGeom prst="roundRect">
            <a:avLst>
              <a:gd name="adj" fmla="val 18182"/>
            </a:avLst>
          </a:prstGeom>
          <a:solidFill>
            <a:srgbClr val="E4DED3"/>
          </a:solidFill>
          <a:ln w="12700">
            <a:solidFill>
              <a:srgbClr val="E4DED3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747608" y="3776472"/>
            <a:ext cx="782269" cy="201168"/>
          </a:xfrm>
          <a:prstGeom prst="roundRect">
            <a:avLst>
              <a:gd name="adj" fmla="val 18182"/>
            </a:avLst>
          </a:prstGeom>
          <a:solidFill>
            <a:srgbClr val="051D60"/>
          </a:solidFill>
          <a:ln w="12700">
            <a:solidFill>
              <a:srgbClr val="051D60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11204143" y="37307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2</a:t>
            </a:r>
            <a:endParaRPr lang="en-US" sz="1150" dirty="0"/>
          </a:p>
        </p:txBody>
      </p:sp>
      <p:sp>
        <p:nvSpPr>
          <p:cNvPr id="51" name="Text 48"/>
          <p:cNvSpPr txBox="1"/>
          <p:nvPr/>
        </p:nvSpPr>
        <p:spPr>
          <a:xfrm>
            <a:off x="6324448" y="418795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50" dirty="0"/>
          </a:p>
        </p:txBody>
      </p:sp>
      <p:sp>
        <p:nvSpPr>
          <p:cNvPr id="52" name="Shape 49"/>
          <p:cNvSpPr/>
          <p:nvPr/>
        </p:nvSpPr>
        <p:spPr>
          <a:xfrm>
            <a:off x="8747608" y="4233672"/>
            <a:ext cx="2346808" cy="201168"/>
          </a:xfrm>
          <a:prstGeom prst="roundRect">
            <a:avLst>
              <a:gd name="adj" fmla="val 18182"/>
            </a:avLst>
          </a:prstGeom>
          <a:solidFill>
            <a:srgbClr val="E4DED3"/>
          </a:solidFill>
          <a:ln w="12700">
            <a:solidFill>
              <a:srgbClr val="E4DED3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8747608" y="4233672"/>
            <a:ext cx="391135" cy="201168"/>
          </a:xfrm>
          <a:prstGeom prst="roundRect">
            <a:avLst>
              <a:gd name="adj" fmla="val 18182"/>
            </a:avLst>
          </a:prstGeom>
          <a:solidFill>
            <a:srgbClr val="051D60"/>
          </a:solidFill>
          <a:ln w="12700">
            <a:solidFill>
              <a:srgbClr val="051D60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204143" y="4187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1</a:t>
            </a:r>
            <a:endParaRPr lang="en-US" sz="1150" dirty="0"/>
          </a:p>
        </p:txBody>
      </p:sp>
      <p:sp>
        <p:nvSpPr>
          <p:cNvPr id="55" name="Shape 52"/>
          <p:cNvSpPr/>
          <p:nvPr/>
        </p:nvSpPr>
        <p:spPr>
          <a:xfrm>
            <a:off x="640080" y="4846320"/>
            <a:ext cx="5318608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914400" y="5029200"/>
            <a:ext cx="476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Every skill ends with a Validation block</a:t>
            </a:r>
            <a:endParaRPr lang="en-US" sz="1300" dirty="0"/>
          </a:p>
        </p:txBody>
      </p:sp>
      <p:sp>
        <p:nvSpPr>
          <p:cNvPr id="57" name="Text 54"/>
          <p:cNvSpPr txBox="1"/>
          <p:nvPr/>
        </p:nvSpPr>
        <p:spPr>
          <a:xfrm>
            <a:off x="914400" y="5340096"/>
            <a:ext cx="47699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command or a grep that a machine runs — not advice. scripts/validate_skill_checks.py runs each block against that skill's own template, then against a mutation that breaks a rule the block claims to catch.</a:t>
            </a:r>
            <a:endParaRPr lang="en-US" sz="1050" dirty="0"/>
          </a:p>
        </p:txBody>
      </p:sp>
      <p:sp>
        <p:nvSpPr>
          <p:cNvPr id="58" name="Shape 55"/>
          <p:cNvSpPr/>
          <p:nvPr/>
        </p:nvSpPr>
        <p:spPr>
          <a:xfrm>
            <a:off x="6233008" y="4846320"/>
            <a:ext cx="5318608" cy="1280160"/>
          </a:xfrm>
          <a:prstGeom prst="roundRect">
            <a:avLst>
              <a:gd name="adj" fmla="val 4286"/>
            </a:avLst>
          </a:prstGeom>
          <a:solidFill>
            <a:srgbClr val="F1E9DA"/>
          </a:solidFill>
          <a:ln w="12700">
            <a:solidFill>
              <a:srgbClr val="F1E9DA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6507328" y="5029200"/>
            <a:ext cx="476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Reuses the tooling this team already has</a:t>
            </a:r>
            <a:endParaRPr lang="en-US" sz="1300" dirty="0"/>
          </a:p>
        </p:txBody>
      </p:sp>
      <p:sp>
        <p:nvSpPr>
          <p:cNvPr id="60" name="Text 57"/>
          <p:cNvSpPr txBox="1"/>
          <p:nvPr/>
        </p:nvSpPr>
        <p:spPr>
          <a:xfrm>
            <a:off x="6507328" y="5340096"/>
            <a:ext cx="47699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skill ships an evals.json in the house format, so /skill-creator, /eai-eng-skills-evaluator and skill-batch-creator all work against this repo unchanged.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51D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BA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 · THE LIFECYCLE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AF3E7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Nine phases, nine gates — and phase 9 feeds phase 1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80160"/>
            <a:ext cx="10911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BA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waterfall and not a line. The last phase is the one that changes what the first phase will be asked to do.</a:t>
            </a:r>
            <a:endParaRPr lang="en-US" sz="13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7215" y="6382512"/>
            <a:ext cx="914400" cy="1261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36422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5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navi-delivery  ·  v0.1.0  ·  7 / 17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640080" y="2084832"/>
            <a:ext cx="1828800" cy="859536"/>
          </a:xfrm>
          <a:prstGeom prst="roundRect">
            <a:avLst>
              <a:gd name="adj" fmla="val 6383"/>
            </a:avLst>
          </a:prstGeom>
          <a:solidFill>
            <a:srgbClr val="0E2470"/>
          </a:solidFill>
          <a:ln w="12700">
            <a:solidFill>
              <a:srgbClr val="0E247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22219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BA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450592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AF3E7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Plan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1810512" y="2203704"/>
            <a:ext cx="493776" cy="237744"/>
          </a:xfrm>
          <a:prstGeom prst="roundRect">
            <a:avLst>
              <a:gd name="adj" fmla="val 15385"/>
            </a:avLst>
          </a:prstGeom>
          <a:solidFill>
            <a:srgbClr val="FAF3E7"/>
          </a:solidFill>
          <a:ln w="12700">
            <a:solidFill>
              <a:srgbClr val="FAF3E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810512" y="2226564"/>
            <a:ext cx="4937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2910764" y="2084832"/>
            <a:ext cx="1828800" cy="859536"/>
          </a:xfrm>
          <a:prstGeom prst="roundRect">
            <a:avLst>
              <a:gd name="adj" fmla="val 6383"/>
            </a:avLst>
          </a:prstGeom>
          <a:solidFill>
            <a:srgbClr val="0E2470"/>
          </a:solidFill>
          <a:ln w="12700">
            <a:solidFill>
              <a:srgbClr val="0E247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093644" y="22219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BA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3093644" y="2450592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AF3E7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Specify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081196" y="2203704"/>
            <a:ext cx="493776" cy="237744"/>
          </a:xfrm>
          <a:prstGeom prst="roundRect">
            <a:avLst>
              <a:gd name="adj" fmla="val 15385"/>
            </a:avLst>
          </a:prstGeom>
          <a:solidFill>
            <a:srgbClr val="FAF3E7"/>
          </a:solidFill>
          <a:ln w="12700">
            <a:solidFill>
              <a:srgbClr val="FAF3E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81196" y="2226564"/>
            <a:ext cx="4937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181448" y="2084832"/>
            <a:ext cx="1828800" cy="859536"/>
          </a:xfrm>
          <a:prstGeom prst="roundRect">
            <a:avLst>
              <a:gd name="adj" fmla="val 6383"/>
            </a:avLst>
          </a:prstGeom>
          <a:solidFill>
            <a:srgbClr val="0E2470"/>
          </a:solidFill>
          <a:ln w="12700">
            <a:solidFill>
              <a:srgbClr val="0E247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364328" y="22219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BA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800" dirty="0"/>
          </a:p>
        </p:txBody>
      </p:sp>
      <p:sp>
        <p:nvSpPr>
          <p:cNvPr id="19" name="Text 16"/>
          <p:cNvSpPr txBox="1"/>
          <p:nvPr/>
        </p:nvSpPr>
        <p:spPr>
          <a:xfrm>
            <a:off x="5364328" y="2450592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AF3E7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Architect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351880" y="2203704"/>
            <a:ext cx="493776" cy="237744"/>
          </a:xfrm>
          <a:prstGeom prst="roundRect">
            <a:avLst>
              <a:gd name="adj" fmla="val 15385"/>
            </a:avLst>
          </a:prstGeom>
          <a:solidFill>
            <a:srgbClr val="FAF3E7"/>
          </a:solidFill>
          <a:ln w="12700">
            <a:solidFill>
              <a:srgbClr val="FAF3E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51880" y="2226564"/>
            <a:ext cx="4937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G3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7452131" y="2084832"/>
            <a:ext cx="1828800" cy="859536"/>
          </a:xfrm>
          <a:prstGeom prst="roundRect">
            <a:avLst>
              <a:gd name="adj" fmla="val 6383"/>
            </a:avLst>
          </a:prstGeom>
          <a:solidFill>
            <a:srgbClr val="0E2470"/>
          </a:solidFill>
          <a:ln w="12700">
            <a:solidFill>
              <a:srgbClr val="0E247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635011" y="22219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BA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800" dirty="0"/>
          </a:p>
        </p:txBody>
      </p:sp>
      <p:sp>
        <p:nvSpPr>
          <p:cNvPr id="24" name="Text 21"/>
          <p:cNvSpPr txBox="1"/>
          <p:nvPr/>
        </p:nvSpPr>
        <p:spPr>
          <a:xfrm>
            <a:off x="7635011" y="2450592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AF3E7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Data &amp; Model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8622563" y="2203704"/>
            <a:ext cx="493776" cy="237744"/>
          </a:xfrm>
          <a:prstGeom prst="roundRect">
            <a:avLst>
              <a:gd name="adj" fmla="val 15385"/>
            </a:avLst>
          </a:prstGeom>
          <a:solidFill>
            <a:srgbClr val="FAF3E7"/>
          </a:solidFill>
          <a:ln w="12700">
            <a:solidFill>
              <a:srgbClr val="FAF3E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22563" y="2226564"/>
            <a:ext cx="4937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G4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9722815" y="2084832"/>
            <a:ext cx="1828800" cy="859536"/>
          </a:xfrm>
          <a:prstGeom prst="roundRect">
            <a:avLst>
              <a:gd name="adj" fmla="val 6383"/>
            </a:avLst>
          </a:prstGeom>
          <a:solidFill>
            <a:srgbClr val="0E2470"/>
          </a:solidFill>
          <a:ln w="12700">
            <a:solidFill>
              <a:srgbClr val="0E247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905695" y="22219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BA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9905695" y="2450592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AF3E7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Build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10893247" y="2203704"/>
            <a:ext cx="493776" cy="237744"/>
          </a:xfrm>
          <a:prstGeom prst="roundRect">
            <a:avLst>
              <a:gd name="adj" fmla="val 15385"/>
            </a:avLst>
          </a:prstGeom>
          <a:solidFill>
            <a:srgbClr val="FAF3E7"/>
          </a:solidFill>
          <a:ln w="12700">
            <a:solidFill>
              <a:srgbClr val="FAF3E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0893247" y="2226564"/>
            <a:ext cx="4937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G5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640080" y="4681728"/>
            <a:ext cx="1828800" cy="859536"/>
          </a:xfrm>
          <a:prstGeom prst="roundRect">
            <a:avLst>
              <a:gd name="adj" fmla="val 6383"/>
            </a:avLst>
          </a:prstGeom>
          <a:solidFill>
            <a:srgbClr val="0E2470"/>
          </a:solidFill>
          <a:ln w="12700">
            <a:solidFill>
              <a:srgbClr val="0E247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22960" y="4818888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BA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9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504748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AF3E7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Learn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1810512" y="4800600"/>
            <a:ext cx="493776" cy="237744"/>
          </a:xfrm>
          <a:prstGeom prst="roundRect">
            <a:avLst>
              <a:gd name="adj" fmla="val 15385"/>
            </a:avLst>
          </a:prstGeom>
          <a:solidFill>
            <a:srgbClr val="FAF3E7"/>
          </a:solidFill>
          <a:ln w="12700">
            <a:solidFill>
              <a:srgbClr val="FAF3E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810512" y="4823460"/>
            <a:ext cx="4937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G9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3667658" y="4681728"/>
            <a:ext cx="1828800" cy="859536"/>
          </a:xfrm>
          <a:prstGeom prst="roundRect">
            <a:avLst>
              <a:gd name="adj" fmla="val 6383"/>
            </a:avLst>
          </a:prstGeom>
          <a:solidFill>
            <a:srgbClr val="0E2470"/>
          </a:solidFill>
          <a:ln w="12700">
            <a:solidFill>
              <a:srgbClr val="0E2470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850538" y="4818888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BA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8</a:t>
            </a:r>
            <a:endParaRPr lang="en-US" sz="800" dirty="0"/>
          </a:p>
        </p:txBody>
      </p:sp>
      <p:sp>
        <p:nvSpPr>
          <p:cNvPr id="39" name="Text 36"/>
          <p:cNvSpPr txBox="1"/>
          <p:nvPr/>
        </p:nvSpPr>
        <p:spPr>
          <a:xfrm>
            <a:off x="3850538" y="504748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AF3E7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Operate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4838090" y="4800600"/>
            <a:ext cx="493776" cy="237744"/>
          </a:xfrm>
          <a:prstGeom prst="roundRect">
            <a:avLst>
              <a:gd name="adj" fmla="val 15385"/>
            </a:avLst>
          </a:prstGeom>
          <a:solidFill>
            <a:srgbClr val="FAF3E7"/>
          </a:solidFill>
          <a:ln w="12700">
            <a:solidFill>
              <a:srgbClr val="FAF3E7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4838090" y="4823460"/>
            <a:ext cx="4937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G8</a:t>
            </a:r>
            <a:endParaRPr lang="en-US" sz="950" dirty="0"/>
          </a:p>
        </p:txBody>
      </p:sp>
      <p:sp>
        <p:nvSpPr>
          <p:cNvPr id="42" name="Shape 39"/>
          <p:cNvSpPr/>
          <p:nvPr/>
        </p:nvSpPr>
        <p:spPr>
          <a:xfrm>
            <a:off x="6695237" y="4681728"/>
            <a:ext cx="1828800" cy="859536"/>
          </a:xfrm>
          <a:prstGeom prst="roundRect">
            <a:avLst>
              <a:gd name="adj" fmla="val 6383"/>
            </a:avLst>
          </a:prstGeom>
          <a:solidFill>
            <a:srgbClr val="0E2470"/>
          </a:solidFill>
          <a:ln w="12700">
            <a:solidFill>
              <a:srgbClr val="0E2470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878117" y="4818888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BA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7</a:t>
            </a:r>
            <a:endParaRPr lang="en-US" sz="800" dirty="0"/>
          </a:p>
        </p:txBody>
      </p:sp>
      <p:sp>
        <p:nvSpPr>
          <p:cNvPr id="44" name="Text 41"/>
          <p:cNvSpPr txBox="1"/>
          <p:nvPr/>
        </p:nvSpPr>
        <p:spPr>
          <a:xfrm>
            <a:off x="6878117" y="504748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AF3E7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Release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>
            <a:off x="7865669" y="4800600"/>
            <a:ext cx="493776" cy="237744"/>
          </a:xfrm>
          <a:prstGeom prst="roundRect">
            <a:avLst>
              <a:gd name="adj" fmla="val 15385"/>
            </a:avLst>
          </a:prstGeom>
          <a:solidFill>
            <a:srgbClr val="FAF3E7"/>
          </a:solidFill>
          <a:ln w="12700">
            <a:solidFill>
              <a:srgbClr val="FAF3E7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7865669" y="4823460"/>
            <a:ext cx="4937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G7</a:t>
            </a:r>
            <a:endParaRPr lang="en-US" sz="950" dirty="0"/>
          </a:p>
        </p:txBody>
      </p:sp>
      <p:sp>
        <p:nvSpPr>
          <p:cNvPr id="47" name="Shape 44"/>
          <p:cNvSpPr/>
          <p:nvPr/>
        </p:nvSpPr>
        <p:spPr>
          <a:xfrm>
            <a:off x="9722815" y="4681728"/>
            <a:ext cx="1828800" cy="859536"/>
          </a:xfrm>
          <a:prstGeom prst="roundRect">
            <a:avLst>
              <a:gd name="adj" fmla="val 6383"/>
            </a:avLst>
          </a:prstGeom>
          <a:solidFill>
            <a:srgbClr val="0E2470"/>
          </a:solidFill>
          <a:ln w="12700">
            <a:solidFill>
              <a:srgbClr val="0E2470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9905695" y="4818888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BA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</a:t>
            </a:r>
            <a:endParaRPr lang="en-US" sz="800" dirty="0"/>
          </a:p>
        </p:txBody>
      </p:sp>
      <p:sp>
        <p:nvSpPr>
          <p:cNvPr id="49" name="Text 46"/>
          <p:cNvSpPr txBox="1"/>
          <p:nvPr/>
        </p:nvSpPr>
        <p:spPr>
          <a:xfrm>
            <a:off x="9905695" y="504748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AF3E7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Verify</a:t>
            </a:r>
            <a:endParaRPr lang="en-US" sz="1300" dirty="0"/>
          </a:p>
        </p:txBody>
      </p:sp>
      <p:sp>
        <p:nvSpPr>
          <p:cNvPr id="50" name="Shape 47"/>
          <p:cNvSpPr/>
          <p:nvPr/>
        </p:nvSpPr>
        <p:spPr>
          <a:xfrm>
            <a:off x="10893247" y="4800600"/>
            <a:ext cx="493776" cy="237744"/>
          </a:xfrm>
          <a:prstGeom prst="roundRect">
            <a:avLst>
              <a:gd name="adj" fmla="val 15385"/>
            </a:avLst>
          </a:prstGeom>
          <a:solidFill>
            <a:srgbClr val="FAF3E7"/>
          </a:solidFill>
          <a:ln w="12700">
            <a:solidFill>
              <a:srgbClr val="FAF3E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10893247" y="4823460"/>
            <a:ext cx="4937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</a:t>
            </a:r>
            <a:endParaRPr lang="en-US" sz="950" dirty="0"/>
          </a:p>
        </p:txBody>
      </p:sp>
      <p:sp>
        <p:nvSpPr>
          <p:cNvPr id="52" name="Shape 49"/>
          <p:cNvSpPr/>
          <p:nvPr/>
        </p:nvSpPr>
        <p:spPr>
          <a:xfrm>
            <a:off x="2532888" y="2514600"/>
            <a:ext cx="313868" cy="0"/>
          </a:xfrm>
          <a:prstGeom prst="line">
            <a:avLst/>
          </a:prstGeom>
          <a:noFill/>
          <a:ln w="20320">
            <a:solidFill>
              <a:srgbClr val="E4DED3"/>
            </a:solidFill>
            <a:prstDash val="solid"/>
            <a:headEnd type="none"/>
            <a:tailEnd type="triangle"/>
          </a:ln>
        </p:spPr>
      </p:sp>
      <p:sp>
        <p:nvSpPr>
          <p:cNvPr id="53" name="Shape 50"/>
          <p:cNvSpPr/>
          <p:nvPr/>
        </p:nvSpPr>
        <p:spPr>
          <a:xfrm>
            <a:off x="4803572" y="2514600"/>
            <a:ext cx="313868" cy="0"/>
          </a:xfrm>
          <a:prstGeom prst="line">
            <a:avLst/>
          </a:prstGeom>
          <a:noFill/>
          <a:ln w="20320">
            <a:solidFill>
              <a:srgbClr val="E4DED3"/>
            </a:solidFill>
            <a:prstDash val="solid"/>
            <a:headEnd type="none"/>
            <a:tailEnd type="triangle"/>
          </a:ln>
        </p:spPr>
      </p:sp>
      <p:sp>
        <p:nvSpPr>
          <p:cNvPr id="54" name="Shape 51"/>
          <p:cNvSpPr/>
          <p:nvPr/>
        </p:nvSpPr>
        <p:spPr>
          <a:xfrm>
            <a:off x="7074256" y="2514600"/>
            <a:ext cx="313868" cy="0"/>
          </a:xfrm>
          <a:prstGeom prst="line">
            <a:avLst/>
          </a:prstGeom>
          <a:noFill/>
          <a:ln w="20320">
            <a:solidFill>
              <a:srgbClr val="E4DED3"/>
            </a:solidFill>
            <a:prstDash val="solid"/>
            <a:headEnd type="none"/>
            <a:tailEnd type="triangle"/>
          </a:ln>
        </p:spPr>
      </p:sp>
      <p:sp>
        <p:nvSpPr>
          <p:cNvPr id="55" name="Shape 52"/>
          <p:cNvSpPr/>
          <p:nvPr/>
        </p:nvSpPr>
        <p:spPr>
          <a:xfrm>
            <a:off x="9344939" y="2514600"/>
            <a:ext cx="313868" cy="0"/>
          </a:xfrm>
          <a:prstGeom prst="line">
            <a:avLst/>
          </a:prstGeom>
          <a:noFill/>
          <a:ln w="20320">
            <a:solidFill>
              <a:srgbClr val="E4DED3"/>
            </a:solidFill>
            <a:prstDash val="solid"/>
            <a:headEnd type="none"/>
            <a:tailEnd type="triangle"/>
          </a:ln>
        </p:spPr>
      </p:sp>
      <p:sp>
        <p:nvSpPr>
          <p:cNvPr id="56" name="Shape 53"/>
          <p:cNvSpPr/>
          <p:nvPr/>
        </p:nvSpPr>
        <p:spPr>
          <a:xfrm>
            <a:off x="10637215" y="3017520"/>
            <a:ext cx="0" cy="1591056"/>
          </a:xfrm>
          <a:prstGeom prst="line">
            <a:avLst/>
          </a:prstGeom>
          <a:noFill/>
          <a:ln w="20320">
            <a:solidFill>
              <a:srgbClr val="E4DED3"/>
            </a:solidFill>
            <a:prstDash val="solid"/>
            <a:headEnd type="none"/>
            <a:tailEnd type="triangle"/>
          </a:ln>
        </p:spPr>
      </p:sp>
      <p:sp>
        <p:nvSpPr>
          <p:cNvPr id="57" name="Shape 54"/>
          <p:cNvSpPr/>
          <p:nvPr/>
        </p:nvSpPr>
        <p:spPr>
          <a:xfrm flipH="1">
            <a:off x="8588045" y="5111496"/>
            <a:ext cx="1070762" cy="0"/>
          </a:xfrm>
          <a:prstGeom prst="line">
            <a:avLst/>
          </a:prstGeom>
          <a:noFill/>
          <a:ln w="20320">
            <a:solidFill>
              <a:srgbClr val="E4DED3"/>
            </a:solidFill>
            <a:prstDash val="solid"/>
            <a:headEnd type="none"/>
            <a:tailEnd type="triangle"/>
          </a:ln>
        </p:spPr>
      </p:sp>
      <p:sp>
        <p:nvSpPr>
          <p:cNvPr id="58" name="Shape 55"/>
          <p:cNvSpPr/>
          <p:nvPr/>
        </p:nvSpPr>
        <p:spPr>
          <a:xfrm flipH="1">
            <a:off x="5560466" y="5111496"/>
            <a:ext cx="1070762" cy="0"/>
          </a:xfrm>
          <a:prstGeom prst="line">
            <a:avLst/>
          </a:prstGeom>
          <a:noFill/>
          <a:ln w="20320">
            <a:solidFill>
              <a:srgbClr val="E4DED3"/>
            </a:solidFill>
            <a:prstDash val="solid"/>
            <a:headEnd type="none"/>
            <a:tailEnd type="triangle"/>
          </a:ln>
        </p:spPr>
      </p:sp>
      <p:sp>
        <p:nvSpPr>
          <p:cNvPr id="59" name="Shape 56"/>
          <p:cNvSpPr/>
          <p:nvPr/>
        </p:nvSpPr>
        <p:spPr>
          <a:xfrm flipH="1">
            <a:off x="2532888" y="5111496"/>
            <a:ext cx="1070762" cy="0"/>
          </a:xfrm>
          <a:prstGeom prst="line">
            <a:avLst/>
          </a:prstGeom>
          <a:noFill/>
          <a:ln w="20320">
            <a:solidFill>
              <a:srgbClr val="E4DED3"/>
            </a:solidFill>
            <a:prstDash val="solid"/>
            <a:headEnd type="none"/>
            <a:tailEnd type="triangle"/>
          </a:ln>
        </p:spPr>
      </p:sp>
      <p:sp>
        <p:nvSpPr>
          <p:cNvPr id="60" name="Shape 57"/>
          <p:cNvSpPr/>
          <p:nvPr/>
        </p:nvSpPr>
        <p:spPr>
          <a:xfrm flipV="1">
            <a:off x="1554480" y="3017520"/>
            <a:ext cx="0" cy="1591056"/>
          </a:xfrm>
          <a:prstGeom prst="line">
            <a:avLst/>
          </a:prstGeom>
          <a:noFill/>
          <a:ln w="31750">
            <a:solidFill>
              <a:srgbClr val="FAF3E7"/>
            </a:solidFill>
            <a:prstDash val="solid"/>
            <a:headEnd type="none"/>
            <a:tailEnd type="triangle"/>
          </a:ln>
        </p:spPr>
      </p:sp>
      <p:sp>
        <p:nvSpPr>
          <p:cNvPr id="61" name="Text 58"/>
          <p:cNvSpPr txBox="1"/>
          <p:nvPr/>
        </p:nvSpPr>
        <p:spPr>
          <a:xfrm>
            <a:off x="2514600" y="3218688"/>
            <a:ext cx="7162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AF3E7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The loop that closes</a:t>
            </a:r>
            <a:endParaRPr lang="en-US" sz="1500" dirty="0"/>
          </a:p>
        </p:txBody>
      </p:sp>
      <p:sp>
        <p:nvSpPr>
          <p:cNvPr id="62" name="Text 59"/>
          <p:cNvSpPr txBox="1"/>
          <p:nvPr/>
        </p:nvSpPr>
        <p:spPr>
          <a:xfrm>
            <a:off x="2514600" y="3566160"/>
            <a:ext cx="7162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folds the delta spec into specs/ and writes an insight stub. Every INSIGHT-### routes to exactly one destination: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candidate REQ-### in the product backlog, or a pull request against the navi-skill-* file that got it wrong.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2514600" y="4224528"/>
            <a:ext cx="7162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BA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insight with no destination closes no loop, and is not an insight.</a:t>
            </a:r>
            <a:endParaRPr lang="en-US" sz="1050" dirty="0"/>
          </a:p>
        </p:txBody>
      </p:sp>
      <p:sp>
        <p:nvSpPr>
          <p:cNvPr id="64" name="Shape 61"/>
          <p:cNvSpPr/>
          <p:nvPr/>
        </p:nvSpPr>
        <p:spPr>
          <a:xfrm>
            <a:off x="777240" y="3639312"/>
            <a:ext cx="1554480" cy="694944"/>
          </a:xfrm>
          <a:prstGeom prst="roundRect">
            <a:avLst>
              <a:gd name="adj" fmla="val 6579"/>
            </a:avLst>
          </a:prstGeom>
          <a:solidFill>
            <a:srgbClr val="051D60"/>
          </a:solidFill>
          <a:ln w="12700">
            <a:solidFill>
              <a:srgbClr val="051D60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777240" y="373075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A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INSIGHT-###</a:t>
            </a:r>
            <a:endParaRPr lang="en-US" sz="1000" dirty="0"/>
          </a:p>
        </p:txBody>
      </p:sp>
      <p:sp>
        <p:nvSpPr>
          <p:cNvPr id="66" name="Text 63"/>
          <p:cNvSpPr txBox="1"/>
          <p:nvPr/>
        </p:nvSpPr>
        <p:spPr>
          <a:xfrm>
            <a:off x="731520" y="398678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 ·  skill amendment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640080" y="60350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BA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phase that emits no telemetry did not happen. A gate whose verdict was never recorded was never passed.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NINE GATES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Each gate closes a phase, and needs a path on disk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80160"/>
            <a:ext cx="10911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verdict is one of exactly three values — pass, fail, waived. There is no conditional pass and no pass with follow-ups.</a:t>
            </a:r>
            <a:endParaRPr lang="en-US" sz="13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7215" y="6382512"/>
            <a:ext cx="914400" cy="1261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36422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navi-delivery  ·  v0.1.0  ·  8 / 17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84708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9A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389888" y="1847088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9A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2688336" y="184708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9A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CRITERIA, IN SHORT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8671255" y="1847088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9A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640080" y="2093976"/>
            <a:ext cx="10911535" cy="376733"/>
          </a:xfrm>
          <a:prstGeom prst="roundRect">
            <a:avLst>
              <a:gd name="adj" fmla="val 97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17627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G1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1389888" y="2203704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2688336" y="2167128"/>
            <a:ext cx="580003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 declared and justified; at least one measurable outcome; non-goals a reader would otherwise assume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8671255" y="219456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72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proposal.md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2589581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G2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389888" y="2617013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Specify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2688336" y="2580437"/>
            <a:ext cx="580003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REQ-### carries an AC-###; Given/When/Then with an observable outcome; open questions as Q-###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8671255" y="2607869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72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spec · traceability output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40080" y="2920594"/>
            <a:ext cx="10911535" cy="376733"/>
          </a:xfrm>
          <a:prstGeom prst="roundRect">
            <a:avLst>
              <a:gd name="adj" fmla="val 97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31520" y="300289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G3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1389888" y="3030322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2688336" y="2993746"/>
            <a:ext cx="580003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Alternatives rejected; an ADR-### per consequential decision; a threat model with every threat dispositioned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8671255" y="3021178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72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design.md · ADRs · threat model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341619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G4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1389888" y="3443630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Model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2688336" y="3407054"/>
            <a:ext cx="580003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contract per source dataset; lineage; a leakage-checked eval set tied to the proposal's outcome; PII classified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8671255" y="3434486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72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 · lineage · baseline report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640080" y="3747211"/>
            <a:ext cx="10911535" cy="376733"/>
          </a:xfrm>
          <a:prstGeom prst="roundRect">
            <a:avLst>
              <a:gd name="adj" fmla="val 97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31520" y="3829507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G5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1389888" y="3856939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2688336" y="3820363"/>
            <a:ext cx="580003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task done or explicitly deferred; every AC referenced by an automated test; review complete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8671255" y="3847795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72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output · traceability · review record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731520" y="424281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G6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1389888" y="4270248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2688336" y="4233672"/>
            <a:ext cx="580003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and empty-state paths, not only the happy path; flaky tests quarantined with an owner and a date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8671255" y="4261104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72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report · defect list · security record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640080" y="4573829"/>
            <a:ext cx="10911535" cy="376733"/>
          </a:xfrm>
          <a:prstGeom prst="roundRect">
            <a:avLst>
              <a:gd name="adj" fmla="val 97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31520" y="4656125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G7</a:t>
            </a:r>
            <a:endParaRPr 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1389888" y="4683557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2688336" y="4646981"/>
            <a:ext cx="580003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rollback path that has been exercised, with a known time-to-restore; blast radius stated in people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8671255" y="4674413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72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run · rollback rehearsal · approval</a:t>
            </a:r>
            <a:endParaRPr lang="en-US" sz="950" dirty="0"/>
          </a:p>
        </p:txBody>
      </p:sp>
      <p:sp>
        <p:nvSpPr>
          <p:cNvPr id="43" name="Text 40"/>
          <p:cNvSpPr txBox="1"/>
          <p:nvPr/>
        </p:nvSpPr>
        <p:spPr>
          <a:xfrm>
            <a:off x="731520" y="506943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G8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1389888" y="5096866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Operate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2688336" y="5060290"/>
            <a:ext cx="580003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SLI-### per shipped capability, with an error budget and an alert that fires before it burns; telemetry confirmed arriving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8671255" y="508772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72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ops/slo.md · runbooks · a live query</a:t>
            </a:r>
            <a:endParaRPr lang="en-US" sz="950" dirty="0"/>
          </a:p>
        </p:txBody>
      </p:sp>
      <p:sp>
        <p:nvSpPr>
          <p:cNvPr id="47" name="Shape 44"/>
          <p:cNvSpPr/>
          <p:nvPr/>
        </p:nvSpPr>
        <p:spPr>
          <a:xfrm>
            <a:off x="640080" y="5400446"/>
            <a:ext cx="10911535" cy="376733"/>
          </a:xfrm>
          <a:prstGeom prst="roundRect">
            <a:avLst>
              <a:gd name="adj" fmla="val 97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731520" y="548274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G9</a:t>
            </a:r>
            <a:endParaRPr lang="en-US" sz="1300" dirty="0"/>
          </a:p>
        </p:txBody>
      </p:sp>
      <p:sp>
        <p:nvSpPr>
          <p:cNvPr id="49" name="Text 46"/>
          <p:cNvSpPr txBox="1"/>
          <p:nvPr/>
        </p:nvSpPr>
        <p:spPr>
          <a:xfrm>
            <a:off x="1389888" y="5510174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2688336" y="5473598"/>
            <a:ext cx="580003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outcome against measured, with the gap named; every INSIGHT-### routed to exactly one destination</a:t>
            </a:r>
            <a:endParaRPr lang="en-US" sz="950" dirty="0"/>
          </a:p>
        </p:txBody>
      </p:sp>
      <p:sp>
        <p:nvSpPr>
          <p:cNvPr id="51" name="Text 48"/>
          <p:cNvSpPr txBox="1"/>
          <p:nvPr/>
        </p:nvSpPr>
        <p:spPr>
          <a:xfrm>
            <a:off x="8671255" y="550103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72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ops/postmortems/&lt;name&gt;.md</a:t>
            </a:r>
            <a:endParaRPr lang="en-US" sz="950" dirty="0"/>
          </a:p>
        </p:txBody>
      </p:sp>
      <p:sp>
        <p:nvSpPr>
          <p:cNvPr id="52" name="Text 49"/>
          <p:cNvSpPr txBox="1"/>
          <p:nvPr/>
        </p:nvSpPr>
        <p:spPr>
          <a:xfrm>
            <a:off x="640080" y="596188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Skipped ≠ waived.  A gate outside the lane is refused outright and recorded nowhere. A gate inside it that cannot be met is waived — with a reason and a real future date.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 · PROPORTIONALITY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Four lanes — each one a subset of the nine gates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80160"/>
            <a:ext cx="10911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Forcing nine gates onto a flag flip guarantees the next flag flip goes around the framework. express is a slice of full, not a different process.</a:t>
            </a:r>
            <a:endParaRPr lang="en-US" sz="13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7215" y="6382512"/>
            <a:ext cx="914400" cy="1261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36422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navi-delivery  ·  v0.1.0  ·  9 / 17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2468880" y="1920240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3374136" y="1920240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4279392" y="1920240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G3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5184648" y="1920240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G4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6089904" y="1920240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G5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995160" y="1920240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7900416" y="1920240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G7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8805672" y="1920240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G8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9710928" y="1920240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G9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224942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express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640080" y="2487168"/>
            <a:ext cx="1801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· a config value · a flag flip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2468880" y="2212848"/>
            <a:ext cx="786384" cy="566928"/>
          </a:xfrm>
          <a:prstGeom prst="roundRect">
            <a:avLst>
              <a:gd name="adj" fmla="val 8065"/>
            </a:avLst>
          </a:prstGeom>
          <a:solidFill>
            <a:srgbClr val="FAF3E7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468880" y="2340864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3AB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3374136" y="2212848"/>
            <a:ext cx="786384" cy="566928"/>
          </a:xfrm>
          <a:prstGeom prst="roundRect">
            <a:avLst>
              <a:gd name="adj" fmla="val 8065"/>
            </a:avLst>
          </a:prstGeom>
          <a:solidFill>
            <a:srgbClr val="051D60"/>
          </a:solidFill>
          <a:ln w="12700">
            <a:solidFill>
              <a:srgbClr val="051D6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374136" y="2340864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A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279392" y="2212848"/>
            <a:ext cx="786384" cy="566928"/>
          </a:xfrm>
          <a:prstGeom prst="roundRect">
            <a:avLst>
              <a:gd name="adj" fmla="val 8065"/>
            </a:avLst>
          </a:prstGeom>
          <a:solidFill>
            <a:srgbClr val="FAF3E7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279392" y="2340864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3AB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G3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184648" y="2212848"/>
            <a:ext cx="786384" cy="566928"/>
          </a:xfrm>
          <a:prstGeom prst="roundRect">
            <a:avLst>
              <a:gd name="adj" fmla="val 8065"/>
            </a:avLst>
          </a:prstGeom>
          <a:solidFill>
            <a:srgbClr val="FAF3E7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184648" y="2340864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3AB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G4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6089904" y="2212848"/>
            <a:ext cx="786384" cy="566928"/>
          </a:xfrm>
          <a:prstGeom prst="roundRect">
            <a:avLst>
              <a:gd name="adj" fmla="val 8065"/>
            </a:avLst>
          </a:prstGeom>
          <a:solidFill>
            <a:srgbClr val="FAF3E7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089904" y="2340864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3AB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G5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6995160" y="2212848"/>
            <a:ext cx="786384" cy="566928"/>
          </a:xfrm>
          <a:prstGeom prst="roundRect">
            <a:avLst>
              <a:gd name="adj" fmla="val 8065"/>
            </a:avLst>
          </a:prstGeom>
          <a:solidFill>
            <a:srgbClr val="051D60"/>
          </a:solidFill>
          <a:ln w="12700">
            <a:solidFill>
              <a:srgbClr val="051D6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995160" y="2340864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A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900416" y="2212848"/>
            <a:ext cx="786384" cy="566928"/>
          </a:xfrm>
          <a:prstGeom prst="roundRect">
            <a:avLst>
              <a:gd name="adj" fmla="val 8065"/>
            </a:avLst>
          </a:prstGeom>
          <a:solidFill>
            <a:srgbClr val="051D60"/>
          </a:solidFill>
          <a:ln w="12700">
            <a:solidFill>
              <a:srgbClr val="051D60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900416" y="2340864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A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G7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8805672" y="2212848"/>
            <a:ext cx="786384" cy="566928"/>
          </a:xfrm>
          <a:prstGeom prst="roundRect">
            <a:avLst>
              <a:gd name="adj" fmla="val 8065"/>
            </a:avLst>
          </a:prstGeom>
          <a:solidFill>
            <a:srgbClr val="FAF3E7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805672" y="2340864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3AB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G8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9710928" y="2212848"/>
            <a:ext cx="786384" cy="566928"/>
          </a:xfrm>
          <a:prstGeom prst="roundRect">
            <a:avLst>
              <a:gd name="adj" fmla="val 8065"/>
            </a:avLst>
          </a:prstGeom>
          <a:solidFill>
            <a:srgbClr val="FAF3E7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710928" y="2340864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3AB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G9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10689336" y="235915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of 9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640080" y="2999232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standard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40080" y="3236976"/>
            <a:ext cx="1801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features and bug fixes</a:t>
            </a:r>
            <a:endParaRPr lang="en-US" sz="800" dirty="0"/>
          </a:p>
        </p:txBody>
      </p:sp>
      <p:sp>
        <p:nvSpPr>
          <p:cNvPr id="39" name="Shape 36"/>
          <p:cNvSpPr/>
          <p:nvPr/>
        </p:nvSpPr>
        <p:spPr>
          <a:xfrm>
            <a:off x="2468880" y="2962656"/>
            <a:ext cx="786384" cy="566928"/>
          </a:xfrm>
          <a:prstGeom prst="roundRect">
            <a:avLst>
              <a:gd name="adj" fmla="val 8065"/>
            </a:avLst>
          </a:prstGeom>
          <a:solidFill>
            <a:srgbClr val="051D60"/>
          </a:solidFill>
          <a:ln w="12700">
            <a:solidFill>
              <a:srgbClr val="051D6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468880" y="309067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A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3374136" y="2962656"/>
            <a:ext cx="786384" cy="566928"/>
          </a:xfrm>
          <a:prstGeom prst="roundRect">
            <a:avLst>
              <a:gd name="adj" fmla="val 8065"/>
            </a:avLst>
          </a:prstGeom>
          <a:solidFill>
            <a:srgbClr val="051D60"/>
          </a:solidFill>
          <a:ln w="12700">
            <a:solidFill>
              <a:srgbClr val="051D6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374136" y="309067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A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4279392" y="2962656"/>
            <a:ext cx="786384" cy="566928"/>
          </a:xfrm>
          <a:prstGeom prst="roundRect">
            <a:avLst>
              <a:gd name="adj" fmla="val 8065"/>
            </a:avLst>
          </a:prstGeom>
          <a:solidFill>
            <a:srgbClr val="051D60"/>
          </a:solidFill>
          <a:ln w="12700">
            <a:solidFill>
              <a:srgbClr val="051D6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4279392" y="309067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A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G3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5184648" y="2962656"/>
            <a:ext cx="786384" cy="566928"/>
          </a:xfrm>
          <a:prstGeom prst="roundRect">
            <a:avLst>
              <a:gd name="adj" fmla="val 8065"/>
            </a:avLst>
          </a:prstGeom>
          <a:solidFill>
            <a:srgbClr val="FAF3E7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184648" y="309067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3AB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G4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6089904" y="2962656"/>
            <a:ext cx="786384" cy="566928"/>
          </a:xfrm>
          <a:prstGeom prst="roundRect">
            <a:avLst>
              <a:gd name="adj" fmla="val 8065"/>
            </a:avLst>
          </a:prstGeom>
          <a:solidFill>
            <a:srgbClr val="051D60"/>
          </a:solidFill>
          <a:ln w="12700">
            <a:solidFill>
              <a:srgbClr val="051D60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089904" y="309067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A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G5</a:t>
            </a:r>
            <a:endParaRPr lang="en-US" sz="1050" dirty="0"/>
          </a:p>
        </p:txBody>
      </p:sp>
      <p:sp>
        <p:nvSpPr>
          <p:cNvPr id="49" name="Shape 46"/>
          <p:cNvSpPr/>
          <p:nvPr/>
        </p:nvSpPr>
        <p:spPr>
          <a:xfrm>
            <a:off x="6995160" y="2962656"/>
            <a:ext cx="786384" cy="566928"/>
          </a:xfrm>
          <a:prstGeom prst="roundRect">
            <a:avLst>
              <a:gd name="adj" fmla="val 8065"/>
            </a:avLst>
          </a:prstGeom>
          <a:solidFill>
            <a:srgbClr val="051D60"/>
          </a:solidFill>
          <a:ln w="12700">
            <a:solidFill>
              <a:srgbClr val="051D60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6995160" y="309067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A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</a:t>
            </a:r>
            <a:endParaRPr lang="en-US" sz="1050" dirty="0"/>
          </a:p>
        </p:txBody>
      </p:sp>
      <p:sp>
        <p:nvSpPr>
          <p:cNvPr id="51" name="Shape 48"/>
          <p:cNvSpPr/>
          <p:nvPr/>
        </p:nvSpPr>
        <p:spPr>
          <a:xfrm>
            <a:off x="7900416" y="2962656"/>
            <a:ext cx="786384" cy="566928"/>
          </a:xfrm>
          <a:prstGeom prst="roundRect">
            <a:avLst>
              <a:gd name="adj" fmla="val 8065"/>
            </a:avLst>
          </a:prstGeom>
          <a:solidFill>
            <a:srgbClr val="051D60"/>
          </a:solidFill>
          <a:ln w="12700">
            <a:solidFill>
              <a:srgbClr val="051D60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7900416" y="309067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A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G7</a:t>
            </a:r>
            <a:endParaRPr lang="en-US" sz="1050" dirty="0"/>
          </a:p>
        </p:txBody>
      </p:sp>
      <p:sp>
        <p:nvSpPr>
          <p:cNvPr id="53" name="Shape 50"/>
          <p:cNvSpPr/>
          <p:nvPr/>
        </p:nvSpPr>
        <p:spPr>
          <a:xfrm>
            <a:off x="8805672" y="2962656"/>
            <a:ext cx="786384" cy="566928"/>
          </a:xfrm>
          <a:prstGeom prst="roundRect">
            <a:avLst>
              <a:gd name="adj" fmla="val 8065"/>
            </a:avLst>
          </a:prstGeom>
          <a:solidFill>
            <a:srgbClr val="051D60"/>
          </a:solidFill>
          <a:ln w="12700">
            <a:solidFill>
              <a:srgbClr val="051D60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8805672" y="309067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A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G8</a:t>
            </a:r>
            <a:endParaRPr lang="en-US" sz="1050" dirty="0"/>
          </a:p>
        </p:txBody>
      </p:sp>
      <p:sp>
        <p:nvSpPr>
          <p:cNvPr id="55" name="Shape 52"/>
          <p:cNvSpPr/>
          <p:nvPr/>
        </p:nvSpPr>
        <p:spPr>
          <a:xfrm>
            <a:off x="9710928" y="2962656"/>
            <a:ext cx="786384" cy="566928"/>
          </a:xfrm>
          <a:prstGeom prst="roundRect">
            <a:avLst>
              <a:gd name="adj" fmla="val 8065"/>
            </a:avLst>
          </a:prstGeom>
          <a:solidFill>
            <a:srgbClr val="FAF3E7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9710928" y="309067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3AB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G9</a:t>
            </a:r>
            <a:endParaRPr lang="en-US" sz="1050" dirty="0"/>
          </a:p>
        </p:txBody>
      </p:sp>
      <p:sp>
        <p:nvSpPr>
          <p:cNvPr id="57" name="Text 54"/>
          <p:cNvSpPr txBox="1"/>
          <p:nvPr/>
        </p:nvSpPr>
        <p:spPr>
          <a:xfrm>
            <a:off x="10689336" y="31089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of 9</a:t>
            </a:r>
            <a:endParaRPr lang="en-US" sz="1050" dirty="0"/>
          </a:p>
        </p:txBody>
      </p:sp>
      <p:sp>
        <p:nvSpPr>
          <p:cNvPr id="58" name="Text 55"/>
          <p:cNvSpPr txBox="1"/>
          <p:nvPr/>
        </p:nvSpPr>
        <p:spPr>
          <a:xfrm>
            <a:off x="640080" y="3749040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full</a:t>
            </a:r>
            <a:endParaRPr lang="en-US" sz="14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986784"/>
            <a:ext cx="1801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capability · regulated · data or model</a:t>
            </a:r>
            <a:endParaRPr lang="en-US" sz="800" dirty="0"/>
          </a:p>
        </p:txBody>
      </p:sp>
      <p:sp>
        <p:nvSpPr>
          <p:cNvPr id="60" name="Shape 57"/>
          <p:cNvSpPr/>
          <p:nvPr/>
        </p:nvSpPr>
        <p:spPr>
          <a:xfrm>
            <a:off x="2468880" y="3712464"/>
            <a:ext cx="786384" cy="566928"/>
          </a:xfrm>
          <a:prstGeom prst="roundRect">
            <a:avLst>
              <a:gd name="adj" fmla="val 8065"/>
            </a:avLst>
          </a:prstGeom>
          <a:solidFill>
            <a:srgbClr val="051D60"/>
          </a:solidFill>
          <a:ln w="12700">
            <a:solidFill>
              <a:srgbClr val="051D60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468880" y="384048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A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</a:t>
            </a:r>
            <a:endParaRPr lang="en-US" sz="1050" dirty="0"/>
          </a:p>
        </p:txBody>
      </p:sp>
      <p:sp>
        <p:nvSpPr>
          <p:cNvPr id="62" name="Shape 59"/>
          <p:cNvSpPr/>
          <p:nvPr/>
        </p:nvSpPr>
        <p:spPr>
          <a:xfrm>
            <a:off x="3374136" y="3712464"/>
            <a:ext cx="786384" cy="566928"/>
          </a:xfrm>
          <a:prstGeom prst="roundRect">
            <a:avLst>
              <a:gd name="adj" fmla="val 8065"/>
            </a:avLst>
          </a:prstGeom>
          <a:solidFill>
            <a:srgbClr val="051D60"/>
          </a:solidFill>
          <a:ln w="12700">
            <a:solidFill>
              <a:srgbClr val="051D60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3374136" y="384048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A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</a:t>
            </a:r>
            <a:endParaRPr lang="en-US" sz="1050" dirty="0"/>
          </a:p>
        </p:txBody>
      </p:sp>
      <p:sp>
        <p:nvSpPr>
          <p:cNvPr id="64" name="Shape 61"/>
          <p:cNvSpPr/>
          <p:nvPr/>
        </p:nvSpPr>
        <p:spPr>
          <a:xfrm>
            <a:off x="4279392" y="3712464"/>
            <a:ext cx="786384" cy="566928"/>
          </a:xfrm>
          <a:prstGeom prst="roundRect">
            <a:avLst>
              <a:gd name="adj" fmla="val 8065"/>
            </a:avLst>
          </a:prstGeom>
          <a:solidFill>
            <a:srgbClr val="051D60"/>
          </a:solidFill>
          <a:ln w="12700">
            <a:solidFill>
              <a:srgbClr val="051D60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4279392" y="384048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A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G3</a:t>
            </a:r>
            <a:endParaRPr lang="en-US" sz="1050" dirty="0"/>
          </a:p>
        </p:txBody>
      </p:sp>
      <p:sp>
        <p:nvSpPr>
          <p:cNvPr id="66" name="Shape 63"/>
          <p:cNvSpPr/>
          <p:nvPr/>
        </p:nvSpPr>
        <p:spPr>
          <a:xfrm>
            <a:off x="5184648" y="3712464"/>
            <a:ext cx="786384" cy="566928"/>
          </a:xfrm>
          <a:prstGeom prst="roundRect">
            <a:avLst>
              <a:gd name="adj" fmla="val 8065"/>
            </a:avLst>
          </a:prstGeom>
          <a:solidFill>
            <a:srgbClr val="051D60"/>
          </a:solidFill>
          <a:ln w="12700">
            <a:solidFill>
              <a:srgbClr val="051D60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5184648" y="384048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A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G4</a:t>
            </a:r>
            <a:endParaRPr lang="en-US" sz="1050" dirty="0"/>
          </a:p>
        </p:txBody>
      </p:sp>
      <p:sp>
        <p:nvSpPr>
          <p:cNvPr id="68" name="Shape 65"/>
          <p:cNvSpPr/>
          <p:nvPr/>
        </p:nvSpPr>
        <p:spPr>
          <a:xfrm>
            <a:off x="6089904" y="3712464"/>
            <a:ext cx="786384" cy="566928"/>
          </a:xfrm>
          <a:prstGeom prst="roundRect">
            <a:avLst>
              <a:gd name="adj" fmla="val 8065"/>
            </a:avLst>
          </a:prstGeom>
          <a:solidFill>
            <a:srgbClr val="051D60"/>
          </a:solidFill>
          <a:ln w="12700">
            <a:solidFill>
              <a:srgbClr val="051D60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6089904" y="384048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A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G5</a:t>
            </a:r>
            <a:endParaRPr lang="en-US" sz="1050" dirty="0"/>
          </a:p>
        </p:txBody>
      </p:sp>
      <p:sp>
        <p:nvSpPr>
          <p:cNvPr id="70" name="Shape 67"/>
          <p:cNvSpPr/>
          <p:nvPr/>
        </p:nvSpPr>
        <p:spPr>
          <a:xfrm>
            <a:off x="6995160" y="3712464"/>
            <a:ext cx="786384" cy="566928"/>
          </a:xfrm>
          <a:prstGeom prst="roundRect">
            <a:avLst>
              <a:gd name="adj" fmla="val 8065"/>
            </a:avLst>
          </a:prstGeom>
          <a:solidFill>
            <a:srgbClr val="051D60"/>
          </a:solidFill>
          <a:ln w="12700">
            <a:solidFill>
              <a:srgbClr val="051D60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6995160" y="384048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A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</a:t>
            </a:r>
            <a:endParaRPr lang="en-US" sz="1050" dirty="0"/>
          </a:p>
        </p:txBody>
      </p:sp>
      <p:sp>
        <p:nvSpPr>
          <p:cNvPr id="72" name="Shape 69"/>
          <p:cNvSpPr/>
          <p:nvPr/>
        </p:nvSpPr>
        <p:spPr>
          <a:xfrm>
            <a:off x="7900416" y="3712464"/>
            <a:ext cx="786384" cy="566928"/>
          </a:xfrm>
          <a:prstGeom prst="roundRect">
            <a:avLst>
              <a:gd name="adj" fmla="val 8065"/>
            </a:avLst>
          </a:prstGeom>
          <a:solidFill>
            <a:srgbClr val="051D60"/>
          </a:solidFill>
          <a:ln w="12700">
            <a:solidFill>
              <a:srgbClr val="051D60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7900416" y="384048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A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G7</a:t>
            </a:r>
            <a:endParaRPr lang="en-US" sz="1050" dirty="0"/>
          </a:p>
        </p:txBody>
      </p:sp>
      <p:sp>
        <p:nvSpPr>
          <p:cNvPr id="74" name="Shape 71"/>
          <p:cNvSpPr/>
          <p:nvPr/>
        </p:nvSpPr>
        <p:spPr>
          <a:xfrm>
            <a:off x="8805672" y="3712464"/>
            <a:ext cx="786384" cy="566928"/>
          </a:xfrm>
          <a:prstGeom prst="roundRect">
            <a:avLst>
              <a:gd name="adj" fmla="val 8065"/>
            </a:avLst>
          </a:prstGeom>
          <a:solidFill>
            <a:srgbClr val="051D60"/>
          </a:solidFill>
          <a:ln w="12700">
            <a:solidFill>
              <a:srgbClr val="051D60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8805672" y="384048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A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G8</a:t>
            </a:r>
            <a:endParaRPr lang="en-US" sz="1050" dirty="0"/>
          </a:p>
        </p:txBody>
      </p:sp>
      <p:sp>
        <p:nvSpPr>
          <p:cNvPr id="76" name="Shape 73"/>
          <p:cNvSpPr/>
          <p:nvPr/>
        </p:nvSpPr>
        <p:spPr>
          <a:xfrm>
            <a:off x="9710928" y="3712464"/>
            <a:ext cx="786384" cy="566928"/>
          </a:xfrm>
          <a:prstGeom prst="roundRect">
            <a:avLst>
              <a:gd name="adj" fmla="val 8065"/>
            </a:avLst>
          </a:prstGeom>
          <a:solidFill>
            <a:srgbClr val="051D60"/>
          </a:solidFill>
          <a:ln w="12700">
            <a:solidFill>
              <a:srgbClr val="051D60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9710928" y="384048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A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G9</a:t>
            </a:r>
            <a:endParaRPr lang="en-US" sz="1050" dirty="0"/>
          </a:p>
        </p:txBody>
      </p:sp>
      <p:sp>
        <p:nvSpPr>
          <p:cNvPr id="78" name="Text 75"/>
          <p:cNvSpPr txBox="1"/>
          <p:nvPr/>
        </p:nvSpPr>
        <p:spPr>
          <a:xfrm>
            <a:off x="10689336" y="38587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of 9</a:t>
            </a:r>
            <a:endParaRPr lang="en-US" sz="1050" dirty="0"/>
          </a:p>
        </p:txBody>
      </p:sp>
      <p:sp>
        <p:nvSpPr>
          <p:cNvPr id="79" name="Text 76"/>
          <p:cNvSpPr txBox="1"/>
          <p:nvPr/>
        </p:nvSpPr>
        <p:spPr>
          <a:xfrm>
            <a:off x="640080" y="449884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hotfix</a:t>
            </a:r>
            <a:endParaRPr lang="en-US" sz="1400" dirty="0"/>
          </a:p>
        </p:txBody>
      </p:sp>
      <p:sp>
        <p:nvSpPr>
          <p:cNvPr id="80" name="Text 77"/>
          <p:cNvSpPr txBox="1"/>
          <p:nvPr/>
        </p:nvSpPr>
        <p:spPr>
          <a:xfrm>
            <a:off x="640080" y="4736592"/>
            <a:ext cx="1801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is degraded right now</a:t>
            </a:r>
            <a:endParaRPr lang="en-US" sz="800" dirty="0"/>
          </a:p>
        </p:txBody>
      </p:sp>
      <p:sp>
        <p:nvSpPr>
          <p:cNvPr id="81" name="Shape 78"/>
          <p:cNvSpPr/>
          <p:nvPr/>
        </p:nvSpPr>
        <p:spPr>
          <a:xfrm>
            <a:off x="2468880" y="4462272"/>
            <a:ext cx="786384" cy="566928"/>
          </a:xfrm>
          <a:prstGeom prst="roundRect">
            <a:avLst>
              <a:gd name="adj" fmla="val 8065"/>
            </a:avLst>
          </a:prstGeom>
          <a:solidFill>
            <a:srgbClr val="FAF3E7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2468880" y="459028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3AB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</a:t>
            </a:r>
            <a:endParaRPr lang="en-US" sz="1050" dirty="0"/>
          </a:p>
        </p:txBody>
      </p:sp>
      <p:sp>
        <p:nvSpPr>
          <p:cNvPr id="83" name="Shape 80"/>
          <p:cNvSpPr/>
          <p:nvPr/>
        </p:nvSpPr>
        <p:spPr>
          <a:xfrm>
            <a:off x="3374136" y="4462272"/>
            <a:ext cx="786384" cy="566928"/>
          </a:xfrm>
          <a:prstGeom prst="roundRect">
            <a:avLst>
              <a:gd name="adj" fmla="val 8065"/>
            </a:avLst>
          </a:prstGeom>
          <a:solidFill>
            <a:srgbClr val="051D60"/>
          </a:solidFill>
          <a:ln w="12700">
            <a:solidFill>
              <a:srgbClr val="051D60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3374136" y="459028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A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</a:t>
            </a:r>
            <a:endParaRPr lang="en-US" sz="1050" dirty="0"/>
          </a:p>
        </p:txBody>
      </p:sp>
      <p:sp>
        <p:nvSpPr>
          <p:cNvPr id="85" name="Shape 82"/>
          <p:cNvSpPr/>
          <p:nvPr/>
        </p:nvSpPr>
        <p:spPr>
          <a:xfrm>
            <a:off x="4279392" y="4462272"/>
            <a:ext cx="786384" cy="566928"/>
          </a:xfrm>
          <a:prstGeom prst="roundRect">
            <a:avLst>
              <a:gd name="adj" fmla="val 8065"/>
            </a:avLst>
          </a:prstGeom>
          <a:solidFill>
            <a:srgbClr val="FAF3E7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4279392" y="459028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3AB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G3</a:t>
            </a:r>
            <a:endParaRPr lang="en-US" sz="1050" dirty="0"/>
          </a:p>
        </p:txBody>
      </p:sp>
      <p:sp>
        <p:nvSpPr>
          <p:cNvPr id="87" name="Shape 84"/>
          <p:cNvSpPr/>
          <p:nvPr/>
        </p:nvSpPr>
        <p:spPr>
          <a:xfrm>
            <a:off x="5184648" y="4462272"/>
            <a:ext cx="786384" cy="566928"/>
          </a:xfrm>
          <a:prstGeom prst="roundRect">
            <a:avLst>
              <a:gd name="adj" fmla="val 8065"/>
            </a:avLst>
          </a:prstGeom>
          <a:solidFill>
            <a:srgbClr val="FAF3E7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5184648" y="459028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3AB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G4</a:t>
            </a:r>
            <a:endParaRPr lang="en-US" sz="1050" dirty="0"/>
          </a:p>
        </p:txBody>
      </p:sp>
      <p:sp>
        <p:nvSpPr>
          <p:cNvPr id="89" name="Shape 86"/>
          <p:cNvSpPr/>
          <p:nvPr/>
        </p:nvSpPr>
        <p:spPr>
          <a:xfrm>
            <a:off x="6089904" y="4462272"/>
            <a:ext cx="786384" cy="566928"/>
          </a:xfrm>
          <a:prstGeom prst="roundRect">
            <a:avLst>
              <a:gd name="adj" fmla="val 8065"/>
            </a:avLst>
          </a:prstGeom>
          <a:solidFill>
            <a:srgbClr val="FAF3E7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6089904" y="459028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3AB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G5</a:t>
            </a:r>
            <a:endParaRPr lang="en-US" sz="1050" dirty="0"/>
          </a:p>
        </p:txBody>
      </p:sp>
      <p:sp>
        <p:nvSpPr>
          <p:cNvPr id="91" name="Shape 88"/>
          <p:cNvSpPr/>
          <p:nvPr/>
        </p:nvSpPr>
        <p:spPr>
          <a:xfrm>
            <a:off x="6995160" y="4462272"/>
            <a:ext cx="786384" cy="566928"/>
          </a:xfrm>
          <a:prstGeom prst="roundRect">
            <a:avLst>
              <a:gd name="adj" fmla="val 8065"/>
            </a:avLst>
          </a:prstGeom>
          <a:solidFill>
            <a:srgbClr val="051D60"/>
          </a:solidFill>
          <a:ln w="12700">
            <a:solidFill>
              <a:srgbClr val="051D60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6995160" y="459028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A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</a:t>
            </a:r>
            <a:endParaRPr lang="en-US" sz="1050" dirty="0"/>
          </a:p>
        </p:txBody>
      </p:sp>
      <p:sp>
        <p:nvSpPr>
          <p:cNvPr id="93" name="Shape 90"/>
          <p:cNvSpPr/>
          <p:nvPr/>
        </p:nvSpPr>
        <p:spPr>
          <a:xfrm>
            <a:off x="7900416" y="4462272"/>
            <a:ext cx="786384" cy="566928"/>
          </a:xfrm>
          <a:prstGeom prst="roundRect">
            <a:avLst>
              <a:gd name="adj" fmla="val 8065"/>
            </a:avLst>
          </a:prstGeom>
          <a:solidFill>
            <a:srgbClr val="051D60"/>
          </a:solidFill>
          <a:ln w="12700">
            <a:solidFill>
              <a:srgbClr val="051D60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7900416" y="459028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A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G7</a:t>
            </a:r>
            <a:endParaRPr lang="en-US" sz="1050" dirty="0"/>
          </a:p>
        </p:txBody>
      </p:sp>
      <p:sp>
        <p:nvSpPr>
          <p:cNvPr id="95" name="Shape 92"/>
          <p:cNvSpPr/>
          <p:nvPr/>
        </p:nvSpPr>
        <p:spPr>
          <a:xfrm>
            <a:off x="8805672" y="4462272"/>
            <a:ext cx="786384" cy="566928"/>
          </a:xfrm>
          <a:prstGeom prst="roundRect">
            <a:avLst>
              <a:gd name="adj" fmla="val 8065"/>
            </a:avLst>
          </a:prstGeom>
          <a:solidFill>
            <a:srgbClr val="FAF3E7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8805672" y="459028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3AB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G8</a:t>
            </a:r>
            <a:endParaRPr lang="en-US" sz="1050" dirty="0"/>
          </a:p>
        </p:txBody>
      </p:sp>
      <p:sp>
        <p:nvSpPr>
          <p:cNvPr id="97" name="Shape 94"/>
          <p:cNvSpPr/>
          <p:nvPr/>
        </p:nvSpPr>
        <p:spPr>
          <a:xfrm>
            <a:off x="9710928" y="4462272"/>
            <a:ext cx="786384" cy="566928"/>
          </a:xfrm>
          <a:prstGeom prst="roundRect">
            <a:avLst>
              <a:gd name="adj" fmla="val 8065"/>
            </a:avLst>
          </a:prstGeom>
          <a:solidFill>
            <a:srgbClr val="051D60"/>
          </a:solidFill>
          <a:ln w="12700">
            <a:solidFill>
              <a:srgbClr val="051D60"/>
            </a:solidFill>
            <a:prstDash val="solid"/>
          </a:ln>
        </p:spPr>
      </p:sp>
      <p:sp>
        <p:nvSpPr>
          <p:cNvPr id="98" name="Text 95"/>
          <p:cNvSpPr txBox="1"/>
          <p:nvPr/>
        </p:nvSpPr>
        <p:spPr>
          <a:xfrm>
            <a:off x="9710928" y="459028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A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G9</a:t>
            </a:r>
            <a:endParaRPr lang="en-US" sz="1050" dirty="0"/>
          </a:p>
        </p:txBody>
      </p:sp>
      <p:sp>
        <p:nvSpPr>
          <p:cNvPr id="99" name="Text 96"/>
          <p:cNvSpPr txBox="1"/>
          <p:nvPr/>
        </p:nvSpPr>
        <p:spPr>
          <a:xfrm>
            <a:off x="10689336" y="460857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of 9</a:t>
            </a:r>
            <a:endParaRPr lang="en-US" sz="1050" dirty="0"/>
          </a:p>
        </p:txBody>
      </p:sp>
      <p:sp>
        <p:nvSpPr>
          <p:cNvPr id="100" name="Shape 97"/>
          <p:cNvSpPr/>
          <p:nvPr/>
        </p:nvSpPr>
        <p:spPr>
          <a:xfrm>
            <a:off x="640080" y="5431536"/>
            <a:ext cx="3454298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101" name="Text 98"/>
          <p:cNvSpPr txBox="1"/>
          <p:nvPr/>
        </p:nvSpPr>
        <p:spPr>
          <a:xfrm>
            <a:off x="841248" y="5541264"/>
            <a:ext cx="30519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by the highest-severity characteristic present</a:t>
            </a:r>
            <a:endParaRPr lang="en-US" sz="1050" dirty="0"/>
          </a:p>
        </p:txBody>
      </p:sp>
      <p:sp>
        <p:nvSpPr>
          <p:cNvPr id="102" name="Text 99"/>
          <p:cNvSpPr txBox="1"/>
          <p:nvPr/>
        </p:nvSpPr>
        <p:spPr>
          <a:xfrm>
            <a:off x="841248" y="5797296"/>
            <a:ext cx="305196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the average. One regulated field in an otherwise trivial change makes the whole change full.</a:t>
            </a:r>
            <a:endParaRPr lang="en-US" sz="900" dirty="0"/>
          </a:p>
        </p:txBody>
      </p:sp>
      <p:sp>
        <p:nvSpPr>
          <p:cNvPr id="103" name="Shape 100"/>
          <p:cNvSpPr/>
          <p:nvPr/>
        </p:nvSpPr>
        <p:spPr>
          <a:xfrm>
            <a:off x="4368698" y="5431536"/>
            <a:ext cx="3454298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104" name="Text 101"/>
          <p:cNvSpPr txBox="1"/>
          <p:nvPr/>
        </p:nvSpPr>
        <p:spPr>
          <a:xfrm>
            <a:off x="4569866" y="5541264"/>
            <a:ext cx="30519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two lanes both fit, take the wider one</a:t>
            </a:r>
            <a:endParaRPr lang="en-US" sz="1050" dirty="0"/>
          </a:p>
        </p:txBody>
      </p:sp>
      <p:sp>
        <p:nvSpPr>
          <p:cNvPr id="105" name="Text 102"/>
          <p:cNvSpPr txBox="1"/>
          <p:nvPr/>
        </p:nvSpPr>
        <p:spPr>
          <a:xfrm>
            <a:off x="4569866" y="5797296"/>
            <a:ext cx="305196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unnecessary gate costs hours. A missing gate costs an incident.</a:t>
            </a:r>
            <a:endParaRPr lang="en-US" sz="900" dirty="0"/>
          </a:p>
        </p:txBody>
      </p:sp>
      <p:sp>
        <p:nvSpPr>
          <p:cNvPr id="106" name="Shape 103"/>
          <p:cNvSpPr/>
          <p:nvPr/>
        </p:nvSpPr>
        <p:spPr>
          <a:xfrm>
            <a:off x="8097317" y="5431536"/>
            <a:ext cx="3454298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107" name="Text 104"/>
          <p:cNvSpPr txBox="1"/>
          <p:nvPr/>
        </p:nvSpPr>
        <p:spPr>
          <a:xfrm>
            <a:off x="8298485" y="5541264"/>
            <a:ext cx="30519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Lanes are never widened in place</a:t>
            </a:r>
            <a:endParaRPr lang="en-US" sz="1050" dirty="0"/>
          </a:p>
        </p:txBody>
      </p:sp>
      <p:sp>
        <p:nvSpPr>
          <p:cNvPr id="108" name="Text 105"/>
          <p:cNvSpPr txBox="1"/>
          <p:nvPr/>
        </p:nvSpPr>
        <p:spPr>
          <a:xfrm>
            <a:off x="8298485" y="5797296"/>
            <a:ext cx="305196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state.lane is not hand-edited. A change that outgrows its lane is waived out, archived, and re-proposed.</a:t>
            </a:r>
            <a:endParaRPr lang="en-US" sz="900" dirty="0"/>
          </a:p>
        </p:txBody>
      </p:sp>
      <p:sp>
        <p:nvSpPr>
          <p:cNvPr id="109" name="Text 106"/>
          <p:cNvSpPr txBox="1"/>
          <p:nvPr/>
        </p:nvSpPr>
        <p:spPr>
          <a:xfrm>
            <a:off x="640080" y="513892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hotfix defers G2 (retroactive within 48 hours) and makes G9 mandatory.   standard cannot record G4 at all — see slide 15.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51D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BA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 · ONE CHANGE, END TO END — AND WHERE IT REFUSES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AF3E7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propose  →  gates  →  validate  →  archive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80160"/>
            <a:ext cx="10911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BA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below writes nothing at all — not the state, not the waivers row, not the event. A half-recorded change is worse than a blocked one.</a:t>
            </a:r>
            <a:endParaRPr lang="en-US" sz="13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7215" y="6382512"/>
            <a:ext cx="914400" cy="1261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36422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5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navi-delivery  ·  v0.1.0  ·  10 / 17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640080" y="2048256"/>
            <a:ext cx="2377440" cy="1371600"/>
          </a:xfrm>
          <a:prstGeom prst="roundRect">
            <a:avLst>
              <a:gd name="adj" fmla="val 4000"/>
            </a:avLst>
          </a:prstGeom>
          <a:solidFill>
            <a:srgbClr val="0E2470"/>
          </a:solidFill>
          <a:ln w="12700">
            <a:solidFill>
              <a:srgbClr val="0E247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" y="2176272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AF3E7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propose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2450592"/>
            <a:ext cx="1975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--lane &lt;lane&gt;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2706624"/>
            <a:ext cx="1975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9BA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the change from templates. The lane is fixed here, for the life of the change.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108960" y="2734056"/>
            <a:ext cx="284378" cy="0"/>
          </a:xfrm>
          <a:prstGeom prst="line">
            <a:avLst/>
          </a:prstGeom>
          <a:noFill/>
          <a:ln w="22860">
            <a:solidFill>
              <a:srgbClr val="FAF3E7"/>
            </a:solidFill>
            <a:prstDash val="solid"/>
            <a:headEnd type="none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640080" y="3767328"/>
            <a:ext cx="2377440" cy="1444752"/>
          </a:xfrm>
          <a:prstGeom prst="roundRect">
            <a:avLst>
              <a:gd name="adj" fmla="val 3797"/>
            </a:avLst>
          </a:prstGeom>
          <a:solidFill>
            <a:srgbClr val="0D131F"/>
          </a:solidFill>
          <a:ln w="12700">
            <a:solidFill>
              <a:srgbClr val="2A2F4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41248" y="3895344"/>
            <a:ext cx="19751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08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REFUSES WHEN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841248" y="4133088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lane '&lt;x&gt;' — valid lanes: ...</a:t>
            </a:r>
            <a:endParaRPr lang="en-US" sz="9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--lane requires a value</a:t>
            </a:r>
            <a:endParaRPr lang="en-US" sz="9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'&lt;name&gt;' already exists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1828800" y="3474720"/>
            <a:ext cx="0" cy="237744"/>
          </a:xfrm>
          <a:prstGeom prst="line">
            <a:avLst/>
          </a:prstGeom>
          <a:noFill/>
          <a:ln w="16510">
            <a:solidFill>
              <a:srgbClr val="E08A72"/>
            </a:solidFill>
            <a:prstDash val="dash"/>
            <a:headEnd type="none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3484778" y="2048256"/>
            <a:ext cx="2377440" cy="1371600"/>
          </a:xfrm>
          <a:prstGeom prst="roundRect">
            <a:avLst>
              <a:gd name="adj" fmla="val 4000"/>
            </a:avLst>
          </a:prstGeom>
          <a:solidFill>
            <a:srgbClr val="0E2470"/>
          </a:solidFill>
          <a:ln w="12700">
            <a:solidFill>
              <a:srgbClr val="0E247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685946" y="2176272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AF3E7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gate G#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3685946" y="2450592"/>
            <a:ext cx="1975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--pass | --fail | --waive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3685946" y="2706624"/>
            <a:ext cx="1975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9BA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a verdict plus an evidence path into state.json, and appends an event.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953658" y="2734056"/>
            <a:ext cx="284378" cy="0"/>
          </a:xfrm>
          <a:prstGeom prst="line">
            <a:avLst/>
          </a:prstGeom>
          <a:noFill/>
          <a:ln w="22860">
            <a:solidFill>
              <a:srgbClr val="FAF3E7"/>
            </a:solidFill>
            <a:prstDash val="solid"/>
            <a:headEnd type="none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3484778" y="3767328"/>
            <a:ext cx="2377440" cy="1444752"/>
          </a:xfrm>
          <a:prstGeom prst="roundRect">
            <a:avLst>
              <a:gd name="adj" fmla="val 3797"/>
            </a:avLst>
          </a:prstGeom>
          <a:solidFill>
            <a:srgbClr val="0D131F"/>
          </a:solidFill>
          <a:ln w="12700">
            <a:solidFill>
              <a:srgbClr val="2A2F4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685946" y="3895344"/>
            <a:ext cx="19751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08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REFUSES WHEN</a:t>
            </a:r>
            <a:endParaRPr lang="en-US" sz="800" dirty="0"/>
          </a:p>
        </p:txBody>
      </p:sp>
      <p:sp>
        <p:nvSpPr>
          <p:cNvPr id="23" name="Text 20"/>
          <p:cNvSpPr txBox="1"/>
          <p:nvPr/>
        </p:nvSpPr>
        <p:spPr>
          <a:xfrm>
            <a:off x="3685946" y="4133088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G4 is not in lane 'standard'</a:t>
            </a:r>
            <a:endParaRPr lang="en-US" sz="9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path does not exist / not a regular file / is empty (0 bytes)</a:t>
            </a:r>
            <a:endParaRPr lang="en-US" sz="9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--expires must be strictly in the future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4673498" y="3474720"/>
            <a:ext cx="0" cy="237744"/>
          </a:xfrm>
          <a:prstGeom prst="line">
            <a:avLst/>
          </a:prstGeom>
          <a:noFill/>
          <a:ln w="16510">
            <a:solidFill>
              <a:srgbClr val="E08A72"/>
            </a:solidFill>
            <a:prstDash val="dash"/>
            <a:headEnd type="none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6329477" y="2048256"/>
            <a:ext cx="2377440" cy="1371600"/>
          </a:xfrm>
          <a:prstGeom prst="roundRect">
            <a:avLst>
              <a:gd name="adj" fmla="val 4000"/>
            </a:avLst>
          </a:prstGeom>
          <a:solidFill>
            <a:srgbClr val="0E2470"/>
          </a:solidFill>
          <a:ln w="12700">
            <a:solidFill>
              <a:srgbClr val="0E247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530645" y="2176272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AF3E7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validate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6530645" y="2450592"/>
            <a:ext cx="1975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[--strict]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6530645" y="2706624"/>
            <a:ext cx="1975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9BA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Frontmatter and naming, the separation law, the ID chain. --strict adds the orphan check.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8798357" y="2734056"/>
            <a:ext cx="284378" cy="0"/>
          </a:xfrm>
          <a:prstGeom prst="line">
            <a:avLst/>
          </a:prstGeom>
          <a:noFill/>
          <a:ln w="22860">
            <a:solidFill>
              <a:srgbClr val="FAF3E7"/>
            </a:solidFill>
            <a:prstDash val="solid"/>
            <a:headEnd type="none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6329477" y="3767328"/>
            <a:ext cx="2377440" cy="1444752"/>
          </a:xfrm>
          <a:prstGeom prst="roundRect">
            <a:avLst>
              <a:gd name="adj" fmla="val 3797"/>
            </a:avLst>
          </a:prstGeom>
          <a:solidFill>
            <a:srgbClr val="0D131F"/>
          </a:solidFill>
          <a:ln w="12700">
            <a:solidFill>
              <a:srgbClr val="2A2F45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30645" y="3895344"/>
            <a:ext cx="19751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08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REFUSES WHEN</a:t>
            </a:r>
            <a:endParaRPr lang="en-US" sz="800" dirty="0"/>
          </a:p>
        </p:txBody>
      </p:sp>
      <p:sp>
        <p:nvSpPr>
          <p:cNvPr id="32" name="Text 29"/>
          <p:cNvSpPr txBox="1"/>
          <p:nvPr/>
        </p:nvSpPr>
        <p:spPr>
          <a:xfrm>
            <a:off x="6530645" y="4133088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stale artifact(s) — resolve rework first</a:t>
            </a:r>
            <a:endParaRPr lang="en-US" sz="9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· T2 · T3 findings  (T4 under --strict)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518197" y="3474720"/>
            <a:ext cx="0" cy="237744"/>
          </a:xfrm>
          <a:prstGeom prst="line">
            <a:avLst/>
          </a:prstGeom>
          <a:noFill/>
          <a:ln w="16510">
            <a:solidFill>
              <a:srgbClr val="E08A72"/>
            </a:solidFill>
            <a:prstDash val="dash"/>
            <a:headEnd type="none"/>
            <a:tailEnd type="triangle"/>
          </a:ln>
        </p:spPr>
      </p:sp>
      <p:sp>
        <p:nvSpPr>
          <p:cNvPr id="34" name="Shape 31"/>
          <p:cNvSpPr/>
          <p:nvPr/>
        </p:nvSpPr>
        <p:spPr>
          <a:xfrm>
            <a:off x="9174175" y="2048256"/>
            <a:ext cx="2377440" cy="1371600"/>
          </a:xfrm>
          <a:prstGeom prst="roundRect">
            <a:avLst>
              <a:gd name="adj" fmla="val 4000"/>
            </a:avLst>
          </a:prstGeom>
          <a:solidFill>
            <a:srgbClr val="0E2470"/>
          </a:solidFill>
          <a:ln w="12700">
            <a:solidFill>
              <a:srgbClr val="0E247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375343" y="2176272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AF3E7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archive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9375343" y="2450592"/>
            <a:ext cx="1975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&lt;name&gt;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9375343" y="2706624"/>
            <a:ext cx="1975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9BA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Folds the delta spec into specs/, moves the change, writes the insight stub.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9174175" y="3767328"/>
            <a:ext cx="2377440" cy="1444752"/>
          </a:xfrm>
          <a:prstGeom prst="roundRect">
            <a:avLst>
              <a:gd name="adj" fmla="val 3797"/>
            </a:avLst>
          </a:prstGeom>
          <a:solidFill>
            <a:srgbClr val="0D131F"/>
          </a:solidFill>
          <a:ln w="12700">
            <a:solidFill>
              <a:srgbClr val="2A2F45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9375343" y="3895344"/>
            <a:ext cx="19751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08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REFUSES WHEN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9375343" y="4133088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and/or artifacts are not settled</a:t>
            </a:r>
            <a:endParaRPr lang="en-US" sz="9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refuses to overwrite an existing archive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10362895" y="3474720"/>
            <a:ext cx="0" cy="237744"/>
          </a:xfrm>
          <a:prstGeom prst="line">
            <a:avLst/>
          </a:prstGeom>
          <a:noFill/>
          <a:ln w="16510">
            <a:solidFill>
              <a:srgbClr val="E08A72"/>
            </a:solidFill>
            <a:prstDash val="dash"/>
            <a:headEnd type="none"/>
            <a:tailEnd type="triangle"/>
          </a:ln>
        </p:spPr>
      </p:sp>
      <p:sp>
        <p:nvSpPr>
          <p:cNvPr id="42" name="Shape 39"/>
          <p:cNvSpPr/>
          <p:nvPr/>
        </p:nvSpPr>
        <p:spPr>
          <a:xfrm>
            <a:off x="640080" y="5449824"/>
            <a:ext cx="10911535" cy="749808"/>
          </a:xfrm>
          <a:prstGeom prst="roundRect">
            <a:avLst>
              <a:gd name="adj" fmla="val 7317"/>
            </a:avLst>
          </a:prstGeom>
          <a:solidFill>
            <a:srgbClr val="192954"/>
          </a:solidFill>
          <a:ln w="12700">
            <a:solidFill>
              <a:srgbClr val="192954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14400" y="561441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8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G6 --fail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2468880" y="5751576"/>
            <a:ext cx="457200" cy="0"/>
          </a:xfrm>
          <a:prstGeom prst="line">
            <a:avLst/>
          </a:prstGeom>
          <a:noFill/>
          <a:ln w="19050">
            <a:solidFill>
              <a:srgbClr val="E4DED3"/>
            </a:solidFill>
            <a:prstDash val="solid"/>
            <a:headEnd type="none"/>
            <a:tailEnd type="triangle"/>
          </a:ln>
        </p:spPr>
      </p:sp>
      <p:sp>
        <p:nvSpPr>
          <p:cNvPr id="45" name="Text 42"/>
          <p:cNvSpPr txBox="1"/>
          <p:nvPr/>
        </p:nvSpPr>
        <p:spPr>
          <a:xfrm>
            <a:off x="3035808" y="5596128"/>
            <a:ext cx="8168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and every later gate in the same lane are marked stale  →  validate fails while any stale entry remains  →  a rework record names the phase to re-enter  →  each stale gate is cleared by re-recording it individually.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 · SPEC-DRIVEN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Everything traces back to a requirement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80160"/>
            <a:ext cx="10911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 is the source of truth and code is its consequence. A code change that outruns its spec is a defect, not a shortcut.</a:t>
            </a:r>
            <a:endParaRPr lang="en-US" sz="13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7215" y="6382512"/>
            <a:ext cx="914400" cy="1261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36422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navi-delivery  ·  v0.1.0  ·  11 / 17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640080" y="1965960"/>
            <a:ext cx="1316736" cy="1207008"/>
          </a:xfrm>
          <a:prstGeom prst="roundRect">
            <a:avLst>
              <a:gd name="adj" fmla="val 4545"/>
            </a:avLst>
          </a:prstGeom>
          <a:solidFill>
            <a:srgbClr val="051D60"/>
          </a:solidFill>
          <a:ln w="12700">
            <a:solidFill>
              <a:srgbClr val="051D6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4944" y="2139696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AF3E7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REQ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694944" y="2487168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694944" y="2743200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specs/&lt;cap&gt;/spec.md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1993392" y="2569464"/>
            <a:ext cx="209245" cy="0"/>
          </a:xfrm>
          <a:prstGeom prst="line">
            <a:avLst/>
          </a:prstGeom>
          <a:noFill/>
          <a:ln w="19050">
            <a:solidFill>
              <a:srgbClr val="051D60"/>
            </a:solidFill>
            <a:prstDash val="solid"/>
            <a:headEnd type="none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2239213" y="1965960"/>
            <a:ext cx="13167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294077" y="2139696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AC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2294077" y="2487168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2294077" y="2743200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its REQ heading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3592525" y="2569464"/>
            <a:ext cx="209245" cy="0"/>
          </a:xfrm>
          <a:prstGeom prst="line">
            <a:avLst/>
          </a:prstGeom>
          <a:noFill/>
          <a:ln w="19050">
            <a:solidFill>
              <a:srgbClr val="051D60"/>
            </a:solidFill>
            <a:prstDash val="solid"/>
            <a:headEnd type="none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3838346" y="1965960"/>
            <a:ext cx="13167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893210" y="2139696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ADR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3893210" y="2487168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3893210" y="2743200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decisions/ADR-###.md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5191658" y="2569464"/>
            <a:ext cx="209245" cy="0"/>
          </a:xfrm>
          <a:prstGeom prst="line">
            <a:avLst/>
          </a:prstGeom>
          <a:noFill/>
          <a:ln w="19050">
            <a:solidFill>
              <a:srgbClr val="051D60"/>
            </a:solidFill>
            <a:prstDash val="solid"/>
            <a:headEnd type="none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5437480" y="1965960"/>
            <a:ext cx="13167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92344" y="2139696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TASK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492344" y="2487168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item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492344" y="2743200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changes/&lt;name&gt;/tasks.md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6790792" y="2569464"/>
            <a:ext cx="209245" cy="0"/>
          </a:xfrm>
          <a:prstGeom prst="line">
            <a:avLst/>
          </a:prstGeom>
          <a:noFill/>
          <a:ln w="19050">
            <a:solidFill>
              <a:srgbClr val="051D60"/>
            </a:solidFill>
            <a:prstDash val="solid"/>
            <a:headEnd type="none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7036613" y="1965960"/>
            <a:ext cx="13167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091477" y="2139696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TEST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7091477" y="2487168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7091477" y="2743200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test suite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8389925" y="2569464"/>
            <a:ext cx="209245" cy="0"/>
          </a:xfrm>
          <a:prstGeom prst="line">
            <a:avLst/>
          </a:prstGeom>
          <a:noFill/>
          <a:ln w="19050">
            <a:solidFill>
              <a:srgbClr val="051D60"/>
            </a:solidFill>
            <a:prstDash val="solid"/>
            <a:headEnd type="none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8635746" y="1965960"/>
            <a:ext cx="13167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690610" y="2139696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SLI</a:t>
            </a:r>
            <a:endParaRPr lang="en-US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8690610" y="2487168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8690610" y="2743200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ops/slo.md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9989058" y="2569464"/>
            <a:ext cx="209245" cy="0"/>
          </a:xfrm>
          <a:prstGeom prst="line">
            <a:avLst/>
          </a:prstGeom>
          <a:noFill/>
          <a:ln w="19050">
            <a:solidFill>
              <a:srgbClr val="051D60"/>
            </a:solidFill>
            <a:prstDash val="solid"/>
            <a:headEnd type="none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10234879" y="1965960"/>
            <a:ext cx="1316736" cy="1207008"/>
          </a:xfrm>
          <a:prstGeom prst="roundRect">
            <a:avLst>
              <a:gd name="adj" fmla="val 4545"/>
            </a:avLst>
          </a:prstGeom>
          <a:solidFill>
            <a:srgbClr val="051D60"/>
          </a:solidFill>
          <a:ln w="12700">
            <a:solidFill>
              <a:srgbClr val="051D60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0289743" y="2139696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3E7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INSIGHT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10289743" y="2487168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10289743" y="2743200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ops/postmortems/</a:t>
            </a:r>
            <a:endParaRPr lang="en-US" sz="800" dirty="0"/>
          </a:p>
        </p:txBody>
      </p:sp>
      <p:sp>
        <p:nvSpPr>
          <p:cNvPr id="41" name="Shape 38"/>
          <p:cNvSpPr/>
          <p:nvPr/>
        </p:nvSpPr>
        <p:spPr>
          <a:xfrm>
            <a:off x="640080" y="3456432"/>
            <a:ext cx="5318608" cy="1883664"/>
          </a:xfrm>
          <a:prstGeom prst="roundRect">
            <a:avLst>
              <a:gd name="adj" fmla="val 2913"/>
            </a:avLst>
          </a:prstGeom>
          <a:solidFill>
            <a:srgbClr val="FFFFFF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96112" y="3621024"/>
            <a:ext cx="4806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What the validator actually sees</a:t>
            </a:r>
            <a:endParaRPr lang="en-US" sz="1300" dirty="0"/>
          </a:p>
        </p:txBody>
      </p:sp>
      <p:sp>
        <p:nvSpPr>
          <p:cNvPr id="43" name="Text 40"/>
          <p:cNvSpPr txBox="1"/>
          <p:nvPr/>
        </p:nvSpPr>
        <p:spPr>
          <a:xfrm>
            <a:off x="896112" y="3931920"/>
            <a:ext cx="48065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requirement only on a line starting with #  — not in a paragraph, a table cell or a bullet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criterion anywhere between its REQ heading and the next one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task only when the id is bold: **TASK-###**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Implements: REQ-### only within three lines of the task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digits minimum — REQ-4 is silently not a requirement</a:t>
            </a:r>
            <a:endParaRPr lang="en-US" sz="950" dirty="0"/>
          </a:p>
        </p:txBody>
      </p:sp>
      <p:sp>
        <p:nvSpPr>
          <p:cNvPr id="44" name="Shape 41"/>
          <p:cNvSpPr/>
          <p:nvPr/>
        </p:nvSpPr>
        <p:spPr>
          <a:xfrm>
            <a:off x="6233008" y="3456432"/>
            <a:ext cx="5318608" cy="1883664"/>
          </a:xfrm>
          <a:prstGeom prst="roundRect">
            <a:avLst>
              <a:gd name="adj" fmla="val 2913"/>
            </a:avLst>
          </a:prstGeom>
          <a:solidFill>
            <a:srgbClr val="F1E9DA"/>
          </a:solidFill>
          <a:ln w="12700">
            <a:solidFill>
              <a:srgbClr val="F1E9D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489040" y="3621024"/>
            <a:ext cx="4806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The five findings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6489040" y="3950208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</a:t>
            </a:r>
            <a:endParaRPr lang="en-US" sz="1050" dirty="0"/>
          </a:p>
        </p:txBody>
      </p:sp>
      <p:sp>
        <p:nvSpPr>
          <p:cNvPr id="47" name="Text 44"/>
          <p:cNvSpPr txBox="1"/>
          <p:nvPr/>
        </p:nvSpPr>
        <p:spPr>
          <a:xfrm>
            <a:off x="6927952" y="3950208"/>
            <a:ext cx="4367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file is not readable — so it was not checked</a:t>
            </a:r>
            <a:endParaRPr lang="en-US" sz="950" dirty="0"/>
          </a:p>
        </p:txBody>
      </p:sp>
      <p:sp>
        <p:nvSpPr>
          <p:cNvPr id="48" name="Text 45"/>
          <p:cNvSpPr txBox="1"/>
          <p:nvPr/>
        </p:nvSpPr>
        <p:spPr>
          <a:xfrm>
            <a:off x="6489040" y="4215384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6927952" y="4215384"/>
            <a:ext cx="4367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TASK-### with no Implements: line</a:t>
            </a:r>
            <a:endParaRPr lang="en-US" sz="950" dirty="0"/>
          </a:p>
        </p:txBody>
      </p:sp>
      <p:sp>
        <p:nvSpPr>
          <p:cNvPr id="50" name="Text 47"/>
          <p:cNvSpPr txBox="1"/>
          <p:nvPr/>
        </p:nvSpPr>
        <p:spPr>
          <a:xfrm>
            <a:off x="6489040" y="448056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1050" dirty="0"/>
          </a:p>
        </p:txBody>
      </p:sp>
      <p:sp>
        <p:nvSpPr>
          <p:cNvPr id="51" name="Text 48"/>
          <p:cNvSpPr txBox="1"/>
          <p:nvPr/>
        </p:nvSpPr>
        <p:spPr>
          <a:xfrm>
            <a:off x="6927952" y="4480560"/>
            <a:ext cx="4367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REQ-### with no acceptance criteria</a:t>
            </a:r>
            <a:endParaRPr lang="en-US" sz="950" dirty="0"/>
          </a:p>
        </p:txBody>
      </p:sp>
      <p:sp>
        <p:nvSpPr>
          <p:cNvPr id="52" name="Text 49"/>
          <p:cNvSpPr txBox="1"/>
          <p:nvPr/>
        </p:nvSpPr>
        <p:spPr>
          <a:xfrm>
            <a:off x="6489040" y="4745736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1050" dirty="0"/>
          </a:p>
        </p:txBody>
      </p:sp>
      <p:sp>
        <p:nvSpPr>
          <p:cNvPr id="53" name="Text 50"/>
          <p:cNvSpPr txBox="1"/>
          <p:nvPr/>
        </p:nvSpPr>
        <p:spPr>
          <a:xfrm>
            <a:off x="6927952" y="4745736"/>
            <a:ext cx="4367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TASK-### implementing an unknown REQ-###</a:t>
            </a:r>
            <a:endParaRPr lang="en-US" sz="950" dirty="0"/>
          </a:p>
        </p:txBody>
      </p:sp>
      <p:sp>
        <p:nvSpPr>
          <p:cNvPr id="54" name="Text 51"/>
          <p:cNvSpPr txBox="1"/>
          <p:nvPr/>
        </p:nvSpPr>
        <p:spPr>
          <a:xfrm>
            <a:off x="6489040" y="5010912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T4</a:t>
            </a:r>
            <a:endParaRPr lang="en-US" sz="1050" dirty="0"/>
          </a:p>
        </p:txBody>
      </p:sp>
      <p:sp>
        <p:nvSpPr>
          <p:cNvPr id="55" name="Text 52"/>
          <p:cNvSpPr txBox="1"/>
          <p:nvPr/>
        </p:nvSpPr>
        <p:spPr>
          <a:xfrm>
            <a:off x="6927952" y="5010912"/>
            <a:ext cx="4367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REQ-### no task implements — --strict only</a:t>
            </a:r>
            <a:endParaRPr lang="en-US" sz="950" dirty="0"/>
          </a:p>
        </p:txBody>
      </p:sp>
      <p:sp>
        <p:nvSpPr>
          <p:cNvPr id="56" name="Text 53"/>
          <p:cNvSpPr txBox="1"/>
          <p:nvPr/>
        </p:nvSpPr>
        <p:spPr>
          <a:xfrm>
            <a:off x="640080" y="550468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silence a finding by renaming an ID to one that happens to exist. Fix the missing link, or delete the orphan.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640080" y="5797296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chain runs one way. An insight can propose a new requirement — but only by becoming a candidate REQ-### in a new change, never by editing backwards into a closed one.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51D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BA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AF3E7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Seven verbs, and nothing to install but Node and Python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8016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BA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runs against the current working directory. The framework itself has zero runtime dependencies.</a:t>
            </a:r>
            <a:endParaRPr lang="en-US" sz="13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7215" y="6382512"/>
            <a:ext cx="914400" cy="1261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36422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5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navi-delivery  ·  v0.1.0  ·  12 / 17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640080" y="1993392"/>
            <a:ext cx="6858000" cy="457200"/>
          </a:xfrm>
          <a:prstGeom prst="roundRect">
            <a:avLst>
              <a:gd name="adj" fmla="val 12000"/>
            </a:avLst>
          </a:prstGeom>
          <a:solidFill>
            <a:srgbClr val="192954"/>
          </a:solidFill>
          <a:ln w="12700">
            <a:solidFill>
              <a:srgbClr val="19295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7824" y="210312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3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212848" y="2121408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 delivery/, generate AGENTS.md, detect the harness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40080" y="2519172"/>
            <a:ext cx="6858000" cy="457200"/>
          </a:xfrm>
          <a:prstGeom prst="roundRect">
            <a:avLst>
              <a:gd name="adj" fmla="val 12000"/>
            </a:avLst>
          </a:prstGeom>
          <a:solidFill>
            <a:srgbClr val="0E2470"/>
          </a:solidFill>
          <a:ln w="12700">
            <a:solidFill>
              <a:srgbClr val="0E247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77824" y="262890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3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propose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2212848" y="2647188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change from templates; fix its lane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40080" y="3044952"/>
            <a:ext cx="6858000" cy="457200"/>
          </a:xfrm>
          <a:prstGeom prst="roundRect">
            <a:avLst>
              <a:gd name="adj" fmla="val 12000"/>
            </a:avLst>
          </a:prstGeom>
          <a:solidFill>
            <a:srgbClr val="192954"/>
          </a:solidFill>
          <a:ln w="12700">
            <a:solidFill>
              <a:srgbClr val="19295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77824" y="315468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3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2212848" y="3172968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change, lane, phase, gate verdicts, stale artifacts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0080" y="3570732"/>
            <a:ext cx="6858000" cy="457200"/>
          </a:xfrm>
          <a:prstGeom prst="roundRect">
            <a:avLst>
              <a:gd name="adj" fmla="val 12000"/>
            </a:avLst>
          </a:prstGeom>
          <a:solidFill>
            <a:srgbClr val="0E2470"/>
          </a:solidFill>
          <a:ln w="12700">
            <a:solidFill>
              <a:srgbClr val="0E247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77824" y="368046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3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gate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2212848" y="3698748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a verdict with an evidence path, or a waiver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40080" y="4096512"/>
            <a:ext cx="6858000" cy="457200"/>
          </a:xfrm>
          <a:prstGeom prst="roundRect">
            <a:avLst>
              <a:gd name="adj" fmla="val 12000"/>
            </a:avLst>
          </a:prstGeom>
          <a:solidFill>
            <a:srgbClr val="192954"/>
          </a:solidFill>
          <a:ln w="12700">
            <a:solidFill>
              <a:srgbClr val="192954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77824" y="420624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3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2212848" y="4224528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frontmatter, the separation law, the ID chain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40080" y="4622292"/>
            <a:ext cx="6858000" cy="457200"/>
          </a:xfrm>
          <a:prstGeom prst="roundRect">
            <a:avLst>
              <a:gd name="adj" fmla="val 12000"/>
            </a:avLst>
          </a:prstGeom>
          <a:solidFill>
            <a:srgbClr val="0E2470"/>
          </a:solidFill>
          <a:ln w="12700">
            <a:solidFill>
              <a:srgbClr val="0E247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77824" y="473202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3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archive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2212848" y="4750308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the delta into specs/, emit the insight stub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40080" y="5148072"/>
            <a:ext cx="6858000" cy="457200"/>
          </a:xfrm>
          <a:prstGeom prst="roundRect">
            <a:avLst>
              <a:gd name="adj" fmla="val 12000"/>
            </a:avLst>
          </a:prstGeom>
          <a:solidFill>
            <a:srgbClr val="192954"/>
          </a:solidFill>
          <a:ln w="12700">
            <a:solidFill>
              <a:srgbClr val="192954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77824" y="525780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3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doctor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2212848" y="5276088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 detection; native vs fallback capabilities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7909560" y="1993392"/>
            <a:ext cx="3642055" cy="2670048"/>
          </a:xfrm>
          <a:prstGeom prst="roundRect">
            <a:avLst>
              <a:gd name="adj" fmla="val 2055"/>
            </a:avLst>
          </a:prstGeom>
          <a:solidFill>
            <a:srgbClr val="132C79"/>
          </a:solidFill>
          <a:ln w="12700">
            <a:solidFill>
              <a:srgbClr val="132C79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165592" y="2139696"/>
            <a:ext cx="31299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3E7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What it puts in your repo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8165592" y="2395728"/>
            <a:ext cx="3129991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2000"/>
              </a:lnSpc>
              <a:buNone/>
            </a:pPr>
            <a:r>
              <a:rPr lang="en-US" sz="1000" dirty="0">
                <a:solidFill>
                  <a:srgbClr val="E4DE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delivery/</a:t>
            </a:r>
            <a:endParaRPr lang="en-US" sz="1000" dirty="0"/>
          </a:p>
          <a:p>
            <a:pPr indent="0" marL="0">
              <a:lnSpc>
                <a:spcPct val="162000"/>
              </a:lnSpc>
              <a:buNone/>
            </a:pPr>
            <a:r>
              <a:rPr lang="en-US" sz="1000" dirty="0">
                <a:solidFill>
                  <a:srgbClr val="E4DE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project.md      your stack &amp; conventions</a:t>
            </a:r>
            <a:endParaRPr lang="en-US" sz="1000" dirty="0"/>
          </a:p>
          <a:p>
            <a:pPr indent="0" marL="0">
              <a:lnSpc>
                <a:spcPct val="162000"/>
              </a:lnSpc>
              <a:buNone/>
            </a:pPr>
            <a:r>
              <a:rPr lang="en-US" sz="1000" dirty="0">
                <a:solidFill>
                  <a:srgbClr val="E4DE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AGENTS.md       harness entry point</a:t>
            </a:r>
            <a:endParaRPr lang="en-US" sz="1000" dirty="0"/>
          </a:p>
          <a:p>
            <a:pPr indent="0" marL="0">
              <a:lnSpc>
                <a:spcPct val="162000"/>
              </a:lnSpc>
              <a:buNone/>
            </a:pPr>
            <a:r>
              <a:rPr lang="en-US" sz="1000" dirty="0">
                <a:solidFill>
                  <a:srgbClr val="E4DE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specs/          current truth</a:t>
            </a:r>
            <a:endParaRPr lang="en-US" sz="1000" dirty="0"/>
          </a:p>
          <a:p>
            <a:pPr indent="0" marL="0">
              <a:lnSpc>
                <a:spcPct val="162000"/>
              </a:lnSpc>
              <a:buNone/>
            </a:pPr>
            <a:r>
              <a:rPr lang="en-US" sz="1000" dirty="0">
                <a:solidFill>
                  <a:srgbClr val="E4DE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changes/        in flight, and archive/</a:t>
            </a:r>
            <a:endParaRPr lang="en-US" sz="1000" dirty="0"/>
          </a:p>
          <a:p>
            <a:pPr indent="0" marL="0">
              <a:lnSpc>
                <a:spcPct val="162000"/>
              </a:lnSpc>
              <a:buNone/>
            </a:pPr>
            <a:r>
              <a:rPr lang="en-US" sz="1000" dirty="0">
                <a:solidFill>
                  <a:srgbClr val="E4DE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decisions/      ADRs</a:t>
            </a:r>
            <a:endParaRPr lang="en-US" sz="1000" dirty="0"/>
          </a:p>
          <a:p>
            <a:pPr indent="0" marL="0">
              <a:lnSpc>
                <a:spcPct val="162000"/>
              </a:lnSpc>
              <a:buNone/>
            </a:pPr>
            <a:r>
              <a:rPr lang="en-US" sz="1000" dirty="0">
                <a:solidFill>
                  <a:srgbClr val="E4DE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ops/            slo · runbooks · postmortems</a:t>
            </a:r>
            <a:endParaRPr lang="en-US" sz="1000" dirty="0"/>
          </a:p>
          <a:p>
            <a:pPr indent="0" marL="0">
              <a:lnSpc>
                <a:spcPct val="162000"/>
              </a:lnSpc>
              <a:buNone/>
            </a:pPr>
            <a:r>
              <a:rPr lang="en-US" sz="1000" dirty="0">
                <a:solidFill>
                  <a:srgbClr val="E4DE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.adlc/          state · events · waivers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7909560" y="4809744"/>
            <a:ext cx="3642055" cy="1170432"/>
          </a:xfrm>
          <a:prstGeom prst="roundRect">
            <a:avLst>
              <a:gd name="adj" fmla="val 4688"/>
            </a:avLst>
          </a:prstGeom>
          <a:solidFill>
            <a:srgbClr val="192954"/>
          </a:solidFill>
          <a:ln w="12700">
            <a:solidFill>
              <a:srgbClr val="192954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165592" y="4937760"/>
            <a:ext cx="31299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A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ops/ is the deliberate extension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8165592" y="5212080"/>
            <a:ext cx="312999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9BA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past where change-proposal tooling usually stops. Phases 8 and 9 need a home in the repo, or the loop from an incident back to a changed standard cannot close.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640080" y="5687568"/>
            <a:ext cx="6858000" cy="512064"/>
          </a:xfrm>
          <a:prstGeom prst="roundRect">
            <a:avLst>
              <a:gd name="adj" fmla="val 10714"/>
            </a:avLst>
          </a:prstGeom>
          <a:solidFill>
            <a:srgbClr val="192954"/>
          </a:solidFill>
          <a:ln w="12700">
            <a:solidFill>
              <a:srgbClr val="192954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7824" y="583387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validate and archive read only .adlc/state.json and .adlc/events.jsonl. A verdict asserted in prose does not exist.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Neutral capabilities, and a mandatory fallback for each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80160"/>
            <a:ext cx="10911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names Read and Bash works in exactly one harness. The fallback column is what makes 'runs anywhere' true rather than aspirational.</a:t>
            </a:r>
            <a:endParaRPr lang="en-US" sz="13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7215" y="6382512"/>
            <a:ext cx="914400" cy="1261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36422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navi-delivery  ·  v0.1.0  ·  13 / 17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859536" y="1883664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9A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3008376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9A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4928616" y="1883664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9A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 / CURSOR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7077456" y="1883664"/>
            <a:ext cx="45107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9A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— NO TOOLING AT ALL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640080" y="2176272"/>
            <a:ext cx="10911535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59536" y="2313432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1D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read_file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3008376" y="231343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928616" y="2313432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read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7077456" y="2313432"/>
            <a:ext cx="44741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human to paste the file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0080" y="2724912"/>
            <a:ext cx="10911535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59536" y="2862072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1D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write_file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3008376" y="286207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4928616" y="2862072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077456" y="2862072"/>
            <a:ext cx="44741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 the file in a fenced block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40080" y="3273552"/>
            <a:ext cx="10911535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9536" y="3410712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1D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run_command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3008376" y="341071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4928616" y="3410712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7077456" y="3410712"/>
            <a:ext cx="44741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human to run it and paste output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640080" y="3822192"/>
            <a:ext cx="10911535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59536" y="3959352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1D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3008376" y="395935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Grep/Glob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4928616" y="3959352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7077456" y="3959352"/>
            <a:ext cx="44741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the relevant paths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640080" y="4370832"/>
            <a:ext cx="10911535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59536" y="4507992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1D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ask_human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3008376" y="450799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AskUserQuestion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4928616" y="4507992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7077456" y="4507992"/>
            <a:ext cx="44741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plain question, then wait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640080" y="4919472"/>
            <a:ext cx="10911535" cy="475488"/>
          </a:xfrm>
          <a:prstGeom prst="roundRect">
            <a:avLst>
              <a:gd name="adj" fmla="val 11538"/>
            </a:avLst>
          </a:prstGeom>
          <a:solidFill>
            <a:srgbClr val="051D60"/>
          </a:solidFill>
          <a:ln w="12700">
            <a:solidFill>
              <a:srgbClr val="051D6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59536" y="5056632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AF3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spawn_subagent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3008376" y="505663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4928616" y="5056632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not available —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7077456" y="5056632"/>
            <a:ext cx="44741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 the persona sequentially in this session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640080" y="5504688"/>
            <a:ext cx="10911535" cy="658368"/>
          </a:xfrm>
          <a:prstGeom prst="roundRect">
            <a:avLst>
              <a:gd name="adj" fmla="val 8333"/>
            </a:avLst>
          </a:prstGeom>
          <a:solidFill>
            <a:srgbClr val="F1E9DA"/>
          </a:solidFill>
          <a:ln w="12700">
            <a:solidFill>
              <a:srgbClr val="F1E9DA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914400" y="5614416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persona is a subagent where subagents exist, and a role the model steps into where they do not — the same agent file, the same skills, degraded isolation only. registry/capabilities.json is the single source, and scripts/build_adapters.py projects it into each harness's shape. Adapters are generated; CI diffs them, so a hand edit fails the build.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KNOW IT HOLDS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The content is the product, so we test it like one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80160"/>
            <a:ext cx="10911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validators, a harness that runs every skill's own checks, and a golden path across all four lanes — all of it in CI on every push.</a:t>
            </a:r>
            <a:endParaRPr lang="en-US" sz="13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7215" y="6382512"/>
            <a:ext cx="914400" cy="1261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36422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navi-delivery  ·  v0.1.0  ·  14 / 17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640080" y="1865376"/>
            <a:ext cx="10911535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6112" y="199339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1D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validate_manifests.py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96112" y="226771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M1–M7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3840480" y="1993392"/>
            <a:ext cx="46021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Frontmatter parses; required keys present; names match their directory and prefix; every skill an agent names resolves; every skill is named by at least one agent.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534095" y="2103120"/>
            <a:ext cx="2761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findings across 50 files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40080" y="2779776"/>
            <a:ext cx="10911535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96112" y="290779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1D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lint_separation.py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896112" y="318211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SEP1–SEP4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3840480" y="2907792"/>
            <a:ext cx="46021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numbered procedure or a template inside an agent; persona voice or first person inside a skill. The one check that stops the two halves merging.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8534095" y="3017520"/>
            <a:ext cx="2761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separation findings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40080" y="3694176"/>
            <a:ext cx="10911535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96112" y="382219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1D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validate_traceability.py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896112" y="409651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T0–T4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3840480" y="3822192"/>
            <a:ext cx="46021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 chain in your delivery/ tree: every requirement criteria'd, every task attached to a requirement that exists.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8534095" y="3931920"/>
            <a:ext cx="2761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traceability findings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40080" y="4608576"/>
            <a:ext cx="10911535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96112" y="473659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1D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validate_skill_checks.py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896112" y="501091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harness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3840480" y="4736592"/>
            <a:ext cx="46021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each skill's own Validation block against its own Template — then against a mutation that breaks a rule the block claims to catch. A check that stays silent fails here.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534095" y="4846320"/>
            <a:ext cx="2761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harnessed · 1 declared-unharnessable · 0 failing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40080" y="5486400"/>
            <a:ext cx="5318608" cy="713232"/>
          </a:xfrm>
          <a:prstGeom prst="roundRect">
            <a:avLst>
              <a:gd name="adj" fmla="val 7692"/>
            </a:avLst>
          </a:prstGeom>
          <a:solidFill>
            <a:srgbClr val="051D60"/>
          </a:solidFill>
          <a:ln w="12700">
            <a:solidFill>
              <a:srgbClr val="051D6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96112" y="5596128"/>
            <a:ext cx="4806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AF3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golden_path.py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896112" y="5833872"/>
            <a:ext cx="480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toy change carried through all nine phases on all four lanes, asserting the artifacts, the gate verdicts and zero orphans.   golden path: OK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6233008" y="5486400"/>
            <a:ext cx="5318608" cy="713232"/>
          </a:xfrm>
          <a:prstGeom prst="roundRect">
            <a:avLst>
              <a:gd name="adj" fmla="val 7692"/>
            </a:avLst>
          </a:prstGeom>
          <a:solidFill>
            <a:srgbClr val="F1E9DA"/>
          </a:solidFill>
          <a:ln w="12700">
            <a:solidFill>
              <a:srgbClr val="F1E9D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489040" y="5596128"/>
            <a:ext cx="4806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51D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suites</a:t>
            </a:r>
            <a:endParaRPr lang="en-US" sz="1150" dirty="0"/>
          </a:p>
        </p:txBody>
      </p:sp>
      <p:sp>
        <p:nvSpPr>
          <p:cNvPr id="32" name="Text 29"/>
          <p:cNvSpPr txBox="1"/>
          <p:nvPr/>
        </p:nvSpPr>
        <p:spPr>
          <a:xfrm>
            <a:off x="6489040" y="5833872"/>
            <a:ext cx="480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 Node tests over the CLI and 99 Python tests over the linters, plus a check that the generated adapters still match their source.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BA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HONESTLY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AF3E7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What v1 does not do yet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80160"/>
            <a:ext cx="10911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BA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real, recorded, and worth knowing before you meet them. A deck that hides its limitations costs the framework its credibility on day one.</a:t>
            </a:r>
            <a:endParaRPr lang="en-US" sz="13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7215" y="6382512"/>
            <a:ext cx="914400" cy="1261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36422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5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navi-delivery  ·  v0.1.0  ·  15 / 17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640080" y="1883664"/>
            <a:ext cx="10911535" cy="731520"/>
          </a:xfrm>
          <a:prstGeom prst="roundRect">
            <a:avLst>
              <a:gd name="adj" fmla="val 7500"/>
            </a:avLst>
          </a:prstGeom>
          <a:solidFill>
            <a:srgbClr val="151B2B"/>
          </a:solidFill>
          <a:ln w="12700">
            <a:solidFill>
              <a:srgbClr val="252B3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14400" y="1975104"/>
            <a:ext cx="10362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8A72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Only two adapters are built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2212848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claude-code and generic ship and are exercised. Codex and Cursor have sibling manifests at the repo root and doctor detects both — but no adapter tree is built for either, and neither has been loaded in its harness. LangGraph and CrewAI are named in the design and not built. Use adapters/generic/RUNBOOK.md there today.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40080" y="2706624"/>
            <a:ext cx="10911535" cy="731520"/>
          </a:xfrm>
          <a:prstGeom prst="roundRect">
            <a:avLst>
              <a:gd name="adj" fmla="val 7500"/>
            </a:avLst>
          </a:prstGeom>
          <a:solidFill>
            <a:srgbClr val="151B2B"/>
          </a:solidFill>
          <a:ln w="12700">
            <a:solidFill>
              <a:srgbClr val="252B3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14400" y="2798064"/>
            <a:ext cx="10362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8A72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gate --evidence validates the shape of evidence, not its content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3035808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must be a regular, non-empty file — a directory, a device and a zero-byte file are each refused with their own message. But a file containing a single space passes. The gate records that evidence was named and that something is there to open; only a human establishes that it says anything.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40080" y="3529584"/>
            <a:ext cx="10911535" cy="731520"/>
          </a:xfrm>
          <a:prstGeom prst="roundRect">
            <a:avLst>
              <a:gd name="adj" fmla="val 7500"/>
            </a:avLst>
          </a:prstGeom>
          <a:solidFill>
            <a:srgbClr val="151B2B"/>
          </a:solidFill>
          <a:ln w="12700">
            <a:solidFill>
              <a:srgbClr val="252B3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4400" y="3621024"/>
            <a:ext cx="10362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8A72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Gate actors are derived, not authenticated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914400" y="3858768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gate event does carry actor and actor_source, resolved from --actor, $NAVI_DELIVERY_ACTOR, git config user.email or the OS login, in that order — and a decision with no resolvable actor is refused outright. But that is attribution, not authentication: nothing stops someone passing a name that is not theirs. actor_source is what lets a reader weigh it.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40080" y="4352544"/>
            <a:ext cx="10911535" cy="731520"/>
          </a:xfrm>
          <a:prstGeom prst="roundRect">
            <a:avLst>
              <a:gd name="adj" fmla="val 7500"/>
            </a:avLst>
          </a:prstGeom>
          <a:solidFill>
            <a:srgbClr val="151B2B"/>
          </a:solidFill>
          <a:ln w="12700">
            <a:solidFill>
              <a:srgbClr val="252B3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14400" y="4443984"/>
            <a:ext cx="10362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8A72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G4 is enforced only on the full lane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14400" y="4681728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cli/lib/lanes.js implements standard as a fixed set without G4, and gate refuses anything outside the set — so a standard change that turns out to touch data cannot record G4 at all. Until that is reconciled, lane selection routes anything touching a dataset, schema, feature or model to full at proposal time.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40080" y="5175504"/>
            <a:ext cx="10911535" cy="731520"/>
          </a:xfrm>
          <a:prstGeom prst="roundRect">
            <a:avLst>
              <a:gd name="adj" fmla="val 7500"/>
            </a:avLst>
          </a:prstGeom>
          <a:solidFill>
            <a:srgbClr val="151B2B"/>
          </a:solidFill>
          <a:ln w="12700">
            <a:solidFill>
              <a:srgbClr val="252B3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14400" y="5266944"/>
            <a:ext cx="10362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8A72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Two more, for completeness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914400" y="5504688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waiver attaches to the whole gate, so one unfixable finding waives every criterion that gate checks. And navi-skill-code-review is declared unharnessable: its substantive checks read a live authenticated pull request, which neither a fixture nor CI can supply.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640080" y="601675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E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worth knowing: validate always lints the whole installed framework tree, not only your repo — so its output mentions 50 framework files whichever repo you run it in.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ADOPTING IT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Five minutes from clone to first proposal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80160"/>
            <a:ext cx="10911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Prerequisites: Node 20 or later, and Python 3. Nothing else.</a:t>
            </a:r>
            <a:endParaRPr lang="en-US" sz="13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7215" y="6382512"/>
            <a:ext cx="914400" cy="1261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36422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navi-delivery  ·  v0.1.0  ·  16 / 17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640080" y="1828800"/>
            <a:ext cx="10911535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6112" y="201168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9AE9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1426464" y="194767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Install the agents and skills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426464" y="223113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92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./install.sh --yes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7132320" y="2084832"/>
            <a:ext cx="414497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00" i="1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Installed 39 skill(s) and 11 agent(s).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40080" y="2734056"/>
            <a:ext cx="10911535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96112" y="2916936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9AE9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1426464" y="28529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Put the CLI on your PATH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426464" y="3136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92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 --global .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7132320" y="2990088"/>
            <a:ext cx="414497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00" i="1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added 1 package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40080" y="3639312"/>
            <a:ext cx="10911535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96112" y="3822192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9AE9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1426464" y="375818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Scaffold into the repo you work in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426464" y="40416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92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navi-delivery init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7132320" y="3895344"/>
            <a:ext cx="414497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00" i="1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Initialised delivery/ (harness: claude-code)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640080" y="4544568"/>
            <a:ext cx="10911535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96112" y="4727448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9AE9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4</a:t>
            </a:r>
            <a:endParaRPr lang="en-US" sz="2400" dirty="0"/>
          </a:p>
        </p:txBody>
      </p:sp>
      <p:sp>
        <p:nvSpPr>
          <p:cNvPr id="24" name="Text 21"/>
          <p:cNvSpPr txBox="1"/>
          <p:nvPr/>
        </p:nvSpPr>
        <p:spPr>
          <a:xfrm>
            <a:off x="1426464" y="46634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1D60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Open your first change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426464" y="494690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92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navi-delivery propose add-csv-export --lane standard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7132320" y="4800600"/>
            <a:ext cx="414497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00" i="1" dirty="0">
                <a:solidFill>
                  <a:srgbClr val="5F64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Created delivery/changes/add-csv-export (lane: standard; gates: G1 · G2 · G3 · G5 · G6 · G7 · G8)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640080" y="5504688"/>
            <a:ext cx="10911535" cy="676656"/>
          </a:xfrm>
          <a:prstGeom prst="roundRect">
            <a:avLst>
              <a:gd name="adj" fmla="val 8108"/>
            </a:avLst>
          </a:prstGeom>
          <a:solidFill>
            <a:srgbClr val="051D60"/>
          </a:solidFill>
          <a:ln w="12700">
            <a:solidFill>
              <a:srgbClr val="051D6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14400" y="5614416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4DE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adapters/claude-code/ — that is what install.sh installs, and it is a complete plugin on its own. The repo root also carries a manifest, but its skills nest one level deeper and whether a harness loads that layout is unverified. Read next: docs/WALKTHROUGH.md, which carries this exact change all the way through.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51D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777240"/>
            <a:ext cx="2103120" cy="29008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201168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AF3E7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Agents hold the judgment.</a:t>
            </a:r>
            <a:endParaRPr lang="en-US" sz="42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274320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4DED3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Skills hold the rules.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7033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9BA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every agent and the skills still fully specify how work is done. Delete every skill and the agents still specify what, why and when.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480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AF3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README.md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3108960" y="4498848"/>
            <a:ext cx="2804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BA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to first proposal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6278728" y="4480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AF3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ADLC.md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8747608" y="4498848"/>
            <a:ext cx="2804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BA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gates, four lanes, rework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497433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AF3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SDD.md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108960" y="4992624"/>
            <a:ext cx="2804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BA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 chain, and what the validator really sees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278728" y="497433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AF3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docs/WALKTHROUGH.md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8747608" y="4992624"/>
            <a:ext cx="2804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BA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change carried end to end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54681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AF3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docs/CONCEPTS.md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3108960" y="5486400"/>
            <a:ext cx="2804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BA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framework is shaped this way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6278728" y="54681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AF3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docs/CLI.md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8747608" y="5486400"/>
            <a:ext cx="2804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BA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verb, every rule, every known limitation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636422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navi-delivery v0.1.0  ·  owner avinash.negi@navikenz.com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Navikenz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navi-delivery — delivery framework overview</dc:title>
  <dc:subject>PptxGenJS Presentation</dc:subject>
  <dc:creator>Navikenz</dc:creator>
  <cp:lastModifiedBy>Navikenz</cp:lastModifiedBy>
  <cp:revision>1</cp:revision>
  <dcterms:created xsi:type="dcterms:W3CDTF">2026-09-30T17:39:36Z</dcterms:created>
  <dcterms:modified xsi:type="dcterms:W3CDTF">2026-09-30T17:39:36Z</dcterms:modified>
</cp:coreProperties>
</file>