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navi-delivery is an internal framework that gives any project team a complete, governed lifecycle from Plan through Monitor, driven by AI agents that carry each engineering persona's judgment, backed by skills that carry each discipline's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framing: assistants are strong inside Build. Plan, Specify, Architect, Verify, Release, Operate and Learn are where delivery actually goes wrong, and that is where nothing is currently codified.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trees: what ships (agents plus skills) and what gets scaffolded into the consuming repo. Nothing here depends on a single vendor's harness.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falsifiable test: delete every agent and the skills still say how work is done; delete every skill and the agents still say what, why and when.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agent file carries judgment only. Numbers on the right are the ADLC phases that agent owns.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 are persona-free and reusable: the same code-review skill serves the developer, the data engineer and the ML engineer.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is the point. A system that runs phases one to eight and stops is not ADLC — it is just SDLC with extra paperwork.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Proportionality is what keeps the framework in daily use rather than becoming shelfware.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OpenSpec influence, extended past release into operate and learn — which is precisely where OpenSpec stops.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ops/ is the deliberate extension beyond OpenSpec. Phases eight and nine need a home in the repo or the loop cannot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build_adapters.py projects the agent and skill tree into each harness manifest. navi-delivery doctor reports which capabilities are native and which are falling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framework's own standards are not mechanically enforced, they decay exactly like the wiki they replace.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v1 is deliberately a full vertical slice rather than a deep single discipline. A complete thin system beats a beautiful third of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 after these four decisions is the implementation plan, then building the v1 vertical slice against a real pilot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206240" cy="4206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377440" cy="2377440"/>
          </a:xfrm>
          <a:prstGeom prst="ellipse">
            <a:avLst/>
          </a:prstGeom>
          <a:solidFill>
            <a:srgbClr val="1720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Navikenz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4884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navi-delivery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00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SDLC framework — plan to monitor, in any harness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8862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hold the judgment.  Skills hold the rules.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920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532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agents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48920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5532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at v1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48920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5532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phases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helps with the code. Not with the lifecycle.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assistants land in the middle of the lifecycle and leave both ends untouched.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1247120" cy="1207008"/>
          </a:xfrm>
          <a:prstGeom prst="roundRect">
            <a:avLst>
              <a:gd name="adj" fmla="val 5303"/>
            </a:avLst>
          </a:prstGeom>
          <a:solidFill>
            <a:srgbClr val="F4F6FB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231136"/>
            <a:ext cx="402336" cy="40233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116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Judgment is re-invented every time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40487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prompt re-derives what a Business Analyst or Architect already knows. Nothing accumulates.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11247120" cy="1207008"/>
          </a:xfrm>
          <a:prstGeom prst="roundRect">
            <a:avLst>
              <a:gd name="adj" fmla="val 5303"/>
            </a:avLst>
          </a:prstGeom>
          <a:solidFill>
            <a:srgbClr val="F4F6FB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648456"/>
            <a:ext cx="402336" cy="40233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648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4290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 live in people's heads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82219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sit in wikis nobody opens. They are not attached to the moment the work happens.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07008"/>
          </a:xfrm>
          <a:prstGeom prst="roundRect">
            <a:avLst>
              <a:gd name="adj" fmla="val 5303"/>
            </a:avLst>
          </a:prstGeom>
          <a:solidFill>
            <a:srgbClr val="F4F6FB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5065776"/>
            <a:ext cx="402336" cy="40233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5065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8463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 never closes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23951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and postmortems rarely change the standard that allowed them. The same defect returns.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framework, dropped into any repo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on OpenSpec's artifact discipline and Superpowers' distribution model.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3520440" cy="2880360"/>
          </a:xfrm>
          <a:prstGeom prst="roundRect">
            <a:avLst>
              <a:gd name="adj" fmla="val 2222"/>
            </a:avLst>
          </a:prstGeom>
          <a:solidFill>
            <a:srgbClr val="17203C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94560"/>
            <a:ext cx="566928" cy="56692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7432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personas carrying mission, mental model, trade-off framing and escalation rules. They decide what, why and when.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51960" y="1920240"/>
            <a:ext cx="3520440" cy="2880360"/>
          </a:xfrm>
          <a:prstGeom prst="roundRect">
            <a:avLst>
              <a:gd name="adj" fmla="val 2222"/>
            </a:avLst>
          </a:prstGeom>
          <a:solidFill>
            <a:srgbClr val="17203C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219456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27432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20040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Fifty-six discipline skills carrying standards, decision tables, templates, checklists and validators. They define how.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520440" cy="2880360"/>
          </a:xfrm>
          <a:prstGeom prst="roundRect">
            <a:avLst>
              <a:gd name="adj" fmla="val 2222"/>
            </a:avLst>
          </a:prstGeom>
          <a:solidFill>
            <a:srgbClr val="17203C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66760" y="219456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66760" y="27432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20040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ADLC phases with binding gates, four lanes for proportionality, and full spec-to-telemetry traceability.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55321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once. Runs in Claude Code, Codex, Cursor — or a bare chat window with no plugin support at all.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separation that makes it work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same sentence appears in both, it belongs in the skill.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303520" cy="3200400"/>
          </a:xfrm>
          <a:prstGeom prst="roundRect">
            <a:avLst>
              <a:gd name="adj" fmla="val 2000"/>
            </a:avLst>
          </a:prstGeom>
          <a:solidFill>
            <a:srgbClr val="F4F6FB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21408"/>
            <a:ext cx="3017520" cy="384048"/>
          </a:xfrm>
          <a:prstGeom prst="roundRect">
            <a:avLst>
              <a:gd name="adj" fmla="val 47619"/>
            </a:avLst>
          </a:prstGeom>
          <a:solidFill>
            <a:srgbClr val="F299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214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 ·  the thinking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and accountability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 of the discipline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weigh trade-offs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'good' looks like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escalate to a human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skill to reach for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03520" cy="3200400"/>
          </a:xfrm>
          <a:prstGeom prst="roundRect">
            <a:avLst>
              <a:gd name="adj" fmla="val 2000"/>
            </a:avLst>
          </a:prstGeom>
          <a:solidFill>
            <a:srgbClr val="F4F6FB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2121408"/>
            <a:ext cx="3017520" cy="384048"/>
          </a:xfrm>
          <a:prstGeom prst="roundRect">
            <a:avLst>
              <a:gd name="adj" fmla="val 47619"/>
            </a:avLst>
          </a:prstGeom>
          <a:solidFill>
            <a:srgbClr val="2EC4B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21214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 ·  the rules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69748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and conventions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tables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Copy-ready templates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checklists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anti-patterns</a:t>
            </a:r>
            <a:endParaRPr lang="en-US" sz="14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mechanical validator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5257800"/>
            <a:ext cx="11247120" cy="868680"/>
          </a:xfrm>
          <a:prstGeom prst="roundRect">
            <a:avLst>
              <a:gd name="adj" fmla="val 7368"/>
            </a:avLst>
          </a:prstGeom>
          <a:solidFill>
            <a:srgbClr val="FFF4EC"/>
          </a:solidFill>
          <a:ln w="12700">
            <a:solidFill>
              <a:srgbClr val="F2994A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5394960"/>
            <a:ext cx="10515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Enforced, not aspirational.  </a:t>
            </a:r>
            <a:pPr indent="0" marL="0">
              <a:buNone/>
            </a:pPr>
            <a:r>
              <a:rPr lang="en-US" sz="140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lint_separation.py fails the build on a numbered procedure inside an agent, or persona voice inside a skill. Without a mechanical check, the two halves merge within months.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agents covering the whole delivery team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engineering personas, plus an orchestrator that owns routing and gates.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65376"/>
            <a:ext cx="402336" cy="40233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013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navi-agent-orchestrator  ·  Delivery Lead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0756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selection · gate enforcement · rework · escalation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418320" y="1901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1–9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3520440" cy="1042416"/>
          </a:xfrm>
          <a:prstGeom prst="roundRect">
            <a:avLst>
              <a:gd name="adj" fmla="val 6140"/>
            </a:avLst>
          </a:prstGeom>
          <a:solidFill>
            <a:srgbClr val="F4F6FB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13232" y="28254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Owner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28437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9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315468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Outcomes, value vs effort, KPIs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51960" y="2697480"/>
            <a:ext cx="3520440" cy="1042416"/>
          </a:xfrm>
          <a:prstGeom prst="roundRect">
            <a:avLst>
              <a:gd name="adj" fmla="val 6140"/>
            </a:avLst>
          </a:prstGeom>
          <a:solidFill>
            <a:srgbClr val="F4F6FB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507992" y="28254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Analyst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28437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07992" y="315468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Ambiguity, testable criteria, NFRs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2697480"/>
            <a:ext cx="3520440" cy="1042416"/>
          </a:xfrm>
          <a:prstGeom prst="roundRect">
            <a:avLst>
              <a:gd name="adj" fmla="val 6140"/>
            </a:avLst>
          </a:prstGeom>
          <a:solidFill>
            <a:srgbClr val="F4F6FB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302752" y="28254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0" y="28437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9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315468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attributes, boundaries, debt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3904488"/>
            <a:ext cx="3520440" cy="1042416"/>
          </a:xfrm>
          <a:prstGeom prst="roundRect">
            <a:avLst>
              <a:gd name="adj" fmla="val 6140"/>
            </a:avLst>
          </a:prstGeom>
          <a:solidFill>
            <a:srgbClr val="F4F6FB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13232" y="40325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Stack Developer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017520" y="40507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436168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Decomposition, contracts, testability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251960" y="3904488"/>
            <a:ext cx="3520440" cy="1042416"/>
          </a:xfrm>
          <a:prstGeom prst="roundRect">
            <a:avLst>
              <a:gd name="adj" fmla="val 6140"/>
            </a:avLst>
          </a:prstGeom>
          <a:solidFill>
            <a:srgbClr val="F4F6FB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507992" y="40325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40507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07992" y="436168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Lineage, schema evolution, idempotency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046720" y="3904488"/>
            <a:ext cx="3520440" cy="1042416"/>
          </a:xfrm>
          <a:prstGeom prst="roundRect">
            <a:avLst>
              <a:gd name="adj" fmla="val 6140"/>
            </a:avLst>
          </a:prstGeom>
          <a:solidFill>
            <a:srgbClr val="F4F6FB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302752" y="40325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Engineer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607040" y="40507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302752" y="436168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Framing, baselines, leakage, fairness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7200" y="5111496"/>
            <a:ext cx="3520440" cy="1042416"/>
          </a:xfrm>
          <a:prstGeom prst="roundRect">
            <a:avLst>
              <a:gd name="adj" fmla="val 6140"/>
            </a:avLst>
          </a:prstGeom>
          <a:solidFill>
            <a:srgbClr val="F4F6FB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13232" y="52395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MLOps Engineer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3017520" y="5257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8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13232" y="556869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Promotion, drift, model rollback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251960" y="5111496"/>
            <a:ext cx="3520440" cy="1042416"/>
          </a:xfrm>
          <a:prstGeom prst="roundRect">
            <a:avLst>
              <a:gd name="adj" fmla="val 6140"/>
            </a:avLst>
          </a:prstGeom>
          <a:solidFill>
            <a:srgbClr val="F4F6FB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4507992" y="52395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Engineer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812280" y="5257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8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507992" y="556869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radius, SLOs, environment parity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046720" y="5111496"/>
            <a:ext cx="3520440" cy="1042416"/>
          </a:xfrm>
          <a:prstGeom prst="roundRect">
            <a:avLst>
              <a:gd name="adj" fmla="val 6140"/>
            </a:avLst>
          </a:prstGeom>
          <a:solidFill>
            <a:srgbClr val="F4F6FB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8302752" y="52395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/ Test Engineer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10607040" y="5257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302752" y="556869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coverage, release calls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Fifty-six skills across eleven disciplines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Thirty-seven ship at v1 — a complete vertical slice, nothing half-wired.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4160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skill is the same shape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 · the rules · a decision table · a copy-ready template · a self-check checklist · named anti-patterns · a mechanical validation step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4160520" cy="1965960"/>
          </a:xfrm>
          <a:prstGeom prst="roundRect">
            <a:avLst>
              <a:gd name="adj" fmla="val 3256"/>
            </a:avLst>
          </a:prstGeom>
          <a:solidFill>
            <a:srgbClr val="F4F6FB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35204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your existing tooling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evals.json per skill in the house format — so /skill-creator, /eai-eng-skills-evaluator and skill-batch-creator all work on this repo unchanged.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810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lifecycle-method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86600" y="1851660"/>
            <a:ext cx="3840480" cy="192024"/>
          </a:xfrm>
          <a:prstGeom prst="roundRect">
            <a:avLst>
              <a:gd name="adj" fmla="val 47619"/>
            </a:avLst>
          </a:prstGeom>
          <a:solidFill>
            <a:srgbClr val="EDF1F8"/>
          </a:solidFill>
          <a:ln/>
        </p:spPr>
      </p:sp>
      <p:sp>
        <p:nvSpPr>
          <p:cNvPr id="9" name="Shape 7"/>
          <p:cNvSpPr/>
          <p:nvPr/>
        </p:nvSpPr>
        <p:spPr>
          <a:xfrm>
            <a:off x="7086600" y="1851660"/>
            <a:ext cx="3291840" cy="192024"/>
          </a:xfrm>
          <a:prstGeom prst="roundRect">
            <a:avLst>
              <a:gd name="adj" fmla="val 4761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036808" y="1810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spec-driven-development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86600" y="2235708"/>
            <a:ext cx="3840480" cy="192024"/>
          </a:xfrm>
          <a:prstGeom prst="roundRect">
            <a:avLst>
              <a:gd name="adj" fmla="val 47619"/>
            </a:avLst>
          </a:prstGeom>
          <a:solidFill>
            <a:srgbClr val="EDF1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086600" y="2235708"/>
            <a:ext cx="2743200" cy="192024"/>
          </a:xfrm>
          <a:prstGeom prst="roundRect">
            <a:avLst>
              <a:gd name="adj" fmla="val 47619"/>
            </a:avLst>
          </a:prstGeom>
          <a:solidFill>
            <a:srgbClr val="2EC4B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036808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5786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product-management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86600" y="2619756"/>
            <a:ext cx="3840480" cy="192024"/>
          </a:xfrm>
          <a:prstGeom prst="roundRect">
            <a:avLst>
              <a:gd name="adj" fmla="val 47619"/>
            </a:avLst>
          </a:prstGeom>
          <a:solidFill>
            <a:srgbClr val="EDF1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086600" y="2619756"/>
            <a:ext cx="2194560" cy="192024"/>
          </a:xfrm>
          <a:prstGeom prst="roundRect">
            <a:avLst>
              <a:gd name="adj" fmla="val 47619"/>
            </a:avLst>
          </a:prstGeom>
          <a:solidFill>
            <a:srgbClr val="2EC4B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036808" y="25786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9626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business-analysis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86600" y="3003804"/>
            <a:ext cx="3840480" cy="192024"/>
          </a:xfrm>
          <a:prstGeom prst="roundRect">
            <a:avLst>
              <a:gd name="adj" fmla="val 47619"/>
            </a:avLst>
          </a:prstGeom>
          <a:solidFill>
            <a:srgbClr val="EDF1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086600" y="3003804"/>
            <a:ext cx="2194560" cy="192024"/>
          </a:xfrm>
          <a:prstGeom prst="roundRect">
            <a:avLst>
              <a:gd name="adj" fmla="val 47619"/>
            </a:avLst>
          </a:prstGeom>
          <a:solidFill>
            <a:srgbClr val="2EC4B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036808" y="29626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3346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86600" y="3387852"/>
            <a:ext cx="3840480" cy="192024"/>
          </a:xfrm>
          <a:prstGeom prst="roundRect">
            <a:avLst>
              <a:gd name="adj" fmla="val 47619"/>
            </a:avLst>
          </a:prstGeom>
          <a:solidFill>
            <a:srgbClr val="EDF1F8"/>
          </a:solidFill>
          <a:ln/>
        </p:spPr>
      </p:sp>
      <p:sp>
        <p:nvSpPr>
          <p:cNvPr id="25" name="Shape 23"/>
          <p:cNvSpPr/>
          <p:nvPr/>
        </p:nvSpPr>
        <p:spPr>
          <a:xfrm>
            <a:off x="7086600" y="3387852"/>
            <a:ext cx="2743200" cy="192024"/>
          </a:xfrm>
          <a:prstGeom prst="roundRect">
            <a:avLst>
              <a:gd name="adj" fmla="val 47619"/>
            </a:avLst>
          </a:prstGeom>
          <a:solidFill>
            <a:srgbClr val="2EC4B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1036808" y="33467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7307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software-development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086600" y="3771900"/>
            <a:ext cx="3840480" cy="192024"/>
          </a:xfrm>
          <a:prstGeom prst="roundRect">
            <a:avLst>
              <a:gd name="adj" fmla="val 47619"/>
            </a:avLst>
          </a:prstGeom>
          <a:solidFill>
            <a:srgbClr val="EDF1F8"/>
          </a:solidFill>
          <a:ln/>
        </p:spPr>
      </p:sp>
      <p:sp>
        <p:nvSpPr>
          <p:cNvPr id="29" name="Shape 27"/>
          <p:cNvSpPr/>
          <p:nvPr/>
        </p:nvSpPr>
        <p:spPr>
          <a:xfrm>
            <a:off x="7086600" y="3771900"/>
            <a:ext cx="3840480" cy="192024"/>
          </a:xfrm>
          <a:prstGeom prst="roundRect">
            <a:avLst>
              <a:gd name="adj" fmla="val 47619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1036808" y="37307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892040" y="4114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data-engineering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086600" y="4155948"/>
            <a:ext cx="3840480" cy="192024"/>
          </a:xfrm>
          <a:prstGeom prst="roundRect">
            <a:avLst>
              <a:gd name="adj" fmla="val 47619"/>
            </a:avLst>
          </a:prstGeom>
          <a:solidFill>
            <a:srgbClr val="EDF1F8"/>
          </a:solidFill>
          <a:ln/>
        </p:spPr>
      </p:sp>
      <p:sp>
        <p:nvSpPr>
          <p:cNvPr id="33" name="Shape 31"/>
          <p:cNvSpPr/>
          <p:nvPr/>
        </p:nvSpPr>
        <p:spPr>
          <a:xfrm>
            <a:off x="7086600" y="4155948"/>
            <a:ext cx="2743200" cy="192024"/>
          </a:xfrm>
          <a:prstGeom prst="roundRect">
            <a:avLst>
              <a:gd name="adj" fmla="val 47619"/>
            </a:avLst>
          </a:prstGeom>
          <a:solidFill>
            <a:srgbClr val="2EC4B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1036808" y="4114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892040" y="4498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086600" y="4539996"/>
            <a:ext cx="3840480" cy="192024"/>
          </a:xfrm>
          <a:prstGeom prst="roundRect">
            <a:avLst>
              <a:gd name="adj" fmla="val 47619"/>
            </a:avLst>
          </a:prstGeom>
          <a:solidFill>
            <a:srgbClr val="EDF1F8"/>
          </a:solidFill>
          <a:ln/>
        </p:spPr>
      </p:sp>
      <p:sp>
        <p:nvSpPr>
          <p:cNvPr id="37" name="Shape 35"/>
          <p:cNvSpPr/>
          <p:nvPr/>
        </p:nvSpPr>
        <p:spPr>
          <a:xfrm>
            <a:off x="7086600" y="4539996"/>
            <a:ext cx="2743200" cy="192024"/>
          </a:xfrm>
          <a:prstGeom prst="roundRect">
            <a:avLst>
              <a:gd name="adj" fmla="val 47619"/>
            </a:avLst>
          </a:prstGeom>
          <a:solidFill>
            <a:srgbClr val="2EC4B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1036808" y="4498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892040" y="48828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086600" y="4924044"/>
            <a:ext cx="3840480" cy="192024"/>
          </a:xfrm>
          <a:prstGeom prst="roundRect">
            <a:avLst>
              <a:gd name="adj" fmla="val 47619"/>
            </a:avLst>
          </a:prstGeom>
          <a:solidFill>
            <a:srgbClr val="EDF1F8"/>
          </a:solidFill>
          <a:ln/>
        </p:spPr>
      </p:sp>
      <p:sp>
        <p:nvSpPr>
          <p:cNvPr id="41" name="Shape 39"/>
          <p:cNvSpPr/>
          <p:nvPr/>
        </p:nvSpPr>
        <p:spPr>
          <a:xfrm>
            <a:off x="7086600" y="4924044"/>
            <a:ext cx="2194560" cy="192024"/>
          </a:xfrm>
          <a:prstGeom prst="roundRect">
            <a:avLst>
              <a:gd name="adj" fmla="val 47619"/>
            </a:avLst>
          </a:prstGeom>
          <a:solidFill>
            <a:srgbClr val="2EC4B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1036808" y="48828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4892040" y="52669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platform-devops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086600" y="5308092"/>
            <a:ext cx="3840480" cy="192024"/>
          </a:xfrm>
          <a:prstGeom prst="roundRect">
            <a:avLst>
              <a:gd name="adj" fmla="val 47619"/>
            </a:avLst>
          </a:prstGeom>
          <a:solidFill>
            <a:srgbClr val="EDF1F8"/>
          </a:solidFill>
          <a:ln/>
        </p:spPr>
      </p:sp>
      <p:sp>
        <p:nvSpPr>
          <p:cNvPr id="45" name="Shape 43"/>
          <p:cNvSpPr/>
          <p:nvPr/>
        </p:nvSpPr>
        <p:spPr>
          <a:xfrm>
            <a:off x="7086600" y="5308092"/>
            <a:ext cx="3291840" cy="192024"/>
          </a:xfrm>
          <a:prstGeom prst="roundRect">
            <a:avLst>
              <a:gd name="adj" fmla="val 47619"/>
            </a:avLst>
          </a:prstGeom>
          <a:solidFill>
            <a:srgbClr val="1E276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1036808" y="52669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4892040" y="5650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quality-engineering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086600" y="5692140"/>
            <a:ext cx="3840480" cy="192024"/>
          </a:xfrm>
          <a:prstGeom prst="roundRect">
            <a:avLst>
              <a:gd name="adj" fmla="val 47619"/>
            </a:avLst>
          </a:prstGeom>
          <a:solidFill>
            <a:srgbClr val="EDF1F8"/>
          </a:solidFill>
          <a:ln/>
        </p:spPr>
      </p:sp>
      <p:sp>
        <p:nvSpPr>
          <p:cNvPr id="49" name="Shape 47"/>
          <p:cNvSpPr/>
          <p:nvPr/>
        </p:nvSpPr>
        <p:spPr>
          <a:xfrm>
            <a:off x="7086600" y="5692140"/>
            <a:ext cx="2743200" cy="192024"/>
          </a:xfrm>
          <a:prstGeom prst="roundRect">
            <a:avLst>
              <a:gd name="adj" fmla="val 47619"/>
            </a:avLst>
          </a:prstGeom>
          <a:solidFill>
            <a:srgbClr val="2EC4B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11036808" y="5650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086600" y="6053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per discipline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phases, nine binding gates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gate needs evidence — a file, a command output, a test result. Not an assertion.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2057400"/>
            <a:ext cx="2011680" cy="1325880"/>
          </a:xfrm>
          <a:prstGeom prst="roundRect">
            <a:avLst>
              <a:gd name="adj" fmla="val 4828"/>
            </a:avLst>
          </a:prstGeom>
          <a:solidFill>
            <a:srgbClr val="17203C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224028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04088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2585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743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0" y="2057400"/>
            <a:ext cx="2011680" cy="1325880"/>
          </a:xfrm>
          <a:prstGeom prst="roundRect">
            <a:avLst>
              <a:gd name="adj" fmla="val 4828"/>
            </a:avLst>
          </a:prstGeom>
          <a:solidFill>
            <a:srgbClr val="17203C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44368" y="224028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44368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2585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944368" y="2743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83480" y="2057400"/>
            <a:ext cx="2011680" cy="1325880"/>
          </a:xfrm>
          <a:prstGeom prst="roundRect">
            <a:avLst>
              <a:gd name="adj" fmla="val 4828"/>
            </a:avLst>
          </a:prstGeom>
          <a:solidFill>
            <a:srgbClr val="17203C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84648" y="224028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84648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22585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184648" y="2743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23760" y="2057400"/>
            <a:ext cx="2011680" cy="1325880"/>
          </a:xfrm>
          <a:prstGeom prst="roundRect">
            <a:avLst>
              <a:gd name="adj" fmla="val 4828"/>
            </a:avLst>
          </a:prstGeom>
          <a:solidFill>
            <a:srgbClr val="17203C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24928" y="224028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24928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22585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424928" y="2743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Model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464040" y="2057400"/>
            <a:ext cx="2011680" cy="1325880"/>
          </a:xfrm>
          <a:prstGeom prst="roundRect">
            <a:avLst>
              <a:gd name="adj" fmla="val 4828"/>
            </a:avLst>
          </a:prstGeom>
          <a:solidFill>
            <a:srgbClr val="17203C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665208" y="224028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65208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104120" y="22585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665208" y="2743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2920" y="3657600"/>
            <a:ext cx="2011680" cy="1325880"/>
          </a:xfrm>
          <a:prstGeom prst="roundRect">
            <a:avLst>
              <a:gd name="adj" fmla="val 4828"/>
            </a:avLst>
          </a:prstGeom>
          <a:solidFill>
            <a:srgbClr val="17203C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04088" y="3840480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04088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38587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" y="4343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743200" y="3657600"/>
            <a:ext cx="2011680" cy="1325880"/>
          </a:xfrm>
          <a:prstGeom prst="roundRect">
            <a:avLst>
              <a:gd name="adj" fmla="val 4828"/>
            </a:avLst>
          </a:prstGeom>
          <a:solidFill>
            <a:srgbClr val="17203C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944368" y="3840480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944368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383280" y="38587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G7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2944368" y="4343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983480" y="3657600"/>
            <a:ext cx="2011680" cy="1325880"/>
          </a:xfrm>
          <a:prstGeom prst="roundRect">
            <a:avLst>
              <a:gd name="adj" fmla="val 4828"/>
            </a:avLst>
          </a:prstGeom>
          <a:solidFill>
            <a:srgbClr val="17203C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184648" y="3840480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184648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623560" y="38587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G8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184648" y="4343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223760" y="3657600"/>
            <a:ext cx="2011680" cy="1325880"/>
          </a:xfrm>
          <a:prstGeom prst="roundRect">
            <a:avLst>
              <a:gd name="adj" fmla="val 4828"/>
            </a:avLst>
          </a:prstGeom>
          <a:solidFill>
            <a:srgbClr val="17203C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424928" y="3840480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424928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7863840" y="38587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G9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424928" y="4343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646920" y="3657600"/>
            <a:ext cx="2148840" cy="1325880"/>
          </a:xfrm>
          <a:prstGeom prst="roundRect">
            <a:avLst>
              <a:gd name="adj" fmla="val 482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9875520" y="3858768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loops back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Archiving emits insights that become new requirements — or amend a skill.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 that emits no telemetry did not happen.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lanes, so nobody routes around it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Forcing nine gates on a config flag guarantees the framework is abandoned by week two.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2606040" cy="3063240"/>
          </a:xfrm>
          <a:prstGeom prst="roundRect">
            <a:avLst>
              <a:gd name="adj" fmla="val 2456"/>
            </a:avLst>
          </a:prstGeom>
          <a:solidFill>
            <a:srgbClr val="F4F6FB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148840"/>
            <a:ext cx="1600200" cy="384048"/>
          </a:xfrm>
          <a:prstGeom prst="roundRect">
            <a:avLst>
              <a:gd name="adj" fmla="val 47619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48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· config · flag flip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11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840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· G6 · G7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291840" y="1874520"/>
            <a:ext cx="2606040" cy="3063240"/>
          </a:xfrm>
          <a:prstGeom prst="roundRect">
            <a:avLst>
              <a:gd name="adj" fmla="val 2456"/>
            </a:avLst>
          </a:prstGeom>
          <a:solidFill>
            <a:srgbClr val="F4F6FB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0" y="2148840"/>
            <a:ext cx="1600200" cy="384048"/>
          </a:xfrm>
          <a:prstGeom prst="roundRect">
            <a:avLst>
              <a:gd name="adj" fmla="val 47619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6160" y="2148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743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971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features and bugs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611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840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but G4 unless data or ML is touched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26480" y="1874520"/>
            <a:ext cx="2606040" cy="3063240"/>
          </a:xfrm>
          <a:prstGeom prst="roundRect">
            <a:avLst>
              <a:gd name="adj" fmla="val 2456"/>
            </a:avLst>
          </a:prstGeom>
          <a:solidFill>
            <a:srgbClr val="F4F6FB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2148840"/>
            <a:ext cx="1600200" cy="384048"/>
          </a:xfrm>
          <a:prstGeom prst="roundRect">
            <a:avLst>
              <a:gd name="adj" fmla="val 47619"/>
            </a:avLst>
          </a:prstGeom>
          <a:solidFill>
            <a:srgbClr val="F299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2148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2743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971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capability · regulated · any ML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611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3840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nine gates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961120" y="1874520"/>
            <a:ext cx="2606040" cy="3063240"/>
          </a:xfrm>
          <a:prstGeom prst="roundRect">
            <a:avLst>
              <a:gd name="adj" fmla="val 2456"/>
            </a:avLst>
          </a:prstGeom>
          <a:solidFill>
            <a:srgbClr val="F4F6FB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35440" y="2148840"/>
            <a:ext cx="1600200" cy="384048"/>
          </a:xfrm>
          <a:prstGeom prst="roundRect">
            <a:avLst>
              <a:gd name="adj" fmla="val 47619"/>
            </a:avLst>
          </a:prstGeom>
          <a:solidFill>
            <a:srgbClr val="C0392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235440" y="21488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235440" y="2743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235440" y="2971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incident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9235440" y="36118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235440" y="3840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 · G7 now; spec retroactive in 48h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57200" y="5212080"/>
            <a:ext cx="11247120" cy="868680"/>
          </a:xfrm>
          <a:prstGeom prst="roundRect">
            <a:avLst>
              <a:gd name="adj" fmla="val 7368"/>
            </a:avLst>
          </a:prstGeom>
          <a:solidFill>
            <a:srgbClr val="F4F6FB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22960" y="5358384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skipped gate is always recorded, never silent.  </a:t>
            </a:r>
            <a:pPr indent="0" marL="0">
              <a:buNone/>
            </a:pPr>
            <a:r>
              <a:rPr lang="en-US" sz="140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Waivers need a reason and an expiry. Rework marks every downstream artifact stale, and validation blocks until it is resolved.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Spec-driven: everything traces to a requirement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a derivative of the spec. Specs change first, code second.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94360" y="251460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94360" y="27157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136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2834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94560" y="251460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194560" y="27157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3136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834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94760" y="251460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794760" y="27157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3136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2834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94960" y="251460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17203C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394960" y="27157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3136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834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995160" y="251460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17203C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995160" y="27157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136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2834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595360" y="251460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17203C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595360" y="27157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595360" y="3136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966960" y="2834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195560" y="2514600"/>
            <a:ext cx="1371600" cy="1234440"/>
          </a:xfrm>
          <a:prstGeom prst="roundRect">
            <a:avLst>
              <a:gd name="adj" fmla="val 5185"/>
            </a:avLst>
          </a:prstGeom>
          <a:solidFill>
            <a:srgbClr val="17203C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0195560" y="27157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0195560" y="3136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389120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14400" y="43708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Orphans fail the build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" y="473659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with no task, a task with no requirement, a shipped capability with no telemetry — all rejected by validate --strict.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251960" y="4389120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709160" y="43708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survives the session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709160" y="473659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change, lane, phase and gate verdicts persist, so a fresh session in any harness resumes mid-flight.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46720" y="4389120"/>
            <a:ext cx="310896" cy="310896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503920" y="43708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amend skills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503920" y="4736592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postmortem that reveals a wrong standard changes the standard — that is how the framework improves from use.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team actually sees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scaffolds it. The directory explains itself.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394960" cy="3931920"/>
          </a:xfrm>
          <a:prstGeom prst="roundRect">
            <a:avLst>
              <a:gd name="adj" fmla="val 1628"/>
            </a:avLst>
          </a:prstGeom>
          <a:solidFill>
            <a:srgbClr val="0F1730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4709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my-app/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delivery/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project.md    stack &amp; conventions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AGENTS.md     harness entry point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specs/        current truth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changes/      in flight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decisions/    ADRs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ops/          SLOs · runbooks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.adlc/        state · events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874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navi-delivery init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21579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scaffold, generate AGENTS.md, detect harness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5328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navi-delivery propose &lt;name&gt; --lane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816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change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3191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navi-delivery status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phase, gate verdicts, stale artifacts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84962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navi-delivery validate --strict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4133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frontmatter, schema, orphans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45079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navi-delivery gate G6 --pass --evidence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4791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decision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5166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navi-delivery archive &lt;name&gt;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54498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deltas in, emit insights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anywhere — even where nothing is installed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declare neutral capabilities. Every capability has a mandatory fallback.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  <a:gridCol w="265176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CODEX / CURSOR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CHAT — FALLBACK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read_file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read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the human to paste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write_file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write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emit in a fenced block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run_command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runs it, pastes output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Grep / Glob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for the relevant paths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ask_human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AskUserQuestion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question, then wait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spawn_subagent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2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 the persona sequentially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1874520"/>
            <a:ext cx="1124712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8745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2926080" y="1874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874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/ CURSOR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18745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CHAT — FALLBACK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4892040"/>
            <a:ext cx="11247120" cy="1143000"/>
          </a:xfrm>
          <a:prstGeom prst="roundRect">
            <a:avLst>
              <a:gd name="adj" fmla="val 5600"/>
            </a:avLst>
          </a:prstGeom>
          <a:solidFill>
            <a:srgbClr val="EEFBF9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22960" y="50749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 is a subagent where subagents exist, and a role the model steps into where they don't.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 file, same skills, degraded isolation only. That requirement — a fallback for every capability — is what makes “runs in any harness” true rather than aspirational.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content is the product. We test it like one.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checks, all running in CI.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303520" cy="1755648"/>
          </a:xfrm>
          <a:prstGeom prst="roundRect">
            <a:avLst>
              <a:gd name="adj" fmla="val 3646"/>
            </a:avLst>
          </a:prstGeom>
          <a:solidFill>
            <a:srgbClr val="F4F6FB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94560"/>
            <a:ext cx="365760" cy="3657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21671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evals.json per skill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6243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format, so /skill-creator and /eai-eng-skills-evaluator work unchanged — and the long tail can be bulk-generated.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303520" cy="1755648"/>
          </a:xfrm>
          <a:prstGeom prst="roundRect">
            <a:avLst>
              <a:gd name="adj" fmla="val 3646"/>
            </a:avLst>
          </a:prstGeom>
          <a:solidFill>
            <a:srgbClr val="F4F6FB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219456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040880" y="21671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lint_separation.py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6243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on procedure inside an agent, or persona voice inside a skill. The one check that stops the halves merging.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303520" cy="1755648"/>
          </a:xfrm>
          <a:prstGeom prst="roundRect">
            <a:avLst>
              <a:gd name="adj" fmla="val 3646"/>
            </a:avLst>
          </a:prstGeom>
          <a:solidFill>
            <a:srgbClr val="F4F6FB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1605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25880" y="41330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validate_manifests.py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Frontmatter, naming, referential integrity: every skill reference resolves, every skill is used by an agent.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3840480"/>
            <a:ext cx="5303520" cy="1755648"/>
          </a:xfrm>
          <a:prstGeom prst="roundRect">
            <a:avLst>
              <a:gd name="adj" fmla="val 3646"/>
            </a:avLst>
          </a:prstGeom>
          <a:solidFill>
            <a:srgbClr val="F4F6FB"/>
          </a:solidFill>
          <a:ln w="12700">
            <a:solidFill>
              <a:srgbClr val="D9E0EF"/>
            </a:solidFill>
            <a:prstDash val="solid"/>
          </a:ln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4160520"/>
            <a:ext cx="365760" cy="365760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40880" y="41330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golden_path.py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459028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toy project carried through all nine phases and all four lanes, asserting artifacts, gates and zero orphans.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harness matrix in CI, proving every capability fallback still holds.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v1 delivers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vertical slice — every discipline represented, nothing half-wired.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06040" cy="1737360"/>
          </a:xfrm>
          <a:prstGeom prst="roundRect">
            <a:avLst>
              <a:gd name="adj" fmla="val 3684"/>
            </a:avLst>
          </a:prstGeom>
          <a:solidFill>
            <a:srgbClr val="17203C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011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agents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828800"/>
            <a:ext cx="2606040" cy="1737360"/>
          </a:xfrm>
          <a:prstGeom prst="roundRect">
            <a:avLst>
              <a:gd name="adj" fmla="val 3684"/>
            </a:avLst>
          </a:prstGeom>
          <a:solidFill>
            <a:srgbClr val="17203C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66160" y="2011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at v1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606040" cy="1737360"/>
          </a:xfrm>
          <a:prstGeom prst="roundRect">
            <a:avLst>
              <a:gd name="adj" fmla="val 3684"/>
            </a:avLst>
          </a:prstGeom>
          <a:solidFill>
            <a:srgbClr val="17203C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0" y="2011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5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at full catalogue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0" y="1828800"/>
            <a:ext cx="2606040" cy="1737360"/>
          </a:xfrm>
          <a:prstGeom prst="roundRect">
            <a:avLst>
              <a:gd name="adj" fmla="val 3684"/>
            </a:avLst>
          </a:prstGeom>
          <a:solidFill>
            <a:srgbClr val="17203C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35440" y="2011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0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834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lanes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41064"/>
            <a:ext cx="237744" cy="23774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3886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spine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388620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phases, gates, lanes, traceability, handoffs, state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57200" y="4507992"/>
            <a:ext cx="237744" cy="23774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44531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Spec-driven core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445312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authoring, acceptance criteria, proposals, task decomposition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5074920"/>
            <a:ext cx="237744" cy="23774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50200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Discipline skills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502005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development, data, ML, MLOps, DevOps, quality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57200" y="5641848"/>
            <a:ext cx="237744" cy="237744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5869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Tooling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0" y="558698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CLI, three validators, adapters, golden-path CI fixture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023360" cy="4023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to decide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20939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email stamped into every agent and skill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Eleventh agent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96265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Engineer currently exists only as skills, with no owning persona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opinionation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83133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rules with a project.md override, or house defaults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709160"/>
            <a:ext cx="365760" cy="36576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4709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project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470001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repo to run the golden path against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5715000"/>
            <a:ext cx="11247120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25400" dir="5400000">
              <a:srgbClr val="7A8AA8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583387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spec:  docs/superpowers/specs/2026-09-28-navi-delivery-framework-design.md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navi-delivery</dc:title>
  <dc:subject>PptxGenJS Presentation</dc:subject>
  <dc:creator>Navikenz</dc:creator>
  <cp:lastModifiedBy>Navikenz</cp:lastModifiedBy>
  <cp:revision>1</cp:revision>
  <dcterms:created xsi:type="dcterms:W3CDTF">2026-09-28T05:41:40Z</dcterms:created>
  <dcterms:modified xsi:type="dcterms:W3CDTF">2026-09-28T05:41:40Z</dcterms:modified>
</cp:coreProperties>
</file>